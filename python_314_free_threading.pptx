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29CAB1-D8E9-4881-9CA9-6D18F3874257}">
  <a:tblStyle styleId="{5E29CAB1-D8E9-4881-9CA9-6D18F387425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Welcome everyone. Today we're going to talk about what is probably the most significant change to Python in the last decade — the removal of the Global Interpreter Lock, the GIL. It just became officially supported in Python 3.14 last October.</a:t>
            </a:r>
            <a:br>
              <a:rPr lang="en-US"/>
            </a:br>
            <a:br>
              <a:rPr lang="en-US"/>
            </a:br>
            <a:r>
              <a:rPr lang="en-US"/>
              <a:t>For those of us who write a lot of Python here, this directly affects how we structure our parallel code. Specifically, all the multiprocessing code we've been writing for years — we may not need to write it that way anymore.</a:t>
            </a:r>
            <a:br>
              <a:rPr lang="en-US"/>
            </a:br>
            <a:br>
              <a:rPr lang="en-US"/>
            </a:br>
            <a:r>
              <a:rPr lang="en-US"/>
              <a:t>This is a 60-minute talk. I'll keep it tight, with a few demos and concrete code comparisons. We can save deeper questions for the end.</a:t>
            </a:r>
            <a:br>
              <a:rPr lang="en-US"/>
            </a:br>
            <a:br>
              <a:rPr lang="en-US"/>
            </a:br>
            <a:r>
              <a:rPr lang="en-US"/>
              <a:t>ZH: 大家好。今天讲的是 Python 过去十年里最大的变化 —— 去掉 GIL。Python 3.14 在 2025 年 10 月正式 release，free-threaded build 从 experimental 转为 officially supported。</a:t>
            </a:r>
            <a:br>
              <a:rPr lang="en-US"/>
            </a:br>
            <a:br>
              <a:rPr lang="en-US"/>
            </a:br>
            <a:r>
              <a:rPr lang="en-US"/>
              <a:t>对我们组里写 Python 的同事来说，这件事直接影响我们怎么写并行代码。我们 codebase 里有大量 multiprocessing，这些代码以后很可能不需要再那么写了。</a:t>
            </a:r>
            <a:br>
              <a:rPr lang="en-US"/>
            </a:br>
            <a:br>
              <a:rPr lang="en-US"/>
            </a:br>
            <a:r>
              <a:rPr lang="en-US"/>
              <a:t>整场 talk 60 分钟，我会讲得紧凑一点，有一些 demo 和 code 对比。问题留到最后。</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Quick tour of where we're going. Seven sections.</a:t>
            </a:r>
            <a:br>
              <a:rPr lang="en-US"/>
            </a:br>
            <a:br>
              <a:rPr lang="en-US"/>
            </a:br>
            <a:r>
              <a:rPr lang="en-US"/>
              <a:t>I want to flag upfront: the JIT compiler also shipped in 3.14. It often gets mentioned in the same breath as free-threading, but it's a separate topic, and the actual measured gains right now are small — 3-5%. I'll mention it briefly at the end, but we're not going deep on it today. The big story is the GIL.</a:t>
            </a:r>
            <a:br>
              <a:rPr lang="en-US"/>
            </a:br>
            <a:br>
              <a:rPr lang="en-US"/>
            </a:br>
            <a:r>
              <a:rPr lang="en-US"/>
              <a:t>ZH: 七个 section。</a:t>
            </a:r>
            <a:br>
              <a:rPr lang="en-US"/>
            </a:br>
            <a:br>
              <a:rPr lang="en-US"/>
            </a:br>
            <a:r>
              <a:rPr lang="en-US"/>
              <a:t>提前说一下：3.14 同时发布的还有 JIT compiler，经常和 free-threading 被一起讨论。但 JIT 目前实测收益很小（3-5%），是个独立的东西。今天只在结尾简单提一下，主菜是 GIL。</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Quick context for why this matters in 2026 specifically.</a:t>
            </a:r>
            <a:br>
              <a:rPr lang="en-US"/>
            </a:br>
            <a:br>
              <a:rPr lang="en-US"/>
            </a:br>
            <a:r>
              <a:rPr lang="en-US"/>
              <a:t>The GIL has been in Python since 1991 — 34 years. People have been trying to remove it for almost as long. There was the famous "Gilectomy" attempt by Larry Hastings around 2016, which didn't pan out.</a:t>
            </a:r>
            <a:br>
              <a:rPr lang="en-US"/>
            </a:br>
            <a:br>
              <a:rPr lang="en-US"/>
            </a:br>
            <a:r>
              <a:rPr lang="en-US"/>
              <a:t>The real breakthrough was Sam Gross at Meta. In 2021 he posted a working no-GIL CPython prototype that wasn't dramatically slower in the single-threaded case. That's what made the core team finally take it seriously.</a:t>
            </a:r>
            <a:br>
              <a:rPr lang="en-US"/>
            </a:br>
            <a:br>
              <a:rPr lang="en-US"/>
            </a:br>
            <a:r>
              <a:rPr lang="en-US"/>
              <a:t>PEP 703 was accepted in October 2023, allowing free-threaded builds as an experimental, opt-in feature. The community spent two years stress-testing it.</a:t>
            </a:r>
            <a:br>
              <a:rPr lang="en-US"/>
            </a:br>
            <a:br>
              <a:rPr lang="en-US"/>
            </a:br>
            <a:r>
              <a:rPr lang="en-US"/>
              <a:t>Then last October — PEP 779 was accepted. Free-threading moved from "experimental" to "officially supported." This is the milestone. The core team has now committed to it long-term. Third-party libraries are actively porting.</a:t>
            </a:r>
            <a:br>
              <a:rPr lang="en-US"/>
            </a:br>
            <a:br>
              <a:rPr lang="en-US"/>
            </a:br>
            <a:r>
              <a:rPr lang="en-US"/>
              <a:t>That's why we're having this conversation now and not two years ago.</a:t>
            </a:r>
            <a:br>
              <a:rPr lang="en-US"/>
            </a:br>
            <a:br>
              <a:rPr lang="en-US"/>
            </a:br>
            <a:r>
              <a:rPr lang="en-US"/>
              <a:t>ZH: 为什么是 2026 这个时间点。</a:t>
            </a:r>
            <a:br>
              <a:rPr lang="en-US"/>
            </a:br>
            <a:br>
              <a:rPr lang="en-US"/>
            </a:br>
            <a:r>
              <a:rPr lang="en-US"/>
              <a:t>GIL 从 1991 年 Python 第一个版本就有，34 年了。这期间多次有人想去掉，比如 2016 年 Larry Hastings 的 "Gilectomy"，没成功。</a:t>
            </a:r>
            <a:br>
              <a:rPr lang="en-US"/>
            </a:br>
            <a:br>
              <a:rPr lang="en-US"/>
            </a:br>
            <a:r>
              <a:rPr lang="en-US"/>
              <a:t>真正的突破是 Meta 的 Sam Gross。2021 年他发了一个 working 的 no-GIL CPython prototype，单线程性能没有 dramatic 倒退。这才让 core team 重视起来。</a:t>
            </a:r>
            <a:br>
              <a:rPr lang="en-US"/>
            </a:br>
            <a:br>
              <a:rPr lang="en-US"/>
            </a:br>
            <a:r>
              <a:rPr lang="en-US"/>
              <a:t>2023 年 10 月 PEP 703 通过，free-threaded build 作为 experimental opt-in feature。社区压力测试了两年。</a:t>
            </a:r>
            <a:br>
              <a:rPr lang="en-US"/>
            </a:br>
            <a:br>
              <a:rPr lang="en-US"/>
            </a:br>
            <a:r>
              <a:rPr lang="en-US"/>
              <a:t>去年 10 月，PEP 779 通过，free-threading 从 experimental 转为 officially supported。这是关键节点。Core team 长期 commit，第三方库开始认真 port。所以现在讲这个 topic 比两年前讲更有意义。</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Quick refresher since we're all Python users — I won't belabor this.</a:t>
            </a:r>
            <a:br>
              <a:rPr lang="en-US"/>
            </a:br>
            <a:br>
              <a:rPr lang="en-US"/>
            </a:br>
            <a:r>
              <a:rPr lang="en-US"/>
              <a:t>The GIL is a single mutex inside the CPython interpreter. The rule is simple: only one thread can execute Python bytecode at a time. Doesn't matter how many cores your machine has.</a:t>
            </a:r>
            <a:br>
              <a:rPr lang="en-US"/>
            </a:br>
            <a:br>
              <a:rPr lang="en-US"/>
            </a:br>
            <a:r>
              <a:rPr lang="en-US"/>
              <a:t>Why does this exist? Because every Python object — every int, every list, every dict — has a reference count attached to it. When you do "x = some_obj", that refcount goes up. When x goes out of scope, it goes down. When it hits zero, memory is freed.</a:t>
            </a:r>
            <a:br>
              <a:rPr lang="en-US"/>
            </a:br>
            <a:br>
              <a:rPr lang="en-US"/>
            </a:br>
            <a:r>
              <a:rPr lang="en-US"/>
              <a:t>If two threads tried to increment that count at the same time, you'd get classic race conditions — lost updates, premature frees, crashes. So the original implementation just wrapped one giant lock around the whole interpreter. Simple, correct, and back in 1991, computers had one core anyway, so nobody cared.</a:t>
            </a:r>
            <a:br>
              <a:rPr lang="en-US"/>
            </a:br>
            <a:br>
              <a:rPr lang="en-US"/>
            </a:br>
            <a:r>
              <a:rPr lang="en-US"/>
              <a:t>The diagram on the right is what your threading code actually looks like today. Four threads on four cores, but at any moment only one is running. The others are blocked waiting for the GIL.</a:t>
            </a:r>
            <a:br>
              <a:rPr lang="en-US"/>
            </a:br>
            <a:br>
              <a:rPr lang="en-US"/>
            </a:br>
            <a:r>
              <a:rPr lang="en-US"/>
              <a:t>This is why threading in Python is useless for CPU-bound work. It does work fine for I/O-bound work because threads release the GIL while waiting on sockets or files.</a:t>
            </a:r>
            <a:br>
              <a:rPr lang="en-US"/>
            </a:br>
            <a:br>
              <a:rPr lang="en-US"/>
            </a:br>
            <a:r>
              <a:rPr lang="en-US"/>
              <a:t>ZH: 大家都是 Python 用户，这部分简单过。</a:t>
            </a:r>
            <a:br>
              <a:rPr lang="en-US"/>
            </a:br>
            <a:br>
              <a:rPr lang="en-US"/>
            </a:br>
            <a:r>
              <a:rPr lang="en-US"/>
              <a:t>GIL 是 CPython 解释器里的一把 mutex。规则很简单：同一时刻只能有一个 thread 在执行 Python bytecode，不管你有多少 core。</a:t>
            </a:r>
            <a:br>
              <a:rPr lang="en-US"/>
            </a:br>
            <a:br>
              <a:rPr lang="en-US"/>
            </a:br>
            <a:r>
              <a:rPr lang="en-US"/>
              <a:t>为什么存在？因为每个 Python object —— int、list、dict —— 都带一个 reference count。"x = some_obj" 时 refcount + 1，x 离开 scope -1，归零就 free。</a:t>
            </a:r>
            <a:br>
              <a:rPr lang="en-US"/>
            </a:br>
            <a:br>
              <a:rPr lang="en-US"/>
            </a:br>
            <a:r>
              <a:rPr lang="en-US"/>
              <a:t>如果两个 thread 同时改这个 count 就会出 race —— 丢更新、premature free、crash。最初的实现就用一把大锁锁整个解释器。简单、正确，而且 1991 年的电脑就一个核，没人在乎。</a:t>
            </a:r>
            <a:br>
              <a:rPr lang="en-US"/>
            </a:br>
            <a:br>
              <a:rPr lang="en-US"/>
            </a:br>
            <a:r>
              <a:rPr lang="en-US"/>
              <a:t>右边的图就是今天 threading 代码真实运行的样子。四个 thread、四个核，但同一时刻只有一个在跑，其他都在等锁。</a:t>
            </a:r>
            <a:br>
              <a:rPr lang="en-US"/>
            </a:br>
            <a:br>
              <a:rPr lang="en-US"/>
            </a:br>
            <a:r>
              <a:rPr lang="en-US"/>
              <a:t>这就是为什么 threading 在 Python 里对 CPU-bound 没用。但对 I/O-bound 倒是 OK，因为 thread 等 socket 或 file 的时候会释放 GIL。</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So given the GIL, what have we been doing for 30+ years to get real CPU parallelism in Python?</a:t>
            </a:r>
            <a:br>
              <a:rPr lang="en-US"/>
            </a:br>
            <a:br>
              <a:rPr lang="en-US"/>
            </a:br>
            <a:r>
              <a:rPr lang="en-US"/>
              <a:t>The answer is on the left vs right. Threading exists, but it's serialized by the GIL, so it's only useful for I/O-bound work — web servers, network calls, file I/O.</a:t>
            </a:r>
            <a:br>
              <a:rPr lang="en-US"/>
            </a:br>
            <a:br>
              <a:rPr lang="en-US"/>
            </a:br>
            <a:r>
              <a:rPr lang="en-US"/>
              <a:t>For any real CPU work — and that's most of what we do in our backtests, risk calcs, data processing — we've been forced into the multiprocessing camp. multiprocessing.Pool, ProcessPoolExecutor, joblib, dask in process mode — all variants of the same idea: bypass the GIL by spawning separate processes.</a:t>
            </a:r>
            <a:br>
              <a:rPr lang="en-US"/>
            </a:br>
            <a:br>
              <a:rPr lang="en-US"/>
            </a:br>
            <a:r>
              <a:rPr lang="en-US"/>
              <a:t>Each process is its own Python interpreter with its own GIL, so they don't fight. That gives us true parallel CPU execution.</a:t>
            </a:r>
            <a:br>
              <a:rPr lang="en-US"/>
            </a:br>
            <a:br>
              <a:rPr lang="en-US"/>
            </a:br>
            <a:r>
              <a:rPr lang="en-US"/>
              <a:t>It works. It's how we ship code today. But it has a cost — significant cost — that we've all just accepted because there was no alternative.</a:t>
            </a:r>
            <a:br>
              <a:rPr lang="en-US"/>
            </a:br>
            <a:br>
              <a:rPr lang="en-US"/>
            </a:br>
            <a:r>
              <a:rPr lang="en-US"/>
              <a:t>That cost is the next slide.</a:t>
            </a:r>
            <a:br>
              <a:rPr lang="en-US"/>
            </a:br>
            <a:br>
              <a:rPr lang="en-US"/>
            </a:br>
            <a:r>
              <a:rPr lang="en-US"/>
              <a:t>ZH: 那 GIL 在的情况下，30 多年来我们怎么拿到真正的 CPU 并行？</a:t>
            </a:r>
            <a:br>
              <a:rPr lang="en-US"/>
            </a:br>
            <a:br>
              <a:rPr lang="en-US"/>
            </a:br>
            <a:r>
              <a:rPr lang="en-US"/>
              <a:t>左右两边。Threading 是被 GIL 串行化的，只对 I/O-bound 有用 —— web server、网络、文件 I/O。</a:t>
            </a:r>
            <a:br>
              <a:rPr lang="en-US"/>
            </a:br>
            <a:br>
              <a:rPr lang="en-US"/>
            </a:br>
            <a:r>
              <a:rPr lang="en-US"/>
              <a:t>任何真正的 CPU 工作 —— 我们的 backtest、risk calc、数据处理 —— 都被迫走 multiprocessing 这条路。multiprocessing.Pool、ProcessPoolExecutor、joblib、dask process mode —— 同一个思路的变种：靠开多个 process 绕过 GIL。</a:t>
            </a:r>
            <a:br>
              <a:rPr lang="en-US"/>
            </a:br>
            <a:br>
              <a:rPr lang="en-US"/>
            </a:br>
            <a:r>
              <a:rPr lang="en-US"/>
              <a:t>每个 process 是独立的 Python 解释器，有自己的 GIL，互不冲突。这样能拿到真正的并行。</a:t>
            </a:r>
            <a:br>
              <a:rPr lang="en-US"/>
            </a:br>
            <a:br>
              <a:rPr lang="en-US"/>
            </a:br>
            <a:r>
              <a:rPr lang="en-US"/>
              <a:t>能用，今天的代码就是这么写的。但有代价 —— 很大的代价 —— 我们都默默接受了，因为没别的选择。</a:t>
            </a:r>
            <a:br>
              <a:rPr lang="en-US"/>
            </a:br>
            <a:br>
              <a:rPr lang="en-US"/>
            </a:br>
            <a:r>
              <a:rPr lang="en-US"/>
              <a:t>代价是下一页。</a:t>
            </a:r>
            <a:endParaRPr/>
          </a:p>
        </p:txBody>
      </p:sp>
      <p:sp>
        <p:nvSpPr>
          <p:cNvPr id="139" name="Google Shape;1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Show of hands — who has written code like this in the last month? Yeah, I thought so. This pattern is everywhere in our codebase.</a:t>
            </a:r>
            <a:br>
              <a:rPr lang="en-US"/>
            </a:br>
            <a:br>
              <a:rPr lang="en-US"/>
            </a:br>
            <a:r>
              <a:rPr lang="en-US"/>
              <a:t>It works. We get parallelism. But every one of you who has worked with this has felt the rough edges. Sometimes you hit "Can't pickle local object." Sometimes a worker silently dies and you don't know why. Sometimes memory blows up and you OOM. Sometimes startup is so slow that on small jobs you're better off going single-threaded.</a:t>
            </a:r>
            <a:br>
              <a:rPr lang="en-US"/>
            </a:br>
            <a:br>
              <a:rPr lang="en-US"/>
            </a:br>
            <a:r>
              <a:rPr lang="en-US"/>
              <a:t>This is the world we live in. Every variant on the bottom — Pool, ProcessPoolExecutor, joblib.Parallel, dask, ray — is fundamentally the same trick. Spin up worker processes, ship work to them, ship results back.</a:t>
            </a:r>
            <a:br>
              <a:rPr lang="en-US"/>
            </a:br>
            <a:br>
              <a:rPr lang="en-US"/>
            </a:br>
            <a:r>
              <a:rPr lang="en-US"/>
              <a:t>Next slide: let's enumerate exactly what we're paying for this.</a:t>
            </a:r>
            <a:br>
              <a:rPr lang="en-US"/>
            </a:br>
            <a:br>
              <a:rPr lang="en-US"/>
            </a:br>
            <a:r>
              <a:rPr lang="en-US"/>
              <a:t>ZH: 举手 —— 上个月写过这种代码的？嗯，差不多都写过。这个 pattern 在我们 codebase 里到处都是。</a:t>
            </a:r>
            <a:br>
              <a:rPr lang="en-US"/>
            </a:br>
            <a:br>
              <a:rPr lang="en-US"/>
            </a:br>
            <a:r>
              <a:rPr lang="en-US"/>
              <a:t>能用，拿到并行。但用过的都感受过那些 rough edges。"Can't pickle local object"，worker 莫名其妙挂掉，内存炸 OOM，启动太慢以至于小任务还不如单线程。</a:t>
            </a:r>
            <a:br>
              <a:rPr lang="en-US"/>
            </a:br>
            <a:br>
              <a:rPr lang="en-US"/>
            </a:br>
            <a:r>
              <a:rPr lang="en-US"/>
              <a:t>这就是我们生活的世界。下面这几个 variant —— Pool、ProcessPoolExecutor、joblib.Parallel、dask、ray —— 本质上是同一个 trick：起 worker process、传任务、传结果。</a:t>
            </a:r>
            <a:br>
              <a:rPr lang="en-US"/>
            </a:br>
            <a:br>
              <a:rPr lang="en-US"/>
            </a:br>
            <a:r>
              <a:rPr lang="en-US"/>
              <a:t>下一页：具体算一下这些代价。</a:t>
            </a:r>
            <a:endParaRPr/>
          </a:p>
        </p:txBody>
      </p:sp>
      <p:sp>
        <p:nvSpPr>
          <p:cNvPr id="155" name="Google Shape;1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This is the slide. If you take one thing away from the first half of the talk, take this.</a:t>
            </a:r>
            <a:br>
              <a:rPr lang="en-US"/>
            </a:br>
            <a:br>
              <a:rPr lang="en-US"/>
            </a:br>
            <a:r>
              <a:rPr lang="en-US"/>
              <a:t>Six costs we pay every day for using multiprocessing. Walk through each:</a:t>
            </a:r>
            <a:br>
              <a:rPr lang="en-US"/>
            </a:br>
            <a:br>
              <a:rPr lang="en-US"/>
            </a:br>
            <a:r>
              <a:rPr lang="en-US"/>
              <a:t>1. Pickle overhead — every argument is serialized to bytes, sent through a pipe, deserialized in the worker. Same on the way back. For a 1GB DataFrame, pickling alone can be hundreds of ms to seconds. And the "Can't pickle local object" errors — every Python dev knows them.</a:t>
            </a:r>
            <a:br>
              <a:rPr lang="en-US"/>
            </a:br>
            <a:br>
              <a:rPr lang="en-US"/>
            </a:br>
            <a:r>
              <a:rPr lang="en-US"/>
              <a:t>2. N× memory — each worker is a full Python interpreter. With pandas+numpy+scipy+our internal libs, base process is easily 2GB. 8 workers = 16GB before any real data. Copy-on-write would help, but Python's reference counting touches almost every page, so COW breaks immediately in practice.</a:t>
            </a:r>
            <a:br>
              <a:rPr lang="en-US"/>
            </a:br>
            <a:br>
              <a:rPr lang="en-US"/>
            </a:br>
            <a:r>
              <a:rPr lang="en-US"/>
              <a:t>3. Slow startup — spawning a worker means fork + re-import of every library. 1–3 seconds is normal. If your job is short, startup dominates.</a:t>
            </a:r>
            <a:br>
              <a:rPr lang="en-US"/>
            </a:br>
            <a:br>
              <a:rPr lang="en-US"/>
            </a:br>
            <a:r>
              <a:rPr lang="en-US"/>
              <a:t>4. Shared state — say 8 workers need to share a market data snapshot. Your options are: Manager (proxy objects, every access is IPC, dog slow), shared_memory (raw bytes / numpy arrays only), or roll your own with mmap. None of these is pleasant.</a:t>
            </a:r>
            <a:br>
              <a:rPr lang="en-US"/>
            </a:br>
            <a:br>
              <a:rPr lang="en-US"/>
            </a:br>
            <a:r>
              <a:rPr lang="en-US"/>
              <a:t>5. Debugging — when a worker crashes, the traceback often dies with it. Logs are scattered across worker stdouts. Pickled exceptions lose their original frames. Try setting a breakpoint inside a worker. You can, but it's a pain.</a:t>
            </a:r>
            <a:br>
              <a:rPr lang="en-US"/>
            </a:br>
            <a:br>
              <a:rPr lang="en-US"/>
            </a:br>
            <a:r>
              <a:rPr lang="en-US"/>
              <a:t>6. Cross-platform — Linux defaults to fork, macOS and Windows to spawn. Different inheritance behavior. "Works on my laptop, breaks in CI" is usually a multiprocessing quirk.</a:t>
            </a:r>
            <a:br>
              <a:rPr lang="en-US"/>
            </a:br>
            <a:br>
              <a:rPr lang="en-US"/>
            </a:br>
            <a:r>
              <a:rPr lang="en-US"/>
              <a:t>The line at the bottom is the punchline: we've all just accepted these because there was no choice. Now there is.</a:t>
            </a:r>
            <a:br>
              <a:rPr lang="en-US"/>
            </a:br>
            <a:br>
              <a:rPr lang="en-US"/>
            </a:br>
            <a:r>
              <a:rPr lang="en-US"/>
              <a:t>ZH: 这是关键 slide。前半场要记一件事就记这个。</a:t>
            </a:r>
            <a:br>
              <a:rPr lang="en-US"/>
            </a:br>
            <a:br>
              <a:rPr lang="en-US"/>
            </a:br>
            <a:r>
              <a:rPr lang="en-US"/>
              <a:t>每天为 multiprocessing 付的六个代价，挨个讲：</a:t>
            </a:r>
            <a:br>
              <a:rPr lang="en-US"/>
            </a:br>
            <a:br>
              <a:rPr lang="en-US"/>
            </a:br>
            <a:r>
              <a:rPr lang="en-US"/>
              <a:t>1. Pickle 开销 —— 每个 argument 序列化成 bytes、过 pipe、worker 反序列化。回来再来一遍。1GB DataFrame 光 pickle 就可能几百 ms 到几秒。"Can't pickle local object" 谁都见过。</a:t>
            </a:r>
            <a:br>
              <a:rPr lang="en-US"/>
            </a:br>
            <a:br>
              <a:rPr lang="en-US"/>
            </a:br>
            <a:r>
              <a:rPr lang="en-US"/>
              <a:t>2. N 倍内存 —— 每个 worker 是完整的 Python 解释器。加上 pandas/numpy/scipy/内部库，base 进程轻松 2GB。8 个 worker 就 16GB，还没开始装数据。COW 理论上能省，但 Python 的 refcount 几乎碰每页内存，COW 实际很快就失效。</a:t>
            </a:r>
            <a:br>
              <a:rPr lang="en-US"/>
            </a:br>
            <a:br>
              <a:rPr lang="en-US"/>
            </a:br>
            <a:r>
              <a:rPr lang="en-US"/>
              <a:t>3. 启动慢 —— spawn 一个 worker 要 fork + 重新 import 所有库。1-3 秒很正常。短任务里启动开销就是大头。</a:t>
            </a:r>
            <a:br>
              <a:rPr lang="en-US"/>
            </a:br>
            <a:br>
              <a:rPr lang="en-US"/>
            </a:br>
            <a:r>
              <a:rPr lang="en-US"/>
              <a:t>4. 共享状态 —— 8 个 worker 想共享一份 market data snapshot。选项：Manager（proxy 对象，每次访问都 IPC，慢得离谱）、shared_memory（只支持 raw bytes / numpy array）、或者自己搞 mmap。都不舒服。</a:t>
            </a:r>
            <a:br>
              <a:rPr lang="en-US"/>
            </a:br>
            <a:br>
              <a:rPr lang="en-US"/>
            </a:br>
            <a:r>
              <a:rPr lang="en-US"/>
              <a:t>5. 调试是噩梦 —— worker 崩了 traceback 经常丢。log 散在各个 worker stdout。Pickled exception 丢失原始 stack。在 worker 里打 breakpoint？能但很痛苦。</a:t>
            </a:r>
            <a:br>
              <a:rPr lang="en-US"/>
            </a:br>
            <a:br>
              <a:rPr lang="en-US"/>
            </a:br>
            <a:r>
              <a:rPr lang="en-US"/>
              <a:t>6. 跨平台 —— Linux 默认 fork，macOS 和 Windows 默认 spawn，继承行为不同。"在我 mac 上能跑，CI 挂了" 多半是 multiprocessing 的坑。</a:t>
            </a:r>
            <a:br>
              <a:rPr lang="en-US"/>
            </a:br>
            <a:br>
              <a:rPr lang="en-US"/>
            </a:br>
            <a:r>
              <a:rPr lang="en-US"/>
              <a:t>底下那行是 punchline：以前没选择，现在有了。</a:t>
            </a:r>
            <a:endParaRPr/>
          </a:p>
        </p:txBody>
      </p:sp>
      <p:sp>
        <p:nvSpPr>
          <p:cNvPr id="168" name="Google Shape;1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Conceptually, what does free-threading actually do?</a:t>
            </a:r>
            <a:br>
              <a:rPr lang="en-US"/>
            </a:br>
            <a:br>
              <a:rPr lang="en-US"/>
            </a:br>
            <a:r>
              <a:rPr lang="en-US"/>
              <a:t>The slogan: remove the GIL, keep everything else.</a:t>
            </a:r>
            <a:br>
              <a:rPr lang="en-US"/>
            </a:br>
            <a:br>
              <a:rPr lang="en-US"/>
            </a:br>
            <a:r>
              <a:rPr lang="en-US"/>
              <a:t>The challenge was always reference counting — that's why the GIL existed. Sam Gross's design solves it with two mechanisms:</a:t>
            </a:r>
            <a:br>
              <a:rPr lang="en-US"/>
            </a:br>
            <a:br>
              <a:rPr lang="en-US"/>
            </a:br>
            <a:r>
              <a:rPr lang="en-US"/>
              <a:t>First, biased reference counting. Most objects are mostly touched by one thread — the thread that created them. So each object has an "owner" thread. That owner can do fast, non-atomic refcount updates, just like before. Only when a *different* thread touches the refcount does it go through a slower atomic operation. Net effect: refcount updates stay cheap for the common case, while becoming safe across threads.</a:t>
            </a:r>
            <a:br>
              <a:rPr lang="en-US"/>
            </a:br>
            <a:br>
              <a:rPr lang="en-US"/>
            </a:br>
            <a:r>
              <a:rPr lang="en-US"/>
              <a:t>Second, per-object locking on the built-in containers. dict, list, set — they each carry an internal lock that gets acquired briefly on mutation. So concurrent dict updates from multiple threads are now safe at the C level. CPython internals had a lot of audit work too — every place that previously relied on "well, the GIL is held, so we're safe" had to be fixed.</a:t>
            </a:r>
            <a:br>
              <a:rPr lang="en-US"/>
            </a:br>
            <a:br>
              <a:rPr lang="en-US"/>
            </a:br>
            <a:r>
              <a:rPr lang="en-US"/>
              <a:t>The key user-facing point is in the bottom box: the API does not change. Your existing threading.Thread, threading.Lock, queue.Queue, concurrent.futures.ThreadPoolExecutor — none of it changes. You write the same code. It just actually runs in parallel now.</a:t>
            </a:r>
            <a:br>
              <a:rPr lang="en-US"/>
            </a:br>
            <a:br>
              <a:rPr lang="en-US"/>
            </a:br>
            <a:r>
              <a:rPr lang="en-US"/>
              <a:t>ZH: 概念上 free-threading 到底做了什么？</a:t>
            </a:r>
            <a:br>
              <a:rPr lang="en-US"/>
            </a:br>
            <a:br>
              <a:rPr lang="en-US"/>
            </a:br>
            <a:r>
              <a:rPr lang="en-US"/>
              <a:t>口号：去掉 GIL，其他都保留。</a:t>
            </a:r>
            <a:br>
              <a:rPr lang="en-US"/>
            </a:br>
            <a:br>
              <a:rPr lang="en-US"/>
            </a:br>
            <a:r>
              <a:rPr lang="en-US"/>
              <a:t>最大的难点一直是 reference counting，这就是 GIL 存在的原因。Sam Gross 的设计用两个机制解决：</a:t>
            </a:r>
            <a:br>
              <a:rPr lang="en-US"/>
            </a:br>
            <a:br>
              <a:rPr lang="en-US"/>
            </a:br>
            <a:r>
              <a:rPr lang="en-US"/>
              <a:t>第一，biased reference counting。大部分 object 主要被创建它的那个 thread 访问。所以每个 object 有一个 "owner" thread。owner 可以走快速的、非原子的 refcount 更新，跟以前一样。只有其他 thread 改 refcount 时才走慢的原子路径。结果：common case 下 refcount 依然便宜，同时跨线程安全。</a:t>
            </a:r>
            <a:br>
              <a:rPr lang="en-US"/>
            </a:br>
            <a:br>
              <a:rPr lang="en-US"/>
            </a:br>
            <a:r>
              <a:rPr lang="en-US"/>
              <a:t>第二，对内置 container 加 per-object 锁。dict、list、set 各自带一把内部锁，mutation 时短暂获取。所以多线程同时改 dict 在 C 层就安全了。CPython 内部还做了大量 audit —— 以前每个 "反正 GIL 拿着所以安全" 的地方都要 fix。</a:t>
            </a:r>
            <a:br>
              <a:rPr lang="en-US"/>
            </a:br>
            <a:br>
              <a:rPr lang="en-US"/>
            </a:br>
            <a:r>
              <a:rPr lang="en-US"/>
              <a:t>对用户最关键的一点在底下那个 box：API 不变。你现有的 threading.Thread、threading.Lock、queue.Queue、ThreadPoolExecutor —— 全部不变。代码一样写，但现在真的并行了。</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How to actually try this. The free-threaded build ships as a separate binary, with a "t" suffix on the executable name. So you get python3.14 (the standard one) and python3.14t (the free-threaded one) side by side. They use different site-packages too, so they don't clash.</a:t>
            </a:r>
            <a:br>
              <a:rPr lang="en-US"/>
            </a:br>
            <a:br>
              <a:rPr lang="en-US"/>
            </a:br>
            <a:r>
              <a:rPr lang="en-US"/>
              <a:t>The easiest way to install is pyenv with the "t" suffix. Or grab the official tarball from python.org.</a:t>
            </a:r>
            <a:br>
              <a:rPr lang="en-US"/>
            </a:br>
            <a:br>
              <a:rPr lang="en-US"/>
            </a:br>
            <a:r>
              <a:rPr lang="en-US"/>
              <a:t>Once installed, two ways to verify:</a:t>
            </a:r>
            <a:br>
              <a:rPr lang="en-US"/>
            </a:br>
            <a:r>
              <a:rPr lang="en-US"/>
              <a:t>- From the shell: python3.14t -VV will show "free-threading build" in the version banner.</a:t>
            </a:r>
            <a:br>
              <a:rPr lang="en-US"/>
            </a:br>
            <a:r>
              <a:rPr lang="en-US"/>
              <a:t>- From within Python: sys._is_gil_enabled() returns False.</a:t>
            </a:r>
            <a:br>
              <a:rPr lang="en-US"/>
            </a:br>
            <a:br>
              <a:rPr lang="en-US"/>
            </a:br>
            <a:r>
              <a:rPr lang="en-US"/>
              <a:t>Your code doesn't change. The ThreadPoolExecutor example on the right is the same code that's been in our codebase for years — on the standard build, the GIL serializes it; on 3.14t, it actually scales.</a:t>
            </a:r>
            <a:br>
              <a:rPr lang="en-US"/>
            </a:br>
            <a:br>
              <a:rPr lang="en-US"/>
            </a:br>
            <a:r>
              <a:rPr lang="en-US"/>
              <a:t>The yellow box is critical. The GIL can come back on. If you import any C extension that wasn't built for free-threading, the interpreter will silently re-enable the GIL at runtime to keep that extension safe. So you can install 3.14t, write code, and silently still be GIL-bound. Always check sys._is_gil_enabled() inside your actual program after all your imports, not just at the REPL.</a:t>
            </a:r>
            <a:br>
              <a:rPr lang="en-US"/>
            </a:br>
            <a:br>
              <a:rPr lang="en-US"/>
            </a:br>
            <a:r>
              <a:rPr lang="en-US"/>
              <a:t>ZH: 实际怎么试。Free-threaded build 是一个单独的二进制，executable 名字后面带个 "t"。所以你会有 python3.14（标准）和 python3.14t（free-threaded）并存。它们用不同的 site-packages，不冲突。</a:t>
            </a:r>
            <a:br>
              <a:rPr lang="en-US"/>
            </a:br>
            <a:br>
              <a:rPr lang="en-US"/>
            </a:br>
            <a:r>
              <a:rPr lang="en-US"/>
              <a:t>最简单的装法是 pyenv 加 "t" 后缀。或者直接从 python.org 下 tarball。</a:t>
            </a:r>
            <a:br>
              <a:rPr lang="en-US"/>
            </a:br>
            <a:br>
              <a:rPr lang="en-US"/>
            </a:br>
            <a:r>
              <a:rPr lang="en-US"/>
              <a:t>装好以后两种方式 verify：</a:t>
            </a:r>
            <a:br>
              <a:rPr lang="en-US"/>
            </a:br>
            <a:r>
              <a:rPr lang="en-US"/>
              <a:t>- 命令行：python3.14t -VV 版本里会显示 "free-threading build"</a:t>
            </a:r>
            <a:br>
              <a:rPr lang="en-US"/>
            </a:br>
            <a:r>
              <a:rPr lang="en-US"/>
              <a:t>- Python 里：sys._is_gil_enabled() 返回 False</a:t>
            </a:r>
            <a:br>
              <a:rPr lang="en-US"/>
            </a:br>
            <a:br>
              <a:rPr lang="en-US"/>
            </a:br>
            <a:r>
              <a:rPr lang="en-US"/>
              <a:t>代码不用改。右边的 ThreadPoolExecutor 例子是我们 codebase 里几年没变的代码 —— 标准 build 下被 GIL 串行化，3.14t 下真的 scale。</a:t>
            </a:r>
            <a:br>
              <a:rPr lang="en-US"/>
            </a:br>
            <a:br>
              <a:rPr lang="en-US"/>
            </a:br>
            <a:r>
              <a:rPr lang="en-US"/>
              <a:t>黄框这个 gotcha 很重要。GIL 可能被偷偷打开。如果你 import 了任何没标记成 free-threading-ready 的 C extension，解释器会在 runtime 静默把 GIL 重新打开来保护那个 extension。结果你装了 3.14t、代码也写好了，但实际上还是 GIL-bound。一定要在你的程序里 import 全部完成后调一下 sys._is_gil_enabled() 确认，不是只在 REPL 里查。</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This is the headline chart. Same Python code, same workload — a CPU-bound numerical loop. Only the interpreter differs.</a:t>
            </a:r>
            <a:br>
              <a:rPr lang="en-US"/>
            </a:br>
            <a:br>
              <a:rPr lang="en-US"/>
            </a:br>
            <a:r>
              <a:rPr lang="en-US"/>
              <a:t>The red line is the standard CPython 3.14 with GIL. As we'd expect: no matter how many threads you add, wall time stays flat. The GIL serializes them.</a:t>
            </a:r>
            <a:br>
              <a:rPr lang="en-US"/>
            </a:br>
            <a:br>
              <a:rPr lang="en-US"/>
            </a:br>
            <a:r>
              <a:rPr lang="en-US"/>
              <a:t>The green line is 3.14t — the free-threaded build. The shape is exactly what we want: roughly linear speedup as we add threads, until we run out of useful parallelism. ~8x at 16 threads is typical for embarrassingly parallel CPU work.</a:t>
            </a:r>
            <a:br>
              <a:rPr lang="en-US"/>
            </a:br>
            <a:br>
              <a:rPr lang="en-US"/>
            </a:br>
            <a:r>
              <a:rPr lang="en-US"/>
              <a:t>The numbers to highlight on the right:</a:t>
            </a:r>
            <a:br>
              <a:rPr lang="en-US"/>
            </a:br>
            <a:r>
              <a:rPr lang="en-US"/>
              <a:t>- About 8x speedup at 16 threads on free-threaded</a:t>
            </a:r>
            <a:br>
              <a:rPr lang="en-US"/>
            </a:br>
            <a:r>
              <a:rPr lang="en-US"/>
              <a:t>- Effectively no speedup on standard, as expected</a:t>
            </a:r>
            <a:br>
              <a:rPr lang="en-US"/>
            </a:br>
            <a:r>
              <a:rPr lang="en-US"/>
              <a:t>- And the critical one: zero code changes between the two runs. Same script, just different interpreter.</a:t>
            </a:r>
            <a:br>
              <a:rPr lang="en-US"/>
            </a:br>
            <a:br>
              <a:rPr lang="en-US"/>
            </a:br>
            <a:r>
              <a:rPr lang="en-US"/>
              <a:t>I'll be honest — these specific numbers are illustrative; the actual shape depends on your workload, how much shared mutable state you have, etc. But for our backtests and parameter sweeps, which are mostly independent computations, the gains should look very much like this.</a:t>
            </a:r>
            <a:br>
              <a:rPr lang="en-US"/>
            </a:br>
            <a:br>
              <a:rPr lang="en-US"/>
            </a:br>
            <a:r>
              <a:rPr lang="en-US"/>
              <a:t>We'll do a real benchmark on our own code as a follow-up to this talk.</a:t>
            </a:r>
            <a:br>
              <a:rPr lang="en-US"/>
            </a:br>
            <a:br>
              <a:rPr lang="en-US"/>
            </a:br>
            <a:r>
              <a:rPr lang="en-US"/>
              <a:t>ZH: 这是 headline chart。同样的 Python 代码，同样的 workload —— 一个 CPU-bound 数值循环。只换解释器。</a:t>
            </a:r>
            <a:br>
              <a:rPr lang="en-US"/>
            </a:br>
            <a:br>
              <a:rPr lang="en-US"/>
            </a:br>
            <a:r>
              <a:rPr lang="en-US"/>
              <a:t>红线是标准 CPython 3.14 with GIL。预期之中：不管加多少 thread，墙钟时间几乎不动。GIL 把它们串了。</a:t>
            </a:r>
            <a:br>
              <a:rPr lang="en-US"/>
            </a:br>
            <a:br>
              <a:rPr lang="en-US"/>
            </a:br>
            <a:r>
              <a:rPr lang="en-US"/>
              <a:t>绿线是 3.14t —— free-threaded build。形状正是我们想要的：加 thread 大致线性加速，直到 saturate。16 thread 上 ~8x 对 embarrassingly parallel 的 CPU 工作很典型。</a:t>
            </a:r>
            <a:br>
              <a:rPr lang="en-US"/>
            </a:br>
            <a:br>
              <a:rPr lang="en-US"/>
            </a:br>
            <a:r>
              <a:rPr lang="en-US"/>
              <a:t>右边数字：</a:t>
            </a:r>
            <a:br>
              <a:rPr lang="en-US"/>
            </a:br>
            <a:r>
              <a:rPr lang="en-US"/>
              <a:t>- 16 thread 在 free-threaded 上 ~8x speedup</a:t>
            </a:r>
            <a:br>
              <a:rPr lang="en-US"/>
            </a:br>
            <a:r>
              <a:rPr lang="en-US"/>
              <a:t>- 标准版几乎没 speedup，意料之中</a:t>
            </a:r>
            <a:br>
              <a:rPr lang="en-US"/>
            </a:br>
            <a:r>
              <a:rPr lang="en-US"/>
              <a:t>- 关键的一条：两次跑之间零代码改动。同一个脚本，换解释器而已。</a:t>
            </a:r>
            <a:br>
              <a:rPr lang="en-US"/>
            </a:br>
            <a:br>
              <a:rPr lang="en-US"/>
            </a:br>
            <a:r>
              <a:rPr lang="en-US"/>
              <a:t>诚实地说 —— 这些具体数字是示意，实际形状取决于你的 workload、共享状态多少等等。但我们的 backtest、参数 sweep 这种基本独立的计算，应该跟这个图很像。</a:t>
            </a:r>
            <a:br>
              <a:rPr lang="en-US"/>
            </a:br>
            <a:br>
              <a:rPr lang="en-US"/>
            </a:br>
            <a:r>
              <a:rPr lang="en-US"/>
              <a:t>我会在 talk 之后用我们自己的代码做真实 benchmark。</a:t>
            </a:r>
            <a:endParaRPr/>
          </a:p>
        </p:txBody>
      </p:sp>
      <p:sp>
        <p:nvSpPr>
          <p:cNvPr id="249" name="Google Shape;24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One thing to be careful about: this is not a free win for everything. Free-threading gives you parallelism on CPU. For I/O-bound work, threads already worked fine.</a:t>
            </a:r>
            <a:br>
              <a:rPr lang="en-US"/>
            </a:br>
            <a:br>
              <a:rPr lang="en-US"/>
            </a:br>
            <a:r>
              <a:rPr lang="en-US"/>
              <a:t>When a Python thread does a blocking I/O call — socket read, file read, requests.get — under the hood that C call releases the GIL before going to sleep. Other threads can run during the wait. That's why threading has always been a reasonable choice for I/O concurrency even with the GIL.</a:t>
            </a:r>
            <a:br>
              <a:rPr lang="en-US"/>
            </a:br>
            <a:br>
              <a:rPr lang="en-US"/>
            </a:br>
            <a:r>
              <a:rPr lang="en-US"/>
              <a:t>So if you have async HTTP calls or asyncio code, free-threading doesn't change anything. Your code was already fine.</a:t>
            </a:r>
            <a:br>
              <a:rPr lang="en-US"/>
            </a:br>
            <a:br>
              <a:rPr lang="en-US"/>
            </a:br>
            <a:r>
              <a:rPr lang="en-US"/>
              <a:t>The left column is where you'll see real wins — anything CPU-bound that you're currently parallelizing with multiprocessing. For us that's parameter sweeps, Monte Carlo, risk calcs, numerical loops.</a:t>
            </a:r>
            <a:br>
              <a:rPr lang="en-US"/>
            </a:br>
            <a:br>
              <a:rPr lang="en-US"/>
            </a:br>
            <a:r>
              <a:rPr lang="en-US"/>
              <a:t>The right column is unchanged.</a:t>
            </a:r>
            <a:br>
              <a:rPr lang="en-US"/>
            </a:br>
            <a:br>
              <a:rPr lang="en-US"/>
            </a:br>
            <a:r>
              <a:rPr lang="en-US"/>
              <a:t>This is worth saying explicitly because some people will hear "no more GIL" and assume their whole codebase will magically get faster. It won't. CPU-bound code gets faster. I/O-bound code was already concurrent.</a:t>
            </a:r>
            <a:br>
              <a:rPr lang="en-US"/>
            </a:br>
            <a:br>
              <a:rPr lang="en-US"/>
            </a:br>
            <a:r>
              <a:rPr lang="en-US"/>
              <a:t>ZH: 一个要小心的点：这不是天上掉馅饼。Free-threading 解决的是 CPU 并行。I/O-bound 的工作以前 threading 就 OK。</a:t>
            </a:r>
            <a:br>
              <a:rPr lang="en-US"/>
            </a:br>
            <a:br>
              <a:rPr lang="en-US"/>
            </a:br>
            <a:r>
              <a:rPr lang="en-US"/>
              <a:t>一个 Python thread 做 blocking I/O —— socket read、file read、requests.get —— 底下的 C 调用在睡之前会释放 GIL。等待期间其他 thread 能跑。所以即使 GIL 在，threading 一直是 I/O concurrency 的合理选择。</a:t>
            </a:r>
            <a:br>
              <a:rPr lang="en-US"/>
            </a:br>
            <a:br>
              <a:rPr lang="en-US"/>
            </a:br>
            <a:r>
              <a:rPr lang="en-US"/>
              <a:t>所以你写 async HTTP、asyncio，free-threading 对这些没影响。本来就 OK。</a:t>
            </a:r>
            <a:br>
              <a:rPr lang="en-US"/>
            </a:br>
            <a:br>
              <a:rPr lang="en-US"/>
            </a:br>
            <a:r>
              <a:rPr lang="en-US"/>
              <a:t>左边那栏才是真正受益的地方 —— 任何现在用 multiprocessing 做的 CPU-bound 工作。对我们就是 parameter sweep、Monte Carlo、risk calc、数值循环。</a:t>
            </a:r>
            <a:br>
              <a:rPr lang="en-US"/>
            </a:br>
            <a:br>
              <a:rPr lang="en-US"/>
            </a:br>
            <a:r>
              <a:rPr lang="en-US"/>
              <a:t>右边不变。</a:t>
            </a:r>
            <a:br>
              <a:rPr lang="en-US"/>
            </a:br>
            <a:br>
              <a:rPr lang="en-US"/>
            </a:br>
            <a:r>
              <a:rPr lang="en-US"/>
              <a:t>要明说这点，因为有些人听到 "no more GIL" 会以为整个 codebase 自动变快。不会。CPU-bound 才会快。I/O-bound 本来就并发。</a:t>
            </a:r>
            <a:endParaRPr/>
          </a:p>
        </p:txBody>
      </p:sp>
      <p:sp>
        <p:nvSpPr>
          <p:cNvPr id="273" name="Google Shape;2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Direct comparison. Eight dimensions, our two options side by side.</a:t>
            </a:r>
            <a:br>
              <a:rPr lang="en-US"/>
            </a:br>
            <a:br>
              <a:rPr lang="en-US"/>
            </a:br>
            <a:r>
              <a:rPr lang="en-US"/>
              <a:t>The big point I'd make here: every row in this table used to be a cost we paid in exchange for getting parallelism. Not because we wanted N× memory or pickle restrictions or scattered logs — but because the alternative was no parallelism at all.</a:t>
            </a:r>
            <a:br>
              <a:rPr lang="en-US"/>
            </a:br>
            <a:br>
              <a:rPr lang="en-US"/>
            </a:br>
            <a:r>
              <a:rPr lang="en-US"/>
              <a:t>Free-threading flips that. You get true parallel CPU AND shared memory AND fast startup AND no pickle restrictions AND normal debugging. It's not a trade — it's strictly better on most dimensions.</a:t>
            </a:r>
            <a:br>
              <a:rPr lang="en-US"/>
            </a:br>
            <a:br>
              <a:rPr lang="en-US"/>
            </a:br>
            <a:r>
              <a:rPr lang="en-US"/>
              <a:t>The one row where it could potentially go the wrong way is something we haven't talked about yet: shared state means race conditions are now your problem. We'll get to that in the trade-offs section.</a:t>
            </a:r>
            <a:br>
              <a:rPr lang="en-US"/>
            </a:br>
            <a:br>
              <a:rPr lang="en-US"/>
            </a:br>
            <a:r>
              <a:rPr lang="en-US"/>
              <a:t>ZH: 直接对比。八个维度，两个选项并排。</a:t>
            </a:r>
            <a:br>
              <a:rPr lang="en-US"/>
            </a:br>
            <a:br>
              <a:rPr lang="en-US"/>
            </a:br>
            <a:r>
              <a:rPr lang="en-US"/>
              <a:t>要 emphasize 的点：表里每一行以前都是为了拿到并行付出的代价。不是我们想要 N 倍内存、pickle 限制、log 散，而是不付这个代价就没并行。</a:t>
            </a:r>
            <a:br>
              <a:rPr lang="en-US"/>
            </a:br>
            <a:br>
              <a:rPr lang="en-US"/>
            </a:br>
            <a:r>
              <a:rPr lang="en-US"/>
              <a:t>Free-threading 把这翻过来。真正的 CPU 并行 + 共享内存 + 启动快 + 没有 pickle 限制 + 调试正常。这不是 trade-off —— 大部分维度上 strictly better。</a:t>
            </a:r>
            <a:br>
              <a:rPr lang="en-US"/>
            </a:br>
            <a:br>
              <a:rPr lang="en-US"/>
            </a:br>
            <a:r>
              <a:rPr lang="en-US"/>
              <a:t>唯一可能往坏的方向走的是我们还没讨论的：共享状态意味着 race condition 成了你的问题。后面 trade-off 那节会讲。</a:t>
            </a:r>
            <a:endParaRPr/>
          </a:p>
        </p:txBody>
      </p:sp>
      <p:sp>
        <p:nvSpPr>
          <p:cNvPr id="289" name="Google Shape;2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Concrete migration. The most common pattern in our codebase — Pool.map across some list of inputs. The change is essentially mechanical.</a:t>
            </a:r>
            <a:br>
              <a:rPr lang="en-US"/>
            </a:br>
            <a:br>
              <a:rPr lang="en-US"/>
            </a:br>
            <a:r>
              <a:rPr lang="en-US"/>
              <a:t>Left side, what we have today: multiprocessing.Pool, .map across symbols. Each worker is a full Python process. To get the symbol into the worker, Python pickles it. To get the result back, Python pickles it. We pay fork cost, re-import cost, IPC cost.</a:t>
            </a:r>
            <a:br>
              <a:rPr lang="en-US"/>
            </a:br>
            <a:br>
              <a:rPr lang="en-US"/>
            </a:br>
            <a:r>
              <a:rPr lang="en-US"/>
              <a:t>Right side: ThreadPoolExecutor with the same .map interface. Same function, same input list. But now all 8 workers share memory with the main process. No pickle. Startup is milliseconds. If the function reads a big DataFrame from outer scope, it just reads it — no need to pass it through pickle.</a:t>
            </a:r>
            <a:br>
              <a:rPr lang="en-US"/>
            </a:br>
            <a:br>
              <a:rPr lang="en-US"/>
            </a:br>
            <a:r>
              <a:rPr lang="en-US"/>
              <a:t>The if __name__ == "__main__" guard isn't strictly needed for threading either — that was a multiprocessing thing for Windows/spawn safety.</a:t>
            </a:r>
            <a:br>
              <a:rPr lang="en-US"/>
            </a:br>
            <a:br>
              <a:rPr lang="en-US"/>
            </a:br>
            <a:r>
              <a:rPr lang="en-US"/>
              <a:t>The bottom line: same code structure, just swap the import and the executor class. Run with python3.14t and you're done.</a:t>
            </a:r>
            <a:br>
              <a:rPr lang="en-US"/>
            </a:br>
            <a:br>
              <a:rPr lang="en-US"/>
            </a:br>
            <a:r>
              <a:rPr lang="en-US"/>
              <a:t>This is the easy case. Next slide we'll see a slightly more involved one.</a:t>
            </a:r>
            <a:br>
              <a:rPr lang="en-US"/>
            </a:br>
            <a:br>
              <a:rPr lang="en-US"/>
            </a:br>
            <a:r>
              <a:rPr lang="en-US"/>
              <a:t>ZH: 具体迁移。我们 codebase 最常见的 pattern —— Pool.map 在一堆输入上跑。改动基本是机械的。</a:t>
            </a:r>
            <a:br>
              <a:rPr lang="en-US"/>
            </a:br>
            <a:br>
              <a:rPr lang="en-US"/>
            </a:br>
            <a:r>
              <a:rPr lang="en-US"/>
              <a:t>左边今天的写法：multiprocessing.Pool、.map 在 symbols 上。每个 worker 是完整 Python 进程。symbol 进 worker 要 pickle、结果回来要 pickle、还要付 fork 和 re-import 的代价。</a:t>
            </a:r>
            <a:br>
              <a:rPr lang="en-US"/>
            </a:br>
            <a:br>
              <a:rPr lang="en-US"/>
            </a:br>
            <a:r>
              <a:rPr lang="en-US"/>
              <a:t>右边：ThreadPoolExecutor，同样的 .map 接口。同样的函数、同样的输入。但现在 8 个 worker 跟主进程共享内存。不 pickle。启动毫秒级。函数想读外层 scope 的大 DataFrame？直接读，不用过 pickle。</a:t>
            </a:r>
            <a:br>
              <a:rPr lang="en-US"/>
            </a:br>
            <a:br>
              <a:rPr lang="en-US"/>
            </a:br>
            <a:r>
              <a:rPr lang="en-US"/>
              <a:t>if __name__ == "__main__" 在 threading 下也不强制要 —— 那是 multiprocessing 在 Windows/spawn 下的事。</a:t>
            </a:r>
            <a:br>
              <a:rPr lang="en-US"/>
            </a:br>
            <a:br>
              <a:rPr lang="en-US"/>
            </a:br>
            <a:r>
              <a:rPr lang="en-US"/>
              <a:t>底线：代码结构一样，换 import 和 executor class。用 python3.14t 跑就行。</a:t>
            </a:r>
            <a:br>
              <a:rPr lang="en-US"/>
            </a:br>
            <a:br>
              <a:rPr lang="en-US"/>
            </a:br>
            <a:r>
              <a:rPr lang="en-US"/>
              <a:t>这是简单 case。下一页讲稍复杂的。</a:t>
            </a:r>
            <a:endParaRPr/>
          </a:p>
        </p:txBody>
      </p:sp>
      <p:sp>
        <p:nvSpPr>
          <p:cNvPr id="299" name="Google Shape;2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Slightly more involved case. starmap is what you reach for when your function takes multiple arguments. ThreadPoolExecutor.map only handles single-arg functions cleanly, so the natural translation goes to submit + as_completed.</a:t>
            </a:r>
            <a:br>
              <a:rPr lang="en-US"/>
            </a:br>
            <a:br>
              <a:rPr lang="en-US"/>
            </a:br>
            <a:r>
              <a:rPr lang="en-US"/>
              <a:t>But this isn't just a workaround. The submit-based API is actually more powerful than .starmap in three ways:</a:t>
            </a:r>
            <a:br>
              <a:rPr lang="en-US"/>
            </a:br>
            <a:br>
              <a:rPr lang="en-US"/>
            </a:br>
            <a:r>
              <a:rPr lang="en-US"/>
              <a:t>First, you get a Future object for each task. You can call .cancel(), .running(), .done(), .exception(), individually. starmap is opaque — you wait for the whole batch.</a:t>
            </a:r>
            <a:br>
              <a:rPr lang="en-US"/>
            </a:br>
            <a:br>
              <a:rPr lang="en-US"/>
            </a:br>
            <a:r>
              <a:rPr lang="en-US"/>
              <a:t>Second, as_completed lets you process results in completion order, not submission order. So if you have 1000 backtests and want to start aggregating as they finish — start writing to disk, updating a progress bar, whatever — you can. With starmap you wait for all of them.</a:t>
            </a:r>
            <a:br>
              <a:rPr lang="en-US"/>
            </a:br>
            <a:br>
              <a:rPr lang="en-US"/>
            </a:br>
            <a:r>
              <a:rPr lang="en-US"/>
              <a:t>Third — this is the big one — exception handling becomes per-task. With starmap, if one task in the batch raises, you find out at the end and you've potentially lost a lot of completed work, or you've wasted time pickling exception tracebacks. With as_completed + fut.result() in a try/except, each task's exception is handled individually. The good results from sibling tasks are still there.</a:t>
            </a:r>
            <a:br>
              <a:rPr lang="en-US"/>
            </a:br>
            <a:br>
              <a:rPr lang="en-US"/>
            </a:br>
            <a:r>
              <a:rPr lang="en-US"/>
              <a:t>So this migration isn't a downgrade — it's an upgrade. And it works the same way whether you're on standard Python or free-threaded, so you can refactor to this pattern today and just flip the executor later.</a:t>
            </a:r>
            <a:br>
              <a:rPr lang="en-US"/>
            </a:br>
            <a:br>
              <a:rPr lang="en-US"/>
            </a:br>
            <a:r>
              <a:rPr lang="en-US"/>
              <a:t>ZH: 稍复杂一点的 case。starmap 是函数多个参数时的常用做法。ThreadPoolExecutor.map 干净地只支持单参数函数，所以自然的翻译是 submit + as_completed。</a:t>
            </a:r>
            <a:br>
              <a:rPr lang="en-US"/>
            </a:br>
            <a:br>
              <a:rPr lang="en-US"/>
            </a:br>
            <a:r>
              <a:rPr lang="en-US"/>
              <a:t>但这不是 workaround。submit-based API 在三个方面比 .starmap 更强：</a:t>
            </a:r>
            <a:br>
              <a:rPr lang="en-US"/>
            </a:br>
            <a:br>
              <a:rPr lang="en-US"/>
            </a:br>
            <a:r>
              <a:rPr lang="en-US"/>
              <a:t>第一，每个任务返回一个 Future。你可以单独 .cancel()、.running()、.done()、.exception()。starmap 是不透明的 —— 整批一起等。</a:t>
            </a:r>
            <a:br>
              <a:rPr lang="en-US"/>
            </a:br>
            <a:br>
              <a:rPr lang="en-US"/>
            </a:br>
            <a:r>
              <a:rPr lang="en-US"/>
              <a:t>第二，as_completed 让你按完成顺序处理结果，不是提交顺序。1000 个 backtest 你想边出边聚合 —— 写盘、更新进度条、什么都行。starmap 必须全部等完。</a:t>
            </a:r>
            <a:br>
              <a:rPr lang="en-US"/>
            </a:br>
            <a:br>
              <a:rPr lang="en-US"/>
            </a:br>
            <a:r>
              <a:rPr lang="en-US"/>
              <a:t>第三 —— 这个最重要 —— 异常处理变成 per-task。starmap 里某个任务挂了你最后才知道，可能已经丢了一堆完成的结果，或者浪费时间 pickle exception traceback。as_completed + fut.result() 配 try/except，每个任务的异常单独处理。兄弟任务的好结果还在。</a:t>
            </a:r>
            <a:br>
              <a:rPr lang="en-US"/>
            </a:br>
            <a:br>
              <a:rPr lang="en-US"/>
            </a:br>
            <a:r>
              <a:rPr lang="en-US"/>
              <a:t>所以这次迁移不是降级 —— 是升级。而且 standard Python 和 free-threaded 都一样用，你今天就能 refactor 成这个 pattern，后面再换 executor。</a:t>
            </a:r>
            <a:endParaRPr/>
          </a:p>
        </p:txBody>
      </p:sp>
      <p:sp>
        <p:nvSpPr>
          <p:cNvPr id="314" name="Google Shape;3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Now the trade-offs section. Three things to be honest about.</a:t>
            </a:r>
            <a:br>
              <a:rPr lang="en-US"/>
            </a:br>
            <a:br>
              <a:rPr lang="en-US"/>
            </a:br>
            <a:r>
              <a:rPr lang="en-US"/>
              <a:t>First: free-threading isn't free in single-thread performance. Those per-object locks and biased refcounting operations add some overhead even when only one thread is active.</a:t>
            </a:r>
            <a:br>
              <a:rPr lang="en-US"/>
            </a:br>
            <a:br>
              <a:rPr lang="en-US"/>
            </a:br>
            <a:r>
              <a:rPr lang="en-US"/>
              <a:t>In Python 3.13, the cost was painful — roughly 40% slower single-threaded. That alone was a reason to wait. In Python 3.14, that's been brought down to about 5–10%. The new JIT helps absorb some of the cost. Still real, but very acceptable for code that benefits from parallelism.</a:t>
            </a:r>
            <a:br>
              <a:rPr lang="en-US"/>
            </a:br>
            <a:br>
              <a:rPr lang="en-US"/>
            </a:br>
            <a:r>
              <a:rPr lang="en-US"/>
              <a:t>Decision rule: if your code spends its time doing real parallel CPU work, free-threading is a clear win — the parallel speedup vastly outweighs the 5–10% single-thread tax. If you have a latency-sensitive single-request hot path that doesn't parallelize, stick with standard CPython. If your code is heavy in C extensions and those extensions aren't ready, stick with standard.</a:t>
            </a:r>
            <a:br>
              <a:rPr lang="en-US"/>
            </a:br>
            <a:br>
              <a:rPr lang="en-US"/>
            </a:br>
            <a:r>
              <a:rPr lang="en-US"/>
              <a:t>For our backtest grids, parameter sweeps, batch risk runs — definitely free-threaded. For an interactive analyst notebook running one query at a time — probably standard CPython.</a:t>
            </a:r>
            <a:br>
              <a:rPr lang="en-US"/>
            </a:br>
            <a:br>
              <a:rPr lang="en-US"/>
            </a:br>
            <a:r>
              <a:rPr lang="en-US"/>
              <a:t>ZH: 进入 trade-off 那一节。三个要诚实说的事。</a:t>
            </a:r>
            <a:br>
              <a:rPr lang="en-US"/>
            </a:br>
            <a:br>
              <a:rPr lang="en-US"/>
            </a:br>
            <a:r>
              <a:rPr lang="en-US"/>
              <a:t>第一：单线程性能不是免费的。Per-object lock 和 biased refcounting 即使只有一个 thread 在跑也会有点 overhead。</a:t>
            </a:r>
            <a:br>
              <a:rPr lang="en-US"/>
            </a:br>
            <a:br>
              <a:rPr lang="en-US"/>
            </a:br>
            <a:r>
              <a:rPr lang="en-US"/>
              <a:t>Python 3.13 时这个代价很痛 —— 单线程慢 40%。光这一点就足够让人等。Python 3.14 降到 5-10%。新的 JIT 帮忙吸收了一部分。仍然是真实存在的开销，但对受益于并行的代码完全可以接受。</a:t>
            </a:r>
            <a:br>
              <a:rPr lang="en-US"/>
            </a:br>
            <a:br>
              <a:rPr lang="en-US"/>
            </a:br>
            <a:r>
              <a:rPr lang="en-US"/>
              <a:t>判断规则：如果你的代码真的在做并行 CPU 工作，free-threading 是明确的胜利 —— 并行的加速远超 5-10% 单线程税。如果你有 latency 敏感的单请求 hot path 且无法并行，留在标准 CPython。如果代码重度依赖 C extension 而那些 extension 还没准备好，留在标准。</a:t>
            </a:r>
            <a:br>
              <a:rPr lang="en-US"/>
            </a:br>
            <a:br>
              <a:rPr lang="en-US"/>
            </a:br>
            <a:r>
              <a:rPr lang="en-US"/>
              <a:t>我们的 backtest grid、parameter sweep、batch risk 这些，明确上 free-threaded。一个分析师交互式 notebook、一次一个 query 的，标准 CPython 就行。</a:t>
            </a:r>
            <a:endParaRPr/>
          </a:p>
        </p:txBody>
      </p:sp>
      <p:sp>
        <p:nvSpPr>
          <p:cNvPr id="329" name="Google Shape;3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Second trade-off, and the operationally critical one for us: C extensions.</a:t>
            </a:r>
            <a:br>
              <a:rPr lang="en-US"/>
            </a:br>
            <a:br>
              <a:rPr lang="en-US"/>
            </a:br>
            <a:r>
              <a:rPr lang="en-US"/>
              <a:t>CPython's C API has assumptions about the GIL baked in for 30 years. C extensions written against that API need to be audited and rebuilt for the free-threaded ABI. The new ABI is wheel-tagged differently (cp314t), so pip pulls the right one.</a:t>
            </a:r>
            <a:br>
              <a:rPr lang="en-US"/>
            </a:br>
            <a:br>
              <a:rPr lang="en-US"/>
            </a:br>
            <a:r>
              <a:rPr lang="en-US"/>
              <a:t>The critical safety mechanism: if you import a C extension that hasn't been marked as free-threading-ready, the interpreter silently re-enables the GIL at runtime to protect that extension. Your program keeps working — but you're back on the GIL. Always check sys._is_gil_enabled() in your actual program after all imports.</a:t>
            </a:r>
            <a:br>
              <a:rPr lang="en-US"/>
            </a:br>
            <a:br>
              <a:rPr lang="en-US"/>
            </a:br>
            <a:r>
              <a:rPr lang="en-US"/>
              <a:t>The table on this slide is the part I want to re-verify the day before this talk — the ecosystem moves fast. As of when I'm preparing this, all the major numerical libraries we depend on — NumPy, Pandas, SciPy, PyTorch — have published free-threaded wheels. pybind11 and nanobind, which we use for our internal bindings, both support it. Cython 3.x supports it with a build flag.</a:t>
            </a:r>
            <a:br>
              <a:rPr lang="en-US"/>
            </a:br>
            <a:br>
              <a:rPr lang="en-US"/>
            </a:br>
            <a:r>
              <a:rPr lang="en-US"/>
              <a:t>The last row is the one I want everyone to think about: our own internal C extensions. If we have any — and we do, we have a few — those need to be audited and rebuilt before we can adopt this broadly. That's a small piece of work, but it's a prerequisite.</a:t>
            </a:r>
            <a:br>
              <a:rPr lang="en-US"/>
            </a:br>
            <a:br>
              <a:rPr lang="en-US"/>
            </a:br>
            <a:r>
              <a:rPr lang="en-US"/>
              <a:t>The tracker URL at the bottom is the official compatibility tracker run by the FT community. If you're wondering about a specific library, check there.</a:t>
            </a:r>
            <a:br>
              <a:rPr lang="en-US"/>
            </a:br>
            <a:br>
              <a:rPr lang="en-US"/>
            </a:br>
            <a:r>
              <a:rPr lang="en-US"/>
              <a:t>ZH: 第二个 trade-off，对我们运维上最关键：C extension。</a:t>
            </a:r>
            <a:br>
              <a:rPr lang="en-US"/>
            </a:br>
            <a:br>
              <a:rPr lang="en-US"/>
            </a:br>
            <a:r>
              <a:rPr lang="en-US"/>
              <a:t>CPython 的 C API 30 年来都内嵌了对 GIL 的假设。基于那套 API 写的 C extension 必须 audit、重新编译，才能配 free-threaded ABI。新 ABI 的 wheel tag 不同（cp314t），所以 pip 会拉对的版本。</a:t>
            </a:r>
            <a:br>
              <a:rPr lang="en-US"/>
            </a:br>
            <a:br>
              <a:rPr lang="en-US"/>
            </a:br>
            <a:r>
              <a:rPr lang="en-US"/>
              <a:t>关键的安全机制：如果你 import 了一个没标记成 free-threading-ready 的 C extension，解释器会在 runtime 静默把 GIL 重新打开来保护它。程序还能跑 —— 但你又回到了 GIL 上。所以一定要在 import 全部完成后用 sys._is_gil_enabled() 检查。</a:t>
            </a:r>
            <a:br>
              <a:rPr lang="en-US"/>
            </a:br>
            <a:br>
              <a:rPr lang="en-US"/>
            </a:br>
            <a:r>
              <a:rPr lang="en-US"/>
              <a:t>这页表格是我打算在 talk 前一天重新 verify 的部分 —— 生态变化快。准备这份 slide 时，我们依赖的所有主要数值库 —— NumPy、Pandas、SciPy、PyTorch —— 都发布了 free-threaded wheel。我们用的 pybind11、nanobind 都支持。Cython 3.x 用一个 build flag 支持。</a:t>
            </a:r>
            <a:br>
              <a:rPr lang="en-US"/>
            </a:br>
            <a:br>
              <a:rPr lang="en-US"/>
            </a:br>
            <a:r>
              <a:rPr lang="en-US"/>
              <a:t>最后一行是大家要想的：我们自己的内部 C extension。我们有几个，那些需要先 audit、重编译，才能广泛 adopt。一小块工作，但是前置条件。</a:t>
            </a:r>
            <a:br>
              <a:rPr lang="en-US"/>
            </a:br>
            <a:br>
              <a:rPr lang="en-US"/>
            </a:br>
            <a:r>
              <a:rPr lang="en-US"/>
              <a:t>底下的 tracker URL 是 FT 社区维护的官方兼容性跟踪表。具体某个库不确定就上去查。</a:t>
            </a:r>
            <a:endParaRPr/>
          </a:p>
        </p:txBody>
      </p:sp>
      <p:sp>
        <p:nvSpPr>
          <p:cNvPr id="349" name="Google Shape;34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Third trade-off — and this one matters the most for correctness.</a:t>
            </a:r>
            <a:br>
              <a:rPr lang="en-US"/>
            </a:br>
            <a:br>
              <a:rPr lang="en-US"/>
            </a:br>
            <a:r>
              <a:rPr lang="en-US"/>
              <a:t>Under the GIL, a lot of Python code that looks thread-unsafe actually works — by accident. The GIL serializes bytecode execution, so simple operations like "counter += 1" appear atomic from Python's perspective. They aren't really atomic — they're three bytecodes — but the GIL gives the appearance of atomicity for most simple cases.</a:t>
            </a:r>
            <a:br>
              <a:rPr lang="en-US"/>
            </a:br>
            <a:br>
              <a:rPr lang="en-US"/>
            </a:br>
            <a:r>
              <a:rPr lang="en-US"/>
              <a:t>The code on this slide is the canonical example. Eight threads, each incrementing a shared counter 100,000 times. We expect 800,000.</a:t>
            </a:r>
            <a:br>
              <a:rPr lang="en-US"/>
            </a:br>
            <a:br>
              <a:rPr lang="en-US"/>
            </a:br>
            <a:r>
              <a:rPr lang="en-US"/>
              <a:t>On standard CPython with the GIL: you get 800,000 every time. Looks correct.</a:t>
            </a:r>
            <a:br>
              <a:rPr lang="en-US"/>
            </a:br>
            <a:br>
              <a:rPr lang="en-US"/>
            </a:br>
            <a:r>
              <a:rPr lang="en-US"/>
              <a:t>On free-threaded CPython: you'll get something less — 400,000, 600,000, somewhere random. Lost updates. This is a genuine race condition that was always there in theory; the GIL just hid it.</a:t>
            </a:r>
            <a:br>
              <a:rPr lang="en-US"/>
            </a:br>
            <a:br>
              <a:rPr lang="en-US"/>
            </a:br>
            <a:r>
              <a:rPr lang="en-US"/>
              <a:t>So when you migrate code from multiprocessing to threading on the free-threaded build, you don't just get a free performance win. You inherit the shared-memory programming model. Your code must be thread-safe.</a:t>
            </a:r>
            <a:br>
              <a:rPr lang="en-US"/>
            </a:br>
            <a:br>
              <a:rPr lang="en-US"/>
            </a:br>
            <a:r>
              <a:rPr lang="en-US"/>
              <a:t>The good news: for the kind of work we typically parallelize — embarrassingly parallel backtests, parameter sweeps, independent risk calcs — workers don't usually share mutable state. Each worker reads its inputs, does its computation, returns a result. No race risk.</a:t>
            </a:r>
            <a:br>
              <a:rPr lang="en-US"/>
            </a:br>
            <a:br>
              <a:rPr lang="en-US"/>
            </a:br>
            <a:r>
              <a:rPr lang="en-US"/>
              <a:t>The bad news: when there is shared state — caches, counters, dictionaries being updated, logging — you need to actually be careful. threading.Lock, queue.Queue, threading.local, or design it out by making the shared data immutable.</a:t>
            </a:r>
            <a:br>
              <a:rPr lang="en-US"/>
            </a:br>
            <a:br>
              <a:rPr lang="en-US"/>
            </a:br>
            <a:r>
              <a:rPr lang="en-US"/>
              <a:t>For us this means: when we migrate code from multiprocessing, we need to do a quick thread-safety review of any function that touches global or class-level mutable state.</a:t>
            </a:r>
            <a:br>
              <a:rPr lang="en-US"/>
            </a:br>
            <a:br>
              <a:rPr lang="en-US"/>
            </a:br>
            <a:r>
              <a:rPr lang="en-US"/>
              <a:t>ZH: 第三个 trade-off —— 这个对正确性最重要。</a:t>
            </a:r>
            <a:br>
              <a:rPr lang="en-US"/>
            </a:br>
            <a:br>
              <a:rPr lang="en-US"/>
            </a:br>
            <a:r>
              <a:rPr lang="en-US"/>
              <a:t>GIL 在的时候，很多看起来不 thread-safe 的 Python 代码其实能跑 —— 靠运气。GIL 把 bytecode 执行串行化了，所以像 "counter += 1" 这种简单操作从 Python 视角看是原子的。其实不是 —— 它是三条 bytecode —— 但 GIL 让大部分简单 case 看起来像原子。</a:t>
            </a:r>
            <a:br>
              <a:rPr lang="en-US"/>
            </a:br>
            <a:br>
              <a:rPr lang="en-US"/>
            </a:br>
            <a:r>
              <a:rPr lang="en-US"/>
              <a:t>这页的代码是经典例子。8 个 thread，每个把共享 counter 加 10 万次。期待 80 万。</a:t>
            </a:r>
            <a:br>
              <a:rPr lang="en-US"/>
            </a:br>
            <a:br>
              <a:rPr lang="en-US"/>
            </a:br>
            <a:r>
              <a:rPr lang="en-US"/>
              <a:t>标准 CPython with GIL：每次都是 80 万。看起来对。</a:t>
            </a:r>
            <a:br>
              <a:rPr lang="en-US"/>
            </a:br>
            <a:br>
              <a:rPr lang="en-US"/>
            </a:br>
            <a:r>
              <a:rPr lang="en-US"/>
              <a:t>Free-threaded CPython：会少 —— 40 万、60 万，随机。Lost updates。这是真实存在的 race condition，理论上一直在，GIL 只是把它藏起来了。</a:t>
            </a:r>
            <a:br>
              <a:rPr lang="en-US"/>
            </a:br>
            <a:br>
              <a:rPr lang="en-US"/>
            </a:br>
            <a:r>
              <a:rPr lang="en-US"/>
              <a:t>所以从 multiprocessing 迁移到 free-threaded 的 threading 不是白拿性能。你继承了共享内存的编程模型。代码必须 thread-safe。</a:t>
            </a:r>
            <a:br>
              <a:rPr lang="en-US"/>
            </a:br>
            <a:br>
              <a:rPr lang="en-US"/>
            </a:br>
            <a:r>
              <a:rPr lang="en-US"/>
              <a:t>好消息：我们通常并行的工作 —— embarrassingly parallel 的 backtest、parameter sweep、独立的 risk calc —— worker 之间一般不共享 mutable state。每个 worker 读输入、算、返回结果。没有 race 风险。</a:t>
            </a:r>
            <a:br>
              <a:rPr lang="en-US"/>
            </a:br>
            <a:br>
              <a:rPr lang="en-US"/>
            </a:br>
            <a:r>
              <a:rPr lang="en-US"/>
              <a:t>坏消息：有共享状态的时候 —— cache、counter、被更新的 dict、log —— 你真的得小心。threading.Lock、queue.Queue、threading.local，或者设计成共享数据 immutable。</a:t>
            </a:r>
            <a:br>
              <a:rPr lang="en-US"/>
            </a:br>
            <a:br>
              <a:rPr lang="en-US"/>
            </a:br>
            <a:r>
              <a:rPr lang="en-US"/>
              <a:t>对我们来说：从 multiprocessing 迁移时，对任何碰全局或类级 mutable state 的函数做个 thread-safety review。</a:t>
            </a:r>
            <a:endParaRPr/>
          </a:p>
        </p:txBody>
      </p:sp>
      <p:sp>
        <p:nvSpPr>
          <p:cNvPr id="362" name="Google Shape;36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Brief detour for completeness. Python 3.14 shipped a second big thing alongside free-threading: an experimental JIT compiler. People often lump them together when they talk about 3.14's performance story, but they're separate technologies.</a:t>
            </a:r>
            <a:br>
              <a:rPr lang="en-US"/>
            </a:br>
            <a:br>
              <a:rPr lang="en-US"/>
            </a:br>
            <a:r>
              <a:rPr lang="en-US"/>
              <a:t>The JIT is a copy-and-patch design — that's a fairly novel technique, lower implementation complexity than a full tracing JIT. PEP 744 spec'd it. You enable it with the PYTHON_JIT=1 environment variable.</a:t>
            </a:r>
            <a:br>
              <a:rPr lang="en-US"/>
            </a:br>
            <a:br>
              <a:rPr lang="en-US"/>
            </a:br>
            <a:r>
              <a:rPr lang="en-US"/>
              <a:t>Honest assessment of where it is today: in independent benchmarks across the pyperformance suite, the JIT delivers somewhere around 3–5% geometric mean improvement. For some workloads more, for some less, for many essentially nothing. It's a real piece of technology and it'll keep improving over releases. But right now, you're not going to dramatically speed up your code by turning it on.</a:t>
            </a:r>
            <a:br>
              <a:rPr lang="en-US"/>
            </a:br>
            <a:br>
              <a:rPr lang="en-US"/>
            </a:br>
            <a:r>
              <a:rPr lang="en-US"/>
              <a:t>The reason I'm not focusing on it: free-threading is a structural change. It changes the set of things you can write. The JIT is an optimization that happens transparently behind your code. They're different scales of impact.</a:t>
            </a:r>
            <a:br>
              <a:rPr lang="en-US"/>
            </a:br>
            <a:br>
              <a:rPr lang="en-US"/>
            </a:br>
            <a:r>
              <a:rPr lang="en-US"/>
              <a:t>If you're curious, try it. Set PYTHON_JIT=1 on a CPU-heavy script and measure. If you see real gains for your workload, keep it on. But for our team, the much bigger ROI is in getting onto the free-threaded build and starting to drop multiprocessing.</a:t>
            </a:r>
            <a:br>
              <a:rPr lang="en-US"/>
            </a:br>
            <a:br>
              <a:rPr lang="en-US"/>
            </a:br>
            <a:r>
              <a:rPr lang="en-US"/>
              <a:t>Moving on.</a:t>
            </a:r>
            <a:br>
              <a:rPr lang="en-US"/>
            </a:br>
            <a:br>
              <a:rPr lang="en-US"/>
            </a:br>
            <a:r>
              <a:rPr lang="en-US"/>
              <a:t>ZH: 简短岔开一下，求完整。Python 3.14 跟 free-threading 一起还发了第二件大事：experimental JIT compiler。讲 3.14 性能时大家经常把它们绑在一起，但是两个独立的东西。</a:t>
            </a:r>
            <a:br>
              <a:rPr lang="en-US"/>
            </a:br>
            <a:br>
              <a:rPr lang="en-US"/>
            </a:br>
            <a:r>
              <a:rPr lang="en-US"/>
              <a:t>JIT 是 copy-and-patch 设计 —— 这是个比较新颖的技术，实现复杂度比完整的 tracing JIT 低。PEP 744 规范的。设 PYTHON_JIT=1 环境变量开启。</a:t>
            </a:r>
            <a:br>
              <a:rPr lang="en-US"/>
            </a:br>
            <a:br>
              <a:rPr lang="en-US"/>
            </a:br>
            <a:r>
              <a:rPr lang="en-US"/>
              <a:t>诚实评估它现在的状态：在 pyperformance 那套独立 benchmark 上，JIT 大约 3-5% 几何平均提升。有的 workload 多一点，有的少一点，很多基本没影响。是真东西，会随版本继续改进。但现在打开它你不会有戏剧性的提速。</a:t>
            </a:r>
            <a:br>
              <a:rPr lang="en-US"/>
            </a:br>
            <a:br>
              <a:rPr lang="en-US"/>
            </a:br>
            <a:r>
              <a:rPr lang="en-US"/>
              <a:t>为什么不重点讲：free-threading 是结构性变化。它改变你能写什么。JIT 是透明的优化。影响级别不同。</a:t>
            </a:r>
            <a:br>
              <a:rPr lang="en-US"/>
            </a:br>
            <a:br>
              <a:rPr lang="en-US"/>
            </a:br>
            <a:r>
              <a:rPr lang="en-US"/>
              <a:t>感兴趣就试一下。在一个 CPU 密集脚本上设 PYTHON_JIT=1 测一下。如果对你的 workload 有真实收益，就开着。但对我们组，ROI 大得多的是上 free-threaded build 并开始去掉 multiprocessing。</a:t>
            </a:r>
            <a:br>
              <a:rPr lang="en-US"/>
            </a:br>
            <a:br>
              <a:rPr lang="en-US"/>
            </a:br>
            <a:r>
              <a:rPr lang="en-US"/>
              <a:t>继续。</a:t>
            </a:r>
            <a:endParaRPr/>
          </a:p>
        </p:txBody>
      </p:sp>
      <p:sp>
        <p:nvSpPr>
          <p:cNvPr id="379" name="Google Shape;3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[PLACEHOLDER — we agreed to fill this in together based on your specific codebase. Once you share which subsystems use multiprocessing most heavily, we'll rewrite this slide with concrete area names and (ideally) a rough estimate of memory/time wins you'd expect.]</a:t>
            </a:r>
            <a:br>
              <a:rPr lang="en-US"/>
            </a:br>
            <a:br>
              <a:rPr lang="en-US"/>
            </a:br>
            <a:r>
              <a:rPr lang="en-US"/>
              <a:t>When you fill this in, useful structure:</a:t>
            </a:r>
            <a:br>
              <a:rPr lang="en-US"/>
            </a:br>
            <a:r>
              <a:rPr lang="en-US"/>
              <a:t>1. The 2–3 biggest current users of multiprocessing in our system, named explicitly.</a:t>
            </a:r>
            <a:br>
              <a:rPr lang="en-US"/>
            </a:br>
            <a:r>
              <a:rPr lang="en-US"/>
              <a:t>2. For each: rough estimate of why free-threading would help (memory? startup? sharing inputs?).</a:t>
            </a:r>
            <a:br>
              <a:rPr lang="en-US"/>
            </a:br>
            <a:r>
              <a:rPr lang="en-US"/>
              <a:t>3. Any known blockers — internal C extensions that need a rebuild, libraries we depend on that aren't FT-ready yet.</a:t>
            </a:r>
            <a:br>
              <a:rPr lang="en-US"/>
            </a:br>
            <a:br>
              <a:rPr lang="en-US"/>
            </a:br>
            <a:r>
              <a:rPr lang="en-US"/>
              <a:t>The point of this slide is to make it concrete and personal. Generic claims don't land; "our nightly param-sweep job currently uses 32 workers and 60GB; on free-threading we expect 1 process and ~8GB" lands.</a:t>
            </a:r>
            <a:br>
              <a:rPr lang="en-US"/>
            </a:br>
            <a:br>
              <a:rPr lang="en-US"/>
            </a:br>
            <a:r>
              <a:rPr lang="en-US"/>
              <a:t>ZH: [占位 —— 我们说好等讨论具体 codebase 后再填。把你们最重 multiprocessing 的子系统告诉我，我重写这页，加上具体名字和大致预期的内存/时间收益。]</a:t>
            </a:r>
            <a:br>
              <a:rPr lang="en-US"/>
            </a:br>
            <a:br>
              <a:rPr lang="en-US"/>
            </a:br>
            <a:r>
              <a:rPr lang="en-US"/>
              <a:t>填的时候建议结构：</a:t>
            </a:r>
            <a:br>
              <a:rPr lang="en-US"/>
            </a:br>
            <a:r>
              <a:rPr lang="en-US"/>
              <a:t>1. 系统里 2-3 个最大的 multiprocessing 用户，点名。</a:t>
            </a:r>
            <a:br>
              <a:rPr lang="en-US"/>
            </a:br>
            <a:r>
              <a:rPr lang="en-US"/>
              <a:t>2. 每个：粗略估计为什么 free-threading 能帮 —— 内存？启动？共享输入？</a:t>
            </a:r>
            <a:br>
              <a:rPr lang="en-US"/>
            </a:br>
            <a:r>
              <a:rPr lang="en-US"/>
              <a:t>3. 已知 blocker —— 需要重编的内部 C extension、还没 FT-ready 的依赖。</a:t>
            </a:r>
            <a:br>
              <a:rPr lang="en-US"/>
            </a:br>
            <a:br>
              <a:rPr lang="en-US"/>
            </a:br>
            <a:r>
              <a:rPr lang="en-US"/>
              <a:t>这页的点是让它具体、跟我们相关。Generic 的话不 hit home；"我们每晚的 param-sweep 任务用 32 个 worker 60GB 内存，free-threading 下预期 1 个进程 ~8GB" 才会 hit home。</a:t>
            </a:r>
            <a:endParaRPr/>
          </a:p>
        </p:txBody>
      </p:sp>
      <p:sp>
        <p:nvSpPr>
          <p:cNvPr id="409" name="Google Shape;4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Six-step adoption path. Keep it incremental.</a:t>
            </a:r>
            <a:br>
              <a:rPr lang="en-US"/>
            </a:br>
            <a:br>
              <a:rPr lang="en-US"/>
            </a:br>
            <a:r>
              <a:rPr lang="en-US"/>
              <a:t>1. Install both interpreters side by side. pyenv handles this cleanly with the "t" suffix. Don't replace your default Python. Just have 3.14t available.</a:t>
            </a:r>
            <a:br>
              <a:rPr lang="en-US"/>
            </a:br>
            <a:br>
              <a:rPr lang="en-US"/>
            </a:br>
            <a:r>
              <a:rPr lang="en-US"/>
              <a:t>2. Pick one job to migrate first. The ideal candidate is CPU-bound, currently uses multiprocessing, and has few internal C extension dependencies. Backtest grids are perfect — embarrassingly parallel, lots of memory pressure from the N-worker pattern, well-defined inputs and outputs.</a:t>
            </a:r>
            <a:br>
              <a:rPr lang="en-US"/>
            </a:br>
            <a:br>
              <a:rPr lang="en-US"/>
            </a:br>
            <a:r>
              <a:rPr lang="en-US"/>
              <a:t>3. Audit. Walk the imports. Anything you depend on that doesn't have an FT wheel on PyPI? Note it down. After the migration, run sys._is_gil_enabled() inside the actual program to confirm the GIL is actually off — remember, an unsupported extension silently turns it back on.</a:t>
            </a:r>
            <a:br>
              <a:rPr lang="en-US"/>
            </a:br>
            <a:br>
              <a:rPr lang="en-US"/>
            </a:br>
            <a:r>
              <a:rPr lang="en-US"/>
              <a:t>4. Port the code. Pool.map → ThreadPoolExecutor.map. starmap → submit + as_completed. As you go, look for shared mutable state — globals, class attributes, caches. Anything written by multiple threads needs a lock or a redesign.</a:t>
            </a:r>
            <a:br>
              <a:rPr lang="en-US"/>
            </a:br>
            <a:br>
              <a:rPr lang="en-US"/>
            </a:br>
            <a:r>
              <a:rPr lang="en-US"/>
              <a:t>5. Benchmark. Don't just feel that it's faster — measure it. Wall time, peak RSS, end-to-end including startup. Compare apples to apples. Capture the numbers; they'll be the evidence for expanding the rollout.</a:t>
            </a:r>
            <a:br>
              <a:rPr lang="en-US"/>
            </a:br>
            <a:br>
              <a:rPr lang="en-US"/>
            </a:br>
            <a:r>
              <a:rPr lang="en-US"/>
              <a:t>6. Once one job proves out, write a short internal guide. The pattern repeats. Other teams can follow the checklist.</a:t>
            </a:r>
            <a:br>
              <a:rPr lang="en-US"/>
            </a:br>
            <a:br>
              <a:rPr lang="en-US"/>
            </a:br>
            <a:r>
              <a:rPr lang="en-US"/>
              <a:t>Important: keep multiprocessing as a fallback. We don't have to migrate everything. Some jobs may never make sense to migrate — and that's fine.</a:t>
            </a:r>
            <a:br>
              <a:rPr lang="en-US"/>
            </a:br>
            <a:br>
              <a:rPr lang="en-US"/>
            </a:br>
            <a:r>
              <a:rPr lang="en-US"/>
              <a:t>ZH: 六步落地路径，保持渐进。</a:t>
            </a:r>
            <a:br>
              <a:rPr lang="en-US"/>
            </a:br>
            <a:br>
              <a:rPr lang="en-US"/>
            </a:br>
            <a:r>
              <a:rPr lang="en-US"/>
              <a:t>1. 两个解释器并存安装。pyenv 加 "t" 后缀干净处理。别替换默认 Python。3.14t 备好就行。</a:t>
            </a:r>
            <a:br>
              <a:rPr lang="en-US"/>
            </a:br>
            <a:br>
              <a:rPr lang="en-US"/>
            </a:br>
            <a:r>
              <a:rPr lang="en-US"/>
              <a:t>2. 挑一个任务先迁。理想 candidate：CPU-bound、当前用 multiprocessing、内部 C extension 依赖少。Backtest grid 很合适 —— embarrassingly parallel、N-worker 模式内存压力大、输入输出明确。</a:t>
            </a:r>
            <a:br>
              <a:rPr lang="en-US"/>
            </a:br>
            <a:br>
              <a:rPr lang="en-US"/>
            </a:br>
            <a:r>
              <a:rPr lang="en-US"/>
              <a:t>3. Audit。过一遍 import。依赖里有没有 PyPI 上没 FT wheel 的？记下来。迁完之后在真实程序里调 sys._is_gil_enabled() 确认 GIL 真的没了 —— 记住，不支持的 extension 会静默把它打回来。</a:t>
            </a:r>
            <a:br>
              <a:rPr lang="en-US"/>
            </a:br>
            <a:br>
              <a:rPr lang="en-US"/>
            </a:br>
            <a:r>
              <a:rPr lang="en-US"/>
              <a:t>4. 改代码。Pool.map → ThreadPoolExecutor.map。starmap → submit + as_completed。改的时候留意共享 mutable state —— global、class attribute、cache。多线程会写的地方要加锁或者重设计。</a:t>
            </a:r>
            <a:br>
              <a:rPr lang="en-US"/>
            </a:br>
            <a:br>
              <a:rPr lang="en-US"/>
            </a:br>
            <a:r>
              <a:rPr lang="en-US"/>
              <a:t>5. Benchmark。不要凭感觉，要量。墙钟时间、RSS 峰值、含启动的 end-to-end。Apples-to-apples 对比。数字记下来，扩展时就是证据。</a:t>
            </a:r>
            <a:br>
              <a:rPr lang="en-US"/>
            </a:br>
            <a:br>
              <a:rPr lang="en-US"/>
            </a:br>
            <a:r>
              <a:rPr lang="en-US"/>
              <a:t>6. 一个任务跑通后写个内部短指南。Pattern 重复。其他组照 checklist 做。</a:t>
            </a:r>
            <a:br>
              <a:rPr lang="en-US"/>
            </a:br>
            <a:br>
              <a:rPr lang="en-US"/>
            </a:br>
            <a:r>
              <a:rPr lang="en-US"/>
              <a:t>重要：multiprocessing 留作 fallback。不是所有东西都要迁。有些任务可能永远没必要迁，那也行。</a:t>
            </a:r>
            <a:endParaRPr/>
          </a:p>
        </p:txBody>
      </p:sp>
      <p:sp>
        <p:nvSpPr>
          <p:cNvPr id="462" name="Google Shape;46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Five things to walk out with.</a:t>
            </a:r>
            <a:br>
              <a:rPr lang="en-US"/>
            </a:br>
            <a:br>
              <a:rPr lang="en-US"/>
            </a:br>
            <a:r>
              <a:rPr lang="en-US"/>
              <a:t>1. PEP 779 made free-threading officially supported in Python 3.14, as of October last year. This isn't a future thing or an experiment anymore.</a:t>
            </a:r>
            <a:br>
              <a:rPr lang="en-US"/>
            </a:br>
            <a:br>
              <a:rPr lang="en-US"/>
            </a:br>
            <a:r>
              <a:rPr lang="en-US"/>
              <a:t>2. Reframe how we think about multiprocessing: it was a tax we paid to get parallelism, not something we wanted. Recognizing this is the mental shift that motivates everything else.</a:t>
            </a:r>
            <a:br>
              <a:rPr lang="en-US"/>
            </a:br>
            <a:br>
              <a:rPr lang="en-US"/>
            </a:br>
            <a:r>
              <a:rPr lang="en-US"/>
              <a:t>3. With free-threading, threading is finally the right tool for CPU parallelism. Same API, shared memory, real parallelism. ThreadPoolExecutor becomes the default.</a:t>
            </a:r>
            <a:br>
              <a:rPr lang="en-US"/>
            </a:br>
            <a:br>
              <a:rPr lang="en-US"/>
            </a:br>
            <a:r>
              <a:rPr lang="en-US"/>
              <a:t>4. Be honest about the trade-offs. 5–10% single-thread cost, C extensions need rebuilds, race conditions are now real. Don't oversell. Plan for the costs.</a:t>
            </a:r>
            <a:br>
              <a:rPr lang="en-US"/>
            </a:br>
            <a:br>
              <a:rPr lang="en-US"/>
            </a:br>
            <a:r>
              <a:rPr lang="en-US"/>
              <a:t>5. Adopt incrementally. Don't try to convert the world. Pick one job, prove the win with numbers, then expand.</a:t>
            </a:r>
            <a:br>
              <a:rPr lang="en-US"/>
            </a:br>
            <a:br>
              <a:rPr lang="en-US"/>
            </a:br>
            <a:r>
              <a:rPr lang="en-US"/>
              <a:t>I'll take questions next. Anything specific to our codebase, please bring up — we should also use this time to figure out where we want to try this first.</a:t>
            </a:r>
            <a:br>
              <a:rPr lang="en-US"/>
            </a:br>
            <a:br>
              <a:rPr lang="en-US"/>
            </a:br>
            <a:r>
              <a:rPr lang="en-US"/>
              <a:t>ZH: 五点带走的。</a:t>
            </a:r>
            <a:br>
              <a:rPr lang="en-US"/>
            </a:br>
            <a:br>
              <a:rPr lang="en-US"/>
            </a:br>
            <a:r>
              <a:rPr lang="en-US"/>
              <a:t>1. PEP 779 让 free-threading 在 Python 3.14（去年 10 月）正式 officially supported。不再是未来或者实验。</a:t>
            </a:r>
            <a:br>
              <a:rPr lang="en-US"/>
            </a:br>
            <a:br>
              <a:rPr lang="en-US"/>
            </a:br>
            <a:r>
              <a:rPr lang="en-US"/>
              <a:t>2. 重新认识 multiprocessing：那是我们为拿到并行付的税，不是我们想要的东西。这个心态转变是后面一切的前提。</a:t>
            </a:r>
            <a:br>
              <a:rPr lang="en-US"/>
            </a:br>
            <a:br>
              <a:rPr lang="en-US"/>
            </a:br>
            <a:r>
              <a:rPr lang="en-US"/>
              <a:t>3. Free-threading 之后，threading 终于是 CPU 并行的正确工具。API 一样、共享内存、真正并行。ThreadPoolExecutor 成为默认。</a:t>
            </a:r>
            <a:br>
              <a:rPr lang="en-US"/>
            </a:br>
            <a:br>
              <a:rPr lang="en-US"/>
            </a:br>
            <a:r>
              <a:rPr lang="en-US"/>
              <a:t>4. 诚实对待 trade-off。单线程 5-10% 开销、C extension 要重编、race condition 是真的问题。别 oversell。计划好成本。</a:t>
            </a:r>
            <a:br>
              <a:rPr lang="en-US"/>
            </a:br>
            <a:br>
              <a:rPr lang="en-US"/>
            </a:br>
            <a:r>
              <a:rPr lang="en-US"/>
              <a:t>5. 渐进 adopt。别想一次改完所有东西。挑一个任务、用数字证明、再扩。</a:t>
            </a:r>
            <a:br>
              <a:rPr lang="en-US"/>
            </a:br>
            <a:br>
              <a:rPr lang="en-US"/>
            </a:br>
            <a:r>
              <a:rPr lang="en-US"/>
              <a:t>下面 Q&amp;A。codebase 里具体的问题尽管提 —— 这个时间也用来一起想我们先在哪里试。</a:t>
            </a:r>
            <a:endParaRPr/>
          </a:p>
        </p:txBody>
      </p:sp>
      <p:sp>
        <p:nvSpPr>
          <p:cNvPr id="495" name="Google Shape;4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Open the floor. Two parallel goals for Q&amp;A:</a:t>
            </a:r>
            <a:br>
              <a:rPr lang="en-US"/>
            </a:br>
            <a:br>
              <a:rPr lang="en-US"/>
            </a:br>
            <a:r>
              <a:rPr lang="en-US"/>
              <a:t>1. Answer whatever questions people have about the mechanics.</a:t>
            </a:r>
            <a:br>
              <a:rPr lang="en-US"/>
            </a:br>
            <a:r>
              <a:rPr lang="en-US"/>
              <a:t>2. Use the second question prompt to start a concrete conversation about which subsystem we should pilot this on. That conversation feeds straight into the placeholder on slide 19.</a:t>
            </a:r>
            <a:br>
              <a:rPr lang="en-US"/>
            </a:br>
            <a:br>
              <a:rPr lang="en-US"/>
            </a:br>
            <a:r>
              <a:rPr lang="en-US"/>
              <a:t>Reference links at the bottom for anyone who wants to read more.</a:t>
            </a:r>
            <a:br>
              <a:rPr lang="en-US"/>
            </a:br>
            <a:br>
              <a:rPr lang="en-US"/>
            </a:br>
            <a:r>
              <a:rPr lang="en-US"/>
              <a:t>ZH: 开放讨论。Q&amp;A 有两个并行目标：</a:t>
            </a:r>
            <a:br>
              <a:rPr lang="en-US"/>
            </a:br>
            <a:br>
              <a:rPr lang="en-US"/>
            </a:br>
            <a:r>
              <a:rPr lang="en-US"/>
              <a:t>1. 回答关于机制的任何问题。</a:t>
            </a:r>
            <a:br>
              <a:rPr lang="en-US"/>
            </a:br>
            <a:r>
              <a:rPr lang="en-US"/>
              <a:t>2. 用第二个问题引出具体讨论：我们应该在哪个子系统先试。这个讨论直接对应 slide 19 那个占位。</a:t>
            </a:r>
            <a:br>
              <a:rPr lang="en-US"/>
            </a:br>
            <a:br>
              <a:rPr lang="en-US"/>
            </a:br>
            <a:r>
              <a:rPr lang="en-US"/>
              <a:t>底下放了参考链接给想深入的人。</a:t>
            </a:r>
            <a:endParaRPr/>
          </a:p>
        </p:txBody>
      </p:sp>
      <p:sp>
        <p:nvSpPr>
          <p:cNvPr id="516" name="Google Shape;51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5486400" y="1188720"/>
            <a:ext cx="1188720" cy="1188720"/>
          </a:xfrm>
          <a:prstGeom prst="rect">
            <a:avLst/>
          </a:prstGeom>
          <a:noFill/>
          <a:ln>
            <a:noFill/>
          </a:ln>
        </p:spPr>
      </p:pic>
      <p:sp>
        <p:nvSpPr>
          <p:cNvPr id="17" name="Google Shape;17;p3"/>
          <p:cNvSpPr/>
          <p:nvPr/>
        </p:nvSpPr>
        <p:spPr>
          <a:xfrm>
            <a:off x="457200" y="2560320"/>
            <a:ext cx="112471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Python 3.14</a:t>
            </a:r>
            <a:endParaRPr b="0" i="0" sz="6000" u="none" cap="none" strike="noStrike">
              <a:solidFill>
                <a:schemeClr val="dk1"/>
              </a:solidFill>
              <a:latin typeface="Calibri"/>
              <a:ea typeface="Calibri"/>
              <a:cs typeface="Calibri"/>
              <a:sym typeface="Calibri"/>
            </a:endParaRPr>
          </a:p>
        </p:txBody>
      </p:sp>
      <p:sp>
        <p:nvSpPr>
          <p:cNvPr id="18" name="Google Shape;18;p3"/>
          <p:cNvSpPr/>
          <p:nvPr/>
        </p:nvSpPr>
        <p:spPr>
          <a:xfrm>
            <a:off x="457200" y="3383280"/>
            <a:ext cx="112471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6000"/>
              <a:buFont typeface="Calibri"/>
              <a:buNone/>
            </a:pPr>
            <a:r>
              <a:rPr b="1" i="0" lang="en-US" sz="6000" u="none" cap="none" strike="noStrike">
                <a:solidFill>
                  <a:srgbClr val="F59E0B"/>
                </a:solidFill>
                <a:latin typeface="Calibri"/>
                <a:ea typeface="Calibri"/>
                <a:cs typeface="Calibri"/>
                <a:sym typeface="Calibri"/>
              </a:rPr>
              <a:t>Free-Threading</a:t>
            </a:r>
            <a:endParaRPr b="0" i="0" sz="6000" u="none" cap="none" strike="noStrike">
              <a:solidFill>
                <a:schemeClr val="dk1"/>
              </a:solidFill>
              <a:latin typeface="Calibri"/>
              <a:ea typeface="Calibri"/>
              <a:cs typeface="Calibri"/>
              <a:sym typeface="Calibri"/>
            </a:endParaRPr>
          </a:p>
        </p:txBody>
      </p:sp>
      <p:sp>
        <p:nvSpPr>
          <p:cNvPr id="19" name="Google Shape;19;p3"/>
          <p:cNvSpPr/>
          <p:nvPr/>
        </p:nvSpPr>
        <p:spPr>
          <a:xfrm>
            <a:off x="457200" y="4297680"/>
            <a:ext cx="11247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2200"/>
              <a:buFont typeface="Calibri"/>
              <a:buNone/>
            </a:pPr>
            <a:r>
              <a:rPr b="0" i="1" lang="en-US" sz="2200" u="none" cap="none" strike="noStrike">
                <a:solidFill>
                  <a:srgbClr val="CBD5E1"/>
                </a:solidFill>
                <a:latin typeface="Calibri"/>
                <a:ea typeface="Calibri"/>
                <a:cs typeface="Calibri"/>
                <a:sym typeface="Calibri"/>
              </a:rPr>
              <a:t>Goodbye GIL, hello real parallelism</a:t>
            </a:r>
            <a:endParaRPr b="0" i="0" sz="2200" u="none" cap="none" strike="noStrike">
              <a:solidFill>
                <a:schemeClr val="dk1"/>
              </a:solidFill>
              <a:latin typeface="Calibri"/>
              <a:ea typeface="Calibri"/>
              <a:cs typeface="Calibri"/>
              <a:sym typeface="Calibri"/>
            </a:endParaRPr>
          </a:p>
        </p:txBody>
      </p:sp>
      <p:sp>
        <p:nvSpPr>
          <p:cNvPr id="20" name="Google Shape;20;p3"/>
          <p:cNvSpPr/>
          <p:nvPr/>
        </p:nvSpPr>
        <p:spPr>
          <a:xfrm>
            <a:off x="457200" y="5852160"/>
            <a:ext cx="11247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Consolas"/>
              <a:buNone/>
            </a:pPr>
            <a:r>
              <a:rPr b="0" i="0" lang="en-US" sz="1400" u="none" cap="none" strike="noStrike">
                <a:solidFill>
                  <a:srgbClr val="94A3B8"/>
                </a:solidFill>
                <a:latin typeface="Consolas"/>
                <a:ea typeface="Consolas"/>
                <a:cs typeface="Consolas"/>
                <a:sym typeface="Consolas"/>
              </a:rPr>
              <a:t>Internal Tech Talk  •  60 min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i="0" lang="en-US" sz="3000" u="none" cap="none" strike="noStrike">
                <a:solidFill>
                  <a:srgbClr val="1E293B"/>
                </a:solidFill>
                <a:latin typeface="Calibri"/>
                <a:ea typeface="Calibri"/>
                <a:cs typeface="Calibri"/>
                <a:sym typeface="Calibri"/>
              </a:rPr>
              <a:t>Agenda</a:t>
            </a:r>
            <a:endParaRPr b="0" i="0" sz="3000" u="none" cap="none" strike="noStrike">
              <a:solidFill>
                <a:schemeClr val="dk1"/>
              </a:solidFill>
              <a:latin typeface="Calibri"/>
              <a:ea typeface="Calibri"/>
              <a:cs typeface="Calibri"/>
              <a:sym typeface="Calibri"/>
            </a:endParaRPr>
          </a:p>
        </p:txBody>
      </p:sp>
      <p:sp>
        <p:nvSpPr>
          <p:cNvPr id="27" name="Google Shape;27;p4"/>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b="0" i="0" lang="en-US" sz="1400" u="none" cap="none" strike="noStrike">
                <a:solidFill>
                  <a:srgbClr val="94A3B8"/>
                </a:solidFill>
                <a:latin typeface="Consolas"/>
                <a:ea typeface="Consolas"/>
                <a:cs typeface="Consolas"/>
                <a:sym typeface="Consolas"/>
              </a:rPr>
              <a:t>01</a:t>
            </a:r>
            <a:endParaRPr b="0" i="0" sz="1400" u="none" cap="none" strike="noStrike">
              <a:solidFill>
                <a:schemeClr val="dk1"/>
              </a:solidFill>
              <a:latin typeface="Calibri"/>
              <a:ea typeface="Calibri"/>
              <a:cs typeface="Calibri"/>
              <a:sym typeface="Calibri"/>
            </a:endParaRPr>
          </a:p>
        </p:txBody>
      </p:sp>
      <p:sp>
        <p:nvSpPr>
          <p:cNvPr id="28" name="Google Shape;28;p4"/>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Python 3.14 Free-Threading  |  Internal Tech Talk</a:t>
            </a:r>
            <a:endParaRPr b="0" i="0" sz="900" u="none" cap="none" strike="noStrike">
              <a:solidFill>
                <a:schemeClr val="dk1"/>
              </a:solidFill>
              <a:latin typeface="Calibri"/>
              <a:ea typeface="Calibri"/>
              <a:cs typeface="Calibri"/>
              <a:sym typeface="Calibri"/>
            </a:endParaRPr>
          </a:p>
        </p:txBody>
      </p:sp>
      <p:sp>
        <p:nvSpPr>
          <p:cNvPr id="29" name="Google Shape;29;p4"/>
          <p:cNvSpPr/>
          <p:nvPr/>
        </p:nvSpPr>
        <p:spPr>
          <a:xfrm>
            <a:off x="914400" y="1280160"/>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914400" y="12801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1" name="Google Shape;31;p4"/>
          <p:cNvSpPr/>
          <p:nvPr/>
        </p:nvSpPr>
        <p:spPr>
          <a:xfrm>
            <a:off x="1691640" y="1261872"/>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Why now</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1691640" y="1536192"/>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PEP 779 ships in Python 3.14</a:t>
            </a:r>
            <a:endParaRPr b="0" i="0" sz="1300" u="none" cap="none" strike="noStrike">
              <a:solidFill>
                <a:schemeClr val="dk1"/>
              </a:solidFill>
              <a:latin typeface="Calibri"/>
              <a:ea typeface="Calibri"/>
              <a:cs typeface="Calibri"/>
              <a:sym typeface="Calibri"/>
            </a:endParaRPr>
          </a:p>
        </p:txBody>
      </p:sp>
      <p:sp>
        <p:nvSpPr>
          <p:cNvPr id="33" name="Google Shape;33;p4"/>
          <p:cNvSpPr/>
          <p:nvPr/>
        </p:nvSpPr>
        <p:spPr>
          <a:xfrm>
            <a:off x="914400" y="1938528"/>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914400" y="19385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1691640" y="19202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GIL refresher</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1691640" y="2194560"/>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What it is, why it existed, why we hated it</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914400" y="2596896"/>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914400" y="259689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39" name="Google Shape;39;p4"/>
          <p:cNvSpPr/>
          <p:nvPr/>
        </p:nvSpPr>
        <p:spPr>
          <a:xfrm>
            <a:off x="1691640" y="2578608"/>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The multiprocessing tax</a:t>
            </a:r>
            <a:endParaRPr b="0" i="0" sz="1800" u="none" cap="none" strike="noStrike">
              <a:solidFill>
                <a:schemeClr val="dk1"/>
              </a:solidFill>
              <a:latin typeface="Calibri"/>
              <a:ea typeface="Calibri"/>
              <a:cs typeface="Calibri"/>
              <a:sym typeface="Calibri"/>
            </a:endParaRPr>
          </a:p>
        </p:txBody>
      </p:sp>
      <p:sp>
        <p:nvSpPr>
          <p:cNvPr id="40" name="Google Shape;40;p4"/>
          <p:cNvSpPr/>
          <p:nvPr/>
        </p:nvSpPr>
        <p:spPr>
          <a:xfrm>
            <a:off x="1691640" y="2852928"/>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What we pay today to get parallelism</a:t>
            </a:r>
            <a:endParaRPr b="0" i="0" sz="1300" u="none" cap="none" strike="noStrike">
              <a:solidFill>
                <a:schemeClr val="dk1"/>
              </a:solidFill>
              <a:latin typeface="Calibri"/>
              <a:ea typeface="Calibri"/>
              <a:cs typeface="Calibri"/>
              <a:sym typeface="Calibri"/>
            </a:endParaRPr>
          </a:p>
        </p:txBody>
      </p:sp>
      <p:sp>
        <p:nvSpPr>
          <p:cNvPr id="41" name="Google Shape;41;p4"/>
          <p:cNvSpPr/>
          <p:nvPr/>
        </p:nvSpPr>
        <p:spPr>
          <a:xfrm>
            <a:off x="914400" y="3255264"/>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914400" y="325526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691640" y="3236976"/>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Free-threading</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1691640" y="351129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How it works, how to use it</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914400" y="3913632"/>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914400" y="391363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1691640" y="3895344"/>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Migration patterns</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691640" y="4169664"/>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Pool → ThreadPoolExecutor, side-by-side</a:t>
            </a:r>
            <a:endParaRPr b="0" i="0" sz="1300" u="none" cap="none" strike="noStrike">
              <a:solidFill>
                <a:schemeClr val="dk1"/>
              </a:solidFill>
              <a:latin typeface="Calibri"/>
              <a:ea typeface="Calibri"/>
              <a:cs typeface="Calibri"/>
              <a:sym typeface="Calibri"/>
            </a:endParaRPr>
          </a:p>
        </p:txBody>
      </p:sp>
      <p:sp>
        <p:nvSpPr>
          <p:cNvPr id="49" name="Google Shape;49;p4"/>
          <p:cNvSpPr/>
          <p:nvPr/>
        </p:nvSpPr>
        <p:spPr>
          <a:xfrm>
            <a:off x="914400" y="4572000"/>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914400" y="45720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1691640" y="4553712"/>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Trade-offs</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1691640" y="4828032"/>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 extensions, single-thread cost, race conditions</a:t>
            </a:r>
            <a:endParaRPr b="0" i="0" sz="1300" u="none" cap="none" strike="noStrike">
              <a:solidFill>
                <a:schemeClr val="dk1"/>
              </a:solidFill>
              <a:latin typeface="Calibri"/>
              <a:ea typeface="Calibri"/>
              <a:cs typeface="Calibri"/>
              <a:sym typeface="Calibri"/>
            </a:endParaRPr>
          </a:p>
        </p:txBody>
      </p:sp>
      <p:sp>
        <p:nvSpPr>
          <p:cNvPr id="53" name="Google Shape;53;p4"/>
          <p:cNvSpPr/>
          <p:nvPr/>
        </p:nvSpPr>
        <p:spPr>
          <a:xfrm>
            <a:off x="914400" y="5230368"/>
            <a:ext cx="502920" cy="50292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914400" y="52303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1691640" y="521208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i="0" lang="en-US" sz="1800" u="none" cap="none" strike="noStrike">
                <a:solidFill>
                  <a:srgbClr val="1E293B"/>
                </a:solidFill>
                <a:latin typeface="Calibri"/>
                <a:ea typeface="Calibri"/>
                <a:cs typeface="Calibri"/>
                <a:sym typeface="Calibri"/>
              </a:rPr>
              <a:t>What this means for us</a:t>
            </a:r>
            <a:endParaRPr b="0" i="0" sz="1800" u="none" cap="none" strike="noStrike">
              <a:solidFill>
                <a:schemeClr val="dk1"/>
              </a:solidFill>
              <a:latin typeface="Calibri"/>
              <a:ea typeface="Calibri"/>
              <a:cs typeface="Calibri"/>
              <a:sym typeface="Calibri"/>
            </a:endParaRPr>
          </a:p>
        </p:txBody>
      </p:sp>
      <p:sp>
        <p:nvSpPr>
          <p:cNvPr id="56" name="Google Shape;56;p4"/>
          <p:cNvSpPr/>
          <p:nvPr/>
        </p:nvSpPr>
        <p:spPr>
          <a:xfrm>
            <a:off x="1691640" y="5486400"/>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Where to start in our codebase</a:t>
            </a:r>
            <a:endParaRPr b="0" i="0" sz="1300" u="none" cap="none" strike="noStrike">
              <a:solidFill>
                <a:schemeClr val="dk1"/>
              </a:solidFill>
              <a:latin typeface="Calibri"/>
              <a:ea typeface="Calibri"/>
              <a:cs typeface="Calibri"/>
              <a:sym typeface="Calibri"/>
            </a:endParaRPr>
          </a:p>
        </p:txBody>
      </p:sp>
      <p:sp>
        <p:nvSpPr>
          <p:cNvPr id="57" name="Google Shape;57;p4"/>
          <p:cNvSpPr/>
          <p:nvPr/>
        </p:nvSpPr>
        <p:spPr>
          <a:xfrm>
            <a:off x="457200" y="6080760"/>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200"/>
              <a:buFont typeface="Calibri"/>
              <a:buNone/>
            </a:pPr>
            <a:r>
              <a:rPr b="0" i="1" lang="en-US" sz="1200" u="none" cap="none" strike="noStrike">
                <a:solidFill>
                  <a:srgbClr val="94A3B8"/>
                </a:solidFill>
                <a:latin typeface="Calibri"/>
                <a:ea typeface="Calibri"/>
                <a:cs typeface="Calibri"/>
                <a:sym typeface="Calibri"/>
              </a:rPr>
              <a:t>Out of scope: deep dive into the JIT (briefly mentioned at the end)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5"/>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i="0" lang="en-US" sz="3000" u="none" cap="none" strike="noStrike">
                <a:solidFill>
                  <a:srgbClr val="1E293B"/>
                </a:solidFill>
                <a:latin typeface="Calibri"/>
                <a:ea typeface="Calibri"/>
                <a:cs typeface="Calibri"/>
                <a:sym typeface="Calibri"/>
              </a:rPr>
              <a:t>Why this matters now</a:t>
            </a:r>
            <a:endParaRPr b="0" i="0" sz="3000" u="none" cap="none" strike="noStrike">
              <a:solidFill>
                <a:schemeClr val="dk1"/>
              </a:solidFill>
              <a:latin typeface="Calibri"/>
              <a:ea typeface="Calibri"/>
              <a:cs typeface="Calibri"/>
              <a:sym typeface="Calibri"/>
            </a:endParaRPr>
          </a:p>
        </p:txBody>
      </p:sp>
      <p:sp>
        <p:nvSpPr>
          <p:cNvPr id="64" name="Google Shape;64;p5"/>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b="0" i="0" lang="en-US" sz="1400" u="none" cap="none" strike="noStrike">
                <a:solidFill>
                  <a:srgbClr val="94A3B8"/>
                </a:solidFill>
                <a:latin typeface="Consolas"/>
                <a:ea typeface="Consolas"/>
                <a:cs typeface="Consolas"/>
                <a:sym typeface="Consolas"/>
              </a:rPr>
              <a:t>02</a:t>
            </a:r>
            <a:endParaRPr b="0" i="0" sz="1400" u="none" cap="none" strike="noStrike">
              <a:solidFill>
                <a:schemeClr val="dk1"/>
              </a:solidFill>
              <a:latin typeface="Calibri"/>
              <a:ea typeface="Calibri"/>
              <a:cs typeface="Calibri"/>
              <a:sym typeface="Calibri"/>
            </a:endParaRPr>
          </a:p>
        </p:txBody>
      </p:sp>
      <p:sp>
        <p:nvSpPr>
          <p:cNvPr id="65" name="Google Shape;65;p5"/>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Python 3.14 Free-Threading  |  Internal Tech Talk</a:t>
            </a:r>
            <a:endParaRPr b="0" i="0" sz="900" u="none" cap="none" strike="noStrike">
              <a:solidFill>
                <a:schemeClr val="dk1"/>
              </a:solidFill>
              <a:latin typeface="Calibri"/>
              <a:ea typeface="Calibri"/>
              <a:cs typeface="Calibri"/>
              <a:sym typeface="Calibri"/>
            </a:endParaRPr>
          </a:p>
        </p:txBody>
      </p:sp>
      <p:cxnSp>
        <p:nvCxnSpPr>
          <p:cNvPr id="66" name="Google Shape;66;p5"/>
          <p:cNvCxnSpPr/>
          <p:nvPr/>
        </p:nvCxnSpPr>
        <p:spPr>
          <a:xfrm>
            <a:off x="914400" y="2926080"/>
            <a:ext cx="10332720" cy="0"/>
          </a:xfrm>
          <a:prstGeom prst="straightConnector1">
            <a:avLst/>
          </a:prstGeom>
          <a:noFill/>
          <a:ln cap="flat" cmpd="sng" w="25400">
            <a:solidFill>
              <a:srgbClr val="CBD5E1"/>
            </a:solidFill>
            <a:prstDash val="solid"/>
            <a:round/>
            <a:headEnd len="sm" w="sm" type="none"/>
            <a:tailEnd len="sm" w="sm" type="none"/>
          </a:ln>
        </p:spPr>
      </p:cxnSp>
      <p:sp>
        <p:nvSpPr>
          <p:cNvPr id="67" name="Google Shape;67;p5"/>
          <p:cNvSpPr/>
          <p:nvPr/>
        </p:nvSpPr>
        <p:spPr>
          <a:xfrm>
            <a:off x="1051560" y="2788920"/>
            <a:ext cx="274320" cy="274320"/>
          </a:xfrm>
          <a:prstGeom prst="ellipse">
            <a:avLst/>
          </a:prstGeom>
          <a:solidFill>
            <a:srgbClr val="EF4444"/>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91440" y="219456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600"/>
              <a:buFont typeface="Calibri"/>
              <a:buNone/>
            </a:pPr>
            <a:r>
              <a:rPr b="1" i="0" lang="en-US" sz="1600" u="none" cap="none" strike="noStrike">
                <a:solidFill>
                  <a:srgbClr val="EF4444"/>
                </a:solidFill>
                <a:latin typeface="Calibri"/>
                <a:ea typeface="Calibri"/>
                <a:cs typeface="Calibri"/>
                <a:sym typeface="Calibri"/>
              </a:rPr>
              <a:t>1991</a:t>
            </a:r>
            <a:endParaRPr b="0" i="0" sz="1600" u="none" cap="none" strike="noStrike">
              <a:solidFill>
                <a:schemeClr val="dk1"/>
              </a:solidFill>
              <a:latin typeface="Calibri"/>
              <a:ea typeface="Calibri"/>
              <a:cs typeface="Calibri"/>
              <a:sym typeface="Calibri"/>
            </a:endParaRPr>
          </a:p>
        </p:txBody>
      </p:sp>
      <p:sp>
        <p:nvSpPr>
          <p:cNvPr id="69" name="Google Shape;69;p5"/>
          <p:cNvSpPr/>
          <p:nvPr/>
        </p:nvSpPr>
        <p:spPr>
          <a:xfrm>
            <a:off x="-91440" y="3200400"/>
            <a:ext cx="2560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Python released</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with GIL</a:t>
            </a:r>
            <a:endParaRPr b="0" i="0" sz="1200" u="none" cap="none" strike="noStrike">
              <a:solidFill>
                <a:schemeClr val="dk1"/>
              </a:solidFill>
              <a:latin typeface="Calibri"/>
              <a:ea typeface="Calibri"/>
              <a:cs typeface="Calibri"/>
              <a:sym typeface="Calibri"/>
            </a:endParaRPr>
          </a:p>
        </p:txBody>
      </p:sp>
      <p:sp>
        <p:nvSpPr>
          <p:cNvPr id="70" name="Google Shape;70;p5"/>
          <p:cNvSpPr/>
          <p:nvPr/>
        </p:nvSpPr>
        <p:spPr>
          <a:xfrm>
            <a:off x="3977640" y="2788920"/>
            <a:ext cx="274320" cy="274320"/>
          </a:xfrm>
          <a:prstGeom prst="ellipse">
            <a:avLst/>
          </a:prstGeom>
          <a:solidFill>
            <a:srgbClr val="64748B"/>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3017520" y="219456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600"/>
              <a:buFont typeface="Calibri"/>
              <a:buNone/>
            </a:pPr>
            <a:r>
              <a:rPr b="1" i="0" lang="en-US" sz="1600" u="none" cap="none" strike="noStrike">
                <a:solidFill>
                  <a:srgbClr val="64748B"/>
                </a:solidFill>
                <a:latin typeface="Calibri"/>
                <a:ea typeface="Calibri"/>
                <a:cs typeface="Calibri"/>
                <a:sym typeface="Calibri"/>
              </a:rPr>
              <a:t>2021</a:t>
            </a:r>
            <a:endParaRPr b="0" i="0" sz="1600" u="none" cap="none" strike="noStrike">
              <a:solidFill>
                <a:schemeClr val="dk1"/>
              </a:solidFill>
              <a:latin typeface="Calibri"/>
              <a:ea typeface="Calibri"/>
              <a:cs typeface="Calibri"/>
              <a:sym typeface="Calibri"/>
            </a:endParaRPr>
          </a:p>
        </p:txBody>
      </p:sp>
      <p:sp>
        <p:nvSpPr>
          <p:cNvPr id="72" name="Google Shape;72;p5"/>
          <p:cNvSpPr/>
          <p:nvPr/>
        </p:nvSpPr>
        <p:spPr>
          <a:xfrm>
            <a:off x="2834640" y="3200400"/>
            <a:ext cx="2560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Sam Gross posts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no-GIL proof of concept</a:t>
            </a:r>
            <a:endParaRPr b="0" i="0" sz="1200" u="none" cap="none" strike="noStrike">
              <a:solidFill>
                <a:schemeClr val="dk1"/>
              </a:solidFill>
              <a:latin typeface="Calibri"/>
              <a:ea typeface="Calibri"/>
              <a:cs typeface="Calibri"/>
              <a:sym typeface="Calibri"/>
            </a:endParaRPr>
          </a:p>
        </p:txBody>
      </p:sp>
      <p:sp>
        <p:nvSpPr>
          <p:cNvPr id="73" name="Google Shape;73;p5"/>
          <p:cNvSpPr/>
          <p:nvPr/>
        </p:nvSpPr>
        <p:spPr>
          <a:xfrm>
            <a:off x="6720840" y="2788920"/>
            <a:ext cx="274320" cy="274320"/>
          </a:xfrm>
          <a:prstGeom prst="ellipse">
            <a:avLst/>
          </a:prstGeom>
          <a:solidFill>
            <a:srgbClr val="64748B"/>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760720" y="219456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600"/>
              <a:buFont typeface="Calibri"/>
              <a:buNone/>
            </a:pPr>
            <a:r>
              <a:rPr b="1" i="0" lang="en-US" sz="1600" u="none" cap="none" strike="noStrike">
                <a:solidFill>
                  <a:srgbClr val="64748B"/>
                </a:solidFill>
                <a:latin typeface="Calibri"/>
                <a:ea typeface="Calibri"/>
                <a:cs typeface="Calibri"/>
                <a:sym typeface="Calibri"/>
              </a:rPr>
              <a:t>Oct 2023</a:t>
            </a:r>
            <a:endParaRPr b="0" i="0" sz="1600" u="none" cap="none" strike="noStrike">
              <a:solidFill>
                <a:schemeClr val="dk1"/>
              </a:solidFill>
              <a:latin typeface="Calibri"/>
              <a:ea typeface="Calibri"/>
              <a:cs typeface="Calibri"/>
              <a:sym typeface="Calibri"/>
            </a:endParaRPr>
          </a:p>
        </p:txBody>
      </p:sp>
      <p:sp>
        <p:nvSpPr>
          <p:cNvPr id="75" name="Google Shape;75;p5"/>
          <p:cNvSpPr/>
          <p:nvPr/>
        </p:nvSpPr>
        <p:spPr>
          <a:xfrm>
            <a:off x="5577840" y="3200400"/>
            <a:ext cx="2560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PEP 703 accepted</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(experimental)</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9464040" y="2788920"/>
            <a:ext cx="274320" cy="274320"/>
          </a:xfrm>
          <a:prstGeom prst="ellipse">
            <a:avLst/>
          </a:prstGeom>
          <a:solidFill>
            <a:srgbClr val="F59E0B"/>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8503920" y="219456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600"/>
              <a:buFont typeface="Calibri"/>
              <a:buNone/>
            </a:pPr>
            <a:r>
              <a:rPr b="1" i="0" lang="en-US" sz="1600" u="none" cap="none" strike="noStrike">
                <a:solidFill>
                  <a:srgbClr val="F59E0B"/>
                </a:solidFill>
                <a:latin typeface="Calibri"/>
                <a:ea typeface="Calibri"/>
                <a:cs typeface="Calibri"/>
                <a:sym typeface="Calibri"/>
              </a:rPr>
              <a:t>Oct 2025</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8321040" y="3200400"/>
            <a:ext cx="2560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PEP 779 — officially</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supported in 3.14</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1371600" y="4572000"/>
            <a:ext cx="9418320" cy="1280160"/>
          </a:xfrm>
          <a:prstGeom prst="rect">
            <a:avLst/>
          </a:prstGeom>
          <a:solidFill>
            <a:srgbClr val="F1F5F9"/>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1554480" y="4663440"/>
            <a:ext cx="905256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00"/>
              <a:buFont typeface="Calibri"/>
              <a:buNone/>
            </a:pPr>
            <a:r>
              <a:rPr b="1" i="0" lang="en-US" sz="2000" u="none" cap="none" strike="noStrike">
                <a:solidFill>
                  <a:srgbClr val="1E293B"/>
                </a:solidFill>
                <a:latin typeface="Calibri"/>
                <a:ea typeface="Calibri"/>
                <a:cs typeface="Calibri"/>
                <a:sym typeface="Calibri"/>
              </a:rPr>
              <a:t>Free-threading is no longer an experiment.</a:t>
            </a:r>
            <a:br>
              <a:rPr b="1" i="0" lang="en-US" sz="2000" u="none" cap="none" strike="noStrike">
                <a:solidFill>
                  <a:srgbClr val="1E293B"/>
                </a:solidFill>
                <a:latin typeface="Calibri"/>
                <a:ea typeface="Calibri"/>
                <a:cs typeface="Calibri"/>
                <a:sym typeface="Calibri"/>
              </a:rPr>
            </a:br>
            <a:r>
              <a:rPr b="0" i="0" lang="en-US" sz="1600" u="none" cap="none" strike="noStrike">
                <a:solidFill>
                  <a:srgbClr val="64748B"/>
                </a:solidFill>
                <a:latin typeface="Calibri"/>
                <a:ea typeface="Calibri"/>
                <a:cs typeface="Calibri"/>
                <a:sym typeface="Calibri"/>
              </a:rPr>
              <a:t>For the first time in 34 years, multi-threaded Python can use all your cores.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6"/>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i="0" lang="en-US" sz="3000" u="none" cap="none" strike="noStrike">
                <a:solidFill>
                  <a:srgbClr val="1E293B"/>
                </a:solidFill>
                <a:latin typeface="Calibri"/>
                <a:ea typeface="Calibri"/>
                <a:cs typeface="Calibri"/>
                <a:sym typeface="Calibri"/>
              </a:rPr>
              <a:t>GIL refresher</a:t>
            </a:r>
            <a:endParaRPr b="0" i="0" sz="3000" u="none" cap="none" strike="noStrike">
              <a:solidFill>
                <a:schemeClr val="dk1"/>
              </a:solidFill>
              <a:latin typeface="Calibri"/>
              <a:ea typeface="Calibri"/>
              <a:cs typeface="Calibri"/>
              <a:sym typeface="Calibri"/>
            </a:endParaRPr>
          </a:p>
        </p:txBody>
      </p:sp>
      <p:sp>
        <p:nvSpPr>
          <p:cNvPr id="87" name="Google Shape;87;p6"/>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b="0" i="0" lang="en-US" sz="1400" u="none" cap="none" strike="noStrike">
                <a:solidFill>
                  <a:srgbClr val="94A3B8"/>
                </a:solidFill>
                <a:latin typeface="Consolas"/>
                <a:ea typeface="Consolas"/>
                <a:cs typeface="Consolas"/>
                <a:sym typeface="Consolas"/>
              </a:rPr>
              <a:t>03</a:t>
            </a:r>
            <a:endParaRPr b="0" i="0" sz="1400" u="none" cap="none" strike="noStrike">
              <a:solidFill>
                <a:schemeClr val="dk1"/>
              </a:solidFill>
              <a:latin typeface="Calibri"/>
              <a:ea typeface="Calibri"/>
              <a:cs typeface="Calibri"/>
              <a:sym typeface="Calibri"/>
            </a:endParaRPr>
          </a:p>
        </p:txBody>
      </p:sp>
      <p:sp>
        <p:nvSpPr>
          <p:cNvPr id="88" name="Google Shape;88;p6"/>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Python 3.14 Free-Threading  |  Internal Tech Talk</a:t>
            </a:r>
            <a:endParaRPr b="0" i="0" sz="900" u="none" cap="none" strike="noStrike">
              <a:solidFill>
                <a:schemeClr val="dk1"/>
              </a:solidFill>
              <a:latin typeface="Calibri"/>
              <a:ea typeface="Calibri"/>
              <a:cs typeface="Calibri"/>
              <a:sym typeface="Calibri"/>
            </a:endParaRPr>
          </a:p>
        </p:txBody>
      </p:sp>
      <p:pic>
        <p:nvPicPr>
          <p:cNvPr descr="preencoded.png" id="89" name="Google Shape;89;p6"/>
          <p:cNvPicPr preferRelativeResize="0"/>
          <p:nvPr/>
        </p:nvPicPr>
        <p:blipFill rotWithShape="1">
          <a:blip r:embed="rId3">
            <a:alphaModFix/>
          </a:blip>
          <a:srcRect b="0" l="0" r="0" t="0"/>
          <a:stretch/>
        </p:blipFill>
        <p:spPr>
          <a:xfrm>
            <a:off x="640080" y="1280160"/>
            <a:ext cx="502920" cy="502920"/>
          </a:xfrm>
          <a:prstGeom prst="rect">
            <a:avLst/>
          </a:prstGeom>
          <a:noFill/>
          <a:ln>
            <a:noFill/>
          </a:ln>
        </p:spPr>
      </p:pic>
      <p:sp>
        <p:nvSpPr>
          <p:cNvPr id="90" name="Google Shape;90;p6"/>
          <p:cNvSpPr/>
          <p:nvPr/>
        </p:nvSpPr>
        <p:spPr>
          <a:xfrm>
            <a:off x="1280160" y="1280160"/>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Calibri"/>
              <a:buNone/>
            </a:pPr>
            <a:r>
              <a:rPr b="1" i="0" lang="en-US" sz="2200" u="none" cap="none" strike="noStrike">
                <a:solidFill>
                  <a:srgbClr val="1E293B"/>
                </a:solidFill>
                <a:latin typeface="Calibri"/>
                <a:ea typeface="Calibri"/>
                <a:cs typeface="Calibri"/>
                <a:sym typeface="Calibri"/>
              </a:rPr>
              <a:t>Global Interpreter Lock</a:t>
            </a:r>
            <a:endParaRPr b="0" i="0" sz="2200" u="none" cap="none" strike="noStrike">
              <a:solidFill>
                <a:schemeClr val="dk1"/>
              </a:solidFill>
              <a:latin typeface="Calibri"/>
              <a:ea typeface="Calibri"/>
              <a:cs typeface="Calibri"/>
              <a:sym typeface="Calibri"/>
            </a:endParaRPr>
          </a:p>
        </p:txBody>
      </p:sp>
      <p:sp>
        <p:nvSpPr>
          <p:cNvPr id="91" name="Google Shape;91;p6"/>
          <p:cNvSpPr/>
          <p:nvPr/>
        </p:nvSpPr>
        <p:spPr>
          <a:xfrm>
            <a:off x="640080" y="1874520"/>
            <a:ext cx="53035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A single mutex inside CPython.</a:t>
            </a:r>
            <a:br>
              <a:rPr b="0" i="0" lang="en-US" sz="1500" u="none" cap="none" strike="noStrike">
                <a:solidFill>
                  <a:srgbClr val="1E293B"/>
                </a:solidFill>
                <a:latin typeface="Calibri"/>
                <a:ea typeface="Calibri"/>
                <a:cs typeface="Calibri"/>
                <a:sym typeface="Calibri"/>
              </a:rPr>
            </a:b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500"/>
              <a:buFont typeface="Calibri"/>
              <a:buNone/>
            </a:pPr>
            <a:r>
              <a:rPr b="0" i="0" lang="en-US" sz="1500" u="none" cap="none" strike="noStrike">
                <a:solidFill>
                  <a:srgbClr val="64748B"/>
                </a:solidFill>
                <a:latin typeface="Calibri"/>
                <a:ea typeface="Calibri"/>
                <a:cs typeface="Calibri"/>
                <a:sym typeface="Calibri"/>
              </a:rPr>
              <a:t>Only one thread executes Python bytecode at a time — even if you have 64 cores.</a:t>
            </a:r>
            <a:endParaRPr b="0" i="0" sz="1500" u="none" cap="none" strike="noStrike">
              <a:solidFill>
                <a:schemeClr val="dk1"/>
              </a:solidFill>
              <a:latin typeface="Calibri"/>
              <a:ea typeface="Calibri"/>
              <a:cs typeface="Calibri"/>
              <a:sym typeface="Calibri"/>
            </a:endParaRPr>
          </a:p>
        </p:txBody>
      </p:sp>
      <p:sp>
        <p:nvSpPr>
          <p:cNvPr id="92" name="Google Shape;92;p6"/>
          <p:cNvSpPr/>
          <p:nvPr/>
        </p:nvSpPr>
        <p:spPr>
          <a:xfrm>
            <a:off x="640080" y="3200400"/>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800"/>
              <a:buFont typeface="Calibri"/>
              <a:buNone/>
            </a:pPr>
            <a:r>
              <a:rPr b="1" i="0" lang="en-US" sz="1800" u="none" cap="none" strike="noStrike">
                <a:solidFill>
                  <a:srgbClr val="1E40AF"/>
                </a:solidFill>
                <a:latin typeface="Calibri"/>
                <a:ea typeface="Calibri"/>
                <a:cs typeface="Calibri"/>
                <a:sym typeface="Calibri"/>
              </a:rPr>
              <a:t>Why it exists</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640080" y="3611880"/>
            <a:ext cx="530352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Reference counting is not thread-safe.</a:t>
            </a:r>
            <a:br>
              <a:rPr b="1" i="0" lang="en-US" sz="1400" u="none" cap="none" strike="noStrike">
                <a:solidFill>
                  <a:srgbClr val="1E293B"/>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Every Python object has a refcount. Two threads incrementing it at the same time = corruption, double-free, crash.</a:t>
            </a:r>
            <a:br>
              <a:rPr b="0" i="0" lang="en-US" sz="1300" u="none" cap="none" strike="noStrike">
                <a:solidFill>
                  <a:srgbClr val="64748B"/>
                </a:solidFill>
                <a:latin typeface="Calibri"/>
                <a:ea typeface="Calibri"/>
                <a:cs typeface="Calibri"/>
                <a:sym typeface="Calibri"/>
              </a:rPr>
            </a:br>
            <a:br>
              <a:rPr b="0" i="0" lang="en-US" sz="1300" u="none" cap="none" strike="noStrike">
                <a:solidFill>
                  <a:srgbClr val="64748B"/>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The GIL was the brute-force fix: one lock for the whole interpreter. Simple, correct, and good enough for I/O-bound workloads.</a:t>
            </a:r>
            <a:endParaRPr b="0" i="0" sz="1400" u="none" cap="none" strike="noStrike">
              <a:solidFill>
                <a:schemeClr val="dk1"/>
              </a:solidFill>
              <a:latin typeface="Calibri"/>
              <a:ea typeface="Calibri"/>
              <a:cs typeface="Calibri"/>
              <a:sym typeface="Calibri"/>
            </a:endParaRPr>
          </a:p>
        </p:txBody>
      </p:sp>
      <p:sp>
        <p:nvSpPr>
          <p:cNvPr id="94" name="Google Shape;94;p6"/>
          <p:cNvSpPr/>
          <p:nvPr/>
        </p:nvSpPr>
        <p:spPr>
          <a:xfrm>
            <a:off x="6675120" y="1280160"/>
            <a:ext cx="4937760" cy="475488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6675120" y="1371600"/>
            <a:ext cx="4937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600"/>
              <a:buFont typeface="Calibri"/>
              <a:buNone/>
            </a:pPr>
            <a:r>
              <a:rPr b="1" i="0" lang="en-US" sz="1600" u="none" cap="none" strike="noStrike">
                <a:solidFill>
                  <a:srgbClr val="1E293B"/>
                </a:solidFill>
                <a:latin typeface="Calibri"/>
                <a:ea typeface="Calibri"/>
                <a:cs typeface="Calibri"/>
                <a:sym typeface="Calibri"/>
              </a:rPr>
              <a:t>With GIL (today)</a:t>
            </a:r>
            <a:endParaRPr b="0" i="0" sz="1600" u="none" cap="none" strike="noStrike">
              <a:solidFill>
                <a:schemeClr val="dk1"/>
              </a:solidFill>
              <a:latin typeface="Calibri"/>
              <a:ea typeface="Calibri"/>
              <a:cs typeface="Calibri"/>
              <a:sym typeface="Calibri"/>
            </a:endParaRPr>
          </a:p>
        </p:txBody>
      </p:sp>
      <p:sp>
        <p:nvSpPr>
          <p:cNvPr id="96" name="Google Shape;96;p6"/>
          <p:cNvSpPr/>
          <p:nvPr/>
        </p:nvSpPr>
        <p:spPr>
          <a:xfrm>
            <a:off x="6858000" y="1920240"/>
            <a:ext cx="1097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0" lang="en-US" sz="1200" u="none" cap="none" strike="noStrike">
                <a:solidFill>
                  <a:srgbClr val="1E293B"/>
                </a:solidFill>
                <a:latin typeface="Consolas"/>
                <a:ea typeface="Consolas"/>
                <a:cs typeface="Consolas"/>
                <a:sym typeface="Consolas"/>
              </a:rPr>
              <a:t>Thread 1</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8001000" y="193852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841248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82396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923544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9646920" y="193852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1005840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1046988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10881360" y="193852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858000" y="2423160"/>
            <a:ext cx="1097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0" lang="en-US" sz="1200" u="none" cap="none" strike="noStrike">
                <a:solidFill>
                  <a:srgbClr val="1E293B"/>
                </a:solidFill>
                <a:latin typeface="Consolas"/>
                <a:ea typeface="Consolas"/>
                <a:cs typeface="Consolas"/>
                <a:sym typeface="Consolas"/>
              </a:rPr>
              <a:t>Thread 2</a:t>
            </a:r>
            <a:endParaRPr b="0" i="0" sz="1200" u="none" cap="none" strike="noStrike">
              <a:solidFill>
                <a:schemeClr val="dk1"/>
              </a:solidFill>
              <a:latin typeface="Calibri"/>
              <a:ea typeface="Calibri"/>
              <a:cs typeface="Calibri"/>
              <a:sym typeface="Calibri"/>
            </a:endParaRPr>
          </a:p>
        </p:txBody>
      </p:sp>
      <p:sp>
        <p:nvSpPr>
          <p:cNvPr id="106" name="Google Shape;106;p6"/>
          <p:cNvSpPr/>
          <p:nvPr/>
        </p:nvSpPr>
        <p:spPr>
          <a:xfrm>
            <a:off x="800100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8412480" y="244144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882396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923544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964692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10058400" y="244144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1046988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10881360" y="244144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6858000" y="2926080"/>
            <a:ext cx="1097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0" lang="en-US" sz="1200" u="none" cap="none" strike="noStrike">
                <a:solidFill>
                  <a:srgbClr val="1E293B"/>
                </a:solidFill>
                <a:latin typeface="Consolas"/>
                <a:ea typeface="Consolas"/>
                <a:cs typeface="Consolas"/>
                <a:sym typeface="Consolas"/>
              </a:rPr>
              <a:t>Thread 3</a:t>
            </a:r>
            <a:endParaRPr b="0" i="0" sz="1200" u="none" cap="none" strike="noStrike">
              <a:solidFill>
                <a:schemeClr val="dk1"/>
              </a:solidFill>
              <a:latin typeface="Calibri"/>
              <a:ea typeface="Calibri"/>
              <a:cs typeface="Calibri"/>
              <a:sym typeface="Calibri"/>
            </a:endParaRPr>
          </a:p>
        </p:txBody>
      </p:sp>
      <p:sp>
        <p:nvSpPr>
          <p:cNvPr id="115" name="Google Shape;115;p6"/>
          <p:cNvSpPr/>
          <p:nvPr/>
        </p:nvSpPr>
        <p:spPr>
          <a:xfrm>
            <a:off x="800100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841248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8823960" y="294436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923544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964692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1005840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10469880" y="294436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10881360" y="294436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6858000" y="3429000"/>
            <a:ext cx="1097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0" lang="en-US" sz="1200" u="none" cap="none" strike="noStrike">
                <a:solidFill>
                  <a:srgbClr val="1E293B"/>
                </a:solidFill>
                <a:latin typeface="Consolas"/>
                <a:ea typeface="Consolas"/>
                <a:cs typeface="Consolas"/>
                <a:sym typeface="Consolas"/>
              </a:rPr>
              <a:t>Thread 4</a:t>
            </a:r>
            <a:endParaRPr b="0" i="0" sz="1200" u="none" cap="none" strike="noStrike">
              <a:solidFill>
                <a:schemeClr val="dk1"/>
              </a:solidFill>
              <a:latin typeface="Calibri"/>
              <a:ea typeface="Calibri"/>
              <a:cs typeface="Calibri"/>
              <a:sym typeface="Calibri"/>
            </a:endParaRPr>
          </a:p>
        </p:txBody>
      </p:sp>
      <p:sp>
        <p:nvSpPr>
          <p:cNvPr id="124" name="Google Shape;124;p6"/>
          <p:cNvSpPr/>
          <p:nvPr/>
        </p:nvSpPr>
        <p:spPr>
          <a:xfrm>
            <a:off x="800100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841248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882396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9235440" y="344728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964692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1005840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10469880" y="3447288"/>
            <a:ext cx="365760" cy="32004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10881360" y="3447288"/>
            <a:ext cx="365760" cy="32004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8001000" y="4160520"/>
            <a:ext cx="3291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Time →</a:t>
            </a:r>
            <a:endParaRPr b="0" i="0" sz="1100" u="none" cap="none" strike="noStrike">
              <a:solidFill>
                <a:schemeClr val="dk1"/>
              </a:solidFill>
              <a:latin typeface="Calibri"/>
              <a:ea typeface="Calibri"/>
              <a:cs typeface="Calibri"/>
              <a:sym typeface="Calibri"/>
            </a:endParaRPr>
          </a:p>
        </p:txBody>
      </p:sp>
      <p:sp>
        <p:nvSpPr>
          <p:cNvPr id="133" name="Google Shape;133;p6"/>
          <p:cNvSpPr/>
          <p:nvPr/>
        </p:nvSpPr>
        <p:spPr>
          <a:xfrm>
            <a:off x="6858000" y="4663440"/>
            <a:ext cx="4572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Result: </a:t>
            </a:r>
            <a:r>
              <a:rPr b="0" i="0" lang="en-US" sz="1300" u="none" cap="none" strike="noStrike">
                <a:solidFill>
                  <a:srgbClr val="1E293B"/>
                </a:solidFill>
                <a:latin typeface="Calibri"/>
                <a:ea typeface="Calibri"/>
                <a:cs typeface="Calibri"/>
                <a:sym typeface="Calibri"/>
              </a:rPr>
              <a:t>4 cores, 1 doing real work.</a:t>
            </a:r>
            <a:br>
              <a:rPr b="0" i="0" lang="en-US" sz="1300" u="none" cap="none" strike="noStrike">
                <a:solidFill>
                  <a:srgbClr val="1E293B"/>
                </a:solidFill>
                <a:latin typeface="Calibri"/>
                <a:ea typeface="Calibri"/>
                <a:cs typeface="Calibri"/>
                <a:sym typeface="Calibri"/>
              </a:rPr>
            </a:b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1300"/>
              <a:buFont typeface="Calibri"/>
              <a:buNone/>
            </a:pPr>
            <a:r>
              <a:rPr b="0" i="1" lang="en-US" sz="1300" u="none" cap="none" strike="noStrike">
                <a:solidFill>
                  <a:srgbClr val="EF4444"/>
                </a:solidFill>
                <a:latin typeface="Calibri"/>
                <a:ea typeface="Calibri"/>
                <a:cs typeface="Calibri"/>
                <a:sym typeface="Calibri"/>
              </a:rPr>
              <a:t>threading is useless for CPU-bound code.</a:t>
            </a:r>
            <a:endParaRPr b="0" i="0" sz="1300" u="none" cap="none" strike="noStrike">
              <a:solidFill>
                <a:schemeClr val="dk1"/>
              </a:solidFill>
              <a:latin typeface="Calibri"/>
              <a:ea typeface="Calibri"/>
              <a:cs typeface="Calibri"/>
              <a:sym typeface="Calibri"/>
            </a:endParaRPr>
          </a:p>
        </p:txBody>
      </p:sp>
      <p:sp>
        <p:nvSpPr>
          <p:cNvPr id="134" name="Google Shape;134;p6"/>
          <p:cNvSpPr/>
          <p:nvPr/>
        </p:nvSpPr>
        <p:spPr>
          <a:xfrm>
            <a:off x="457200" y="6080760"/>
            <a:ext cx="11247120" cy="32004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txBox="1"/>
          <p:nvPr/>
        </p:nvSpPr>
        <p:spPr>
          <a:xfrm>
            <a:off x="640080" y="6080760"/>
            <a:ext cx="1088136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59E0B"/>
                </a:solidFill>
                <a:latin typeface="Calibri"/>
                <a:ea typeface="Calibri"/>
                <a:cs typeface="Calibri"/>
                <a:sym typeface="Calibri"/>
              </a:rPr>
              <a:t>Important: </a:t>
            </a:r>
            <a:r>
              <a:rPr b="1" i="0" lang="en-US" sz="1200" u="none" cap="none" strike="noStrike">
                <a:solidFill>
                  <a:srgbClr val="E2E8F0"/>
                </a:solidFill>
                <a:latin typeface="Calibri"/>
                <a:ea typeface="Calibri"/>
                <a:cs typeface="Calibri"/>
                <a:sym typeface="Calibri"/>
              </a:rPr>
              <a:t>GIL protects the interpreter, not your Python code. </a:t>
            </a:r>
            <a:r>
              <a:rPr b="0" i="0" lang="en-US" sz="1200" u="none" cap="none" strike="noStrike">
                <a:solidFill>
                  <a:srgbClr val="F59E0B"/>
                </a:solidFill>
                <a:latin typeface="Consolas"/>
                <a:ea typeface="Consolas"/>
                <a:cs typeface="Consolas"/>
                <a:sym typeface="Consolas"/>
              </a:rPr>
              <a:t>counter += 1</a:t>
            </a:r>
            <a:r>
              <a:rPr b="0" i="0" lang="en-US" sz="1200" u="none" cap="none" strike="noStrike">
                <a:solidFill>
                  <a:srgbClr val="E2E8F0"/>
                </a:solidFill>
                <a:latin typeface="Calibri"/>
                <a:ea typeface="Calibri"/>
                <a:cs typeface="Calibri"/>
                <a:sym typeface="Calibri"/>
              </a:rPr>
              <a:t> was never atomic — GIL just made most races invisible until now.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7"/>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What the GIL forces us to do</a:t>
            </a:r>
            <a:endParaRPr sz="3000">
              <a:solidFill>
                <a:schemeClr val="dk1"/>
              </a:solidFill>
              <a:latin typeface="Calibri"/>
              <a:ea typeface="Calibri"/>
              <a:cs typeface="Calibri"/>
              <a:sym typeface="Calibri"/>
            </a:endParaRPr>
          </a:p>
        </p:txBody>
      </p:sp>
      <p:sp>
        <p:nvSpPr>
          <p:cNvPr id="142" name="Google Shape;142;p7"/>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04</a:t>
            </a:r>
            <a:endParaRPr sz="1400">
              <a:solidFill>
                <a:schemeClr val="dk1"/>
              </a:solidFill>
              <a:latin typeface="Calibri"/>
              <a:ea typeface="Calibri"/>
              <a:cs typeface="Calibri"/>
              <a:sym typeface="Calibri"/>
            </a:endParaRPr>
          </a:p>
        </p:txBody>
      </p:sp>
      <p:sp>
        <p:nvSpPr>
          <p:cNvPr id="143" name="Google Shape;143;p7"/>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144" name="Google Shape;144;p7"/>
          <p:cNvSpPr/>
          <p:nvPr/>
        </p:nvSpPr>
        <p:spPr>
          <a:xfrm>
            <a:off x="914400" y="1188720"/>
            <a:ext cx="10332720" cy="9144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914400" y="1188720"/>
            <a:ext cx="10332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800"/>
              <a:buFont typeface="Calibri"/>
              <a:buNone/>
            </a:pPr>
            <a:r>
              <a:rPr lang="en-US" sz="1800">
                <a:solidFill>
                  <a:srgbClr val="CBD5E1"/>
                </a:solidFill>
                <a:latin typeface="Calibri"/>
                <a:ea typeface="Calibri"/>
                <a:cs typeface="Calibri"/>
                <a:sym typeface="Calibri"/>
              </a:rPr>
              <a:t>Want real CPU parallelism in Python?</a:t>
            </a:r>
            <a:br>
              <a:rPr lang="en-US" sz="1800">
                <a:solidFill>
                  <a:srgbClr val="CBD5E1"/>
                </a:solidFill>
                <a:latin typeface="Calibri"/>
                <a:ea typeface="Calibri"/>
                <a:cs typeface="Calibri"/>
                <a:sym typeface="Calibri"/>
              </a:rPr>
            </a:br>
            <a:r>
              <a:rPr b="1" lang="en-US" sz="2200">
                <a:solidFill>
                  <a:srgbClr val="F59E0B"/>
                </a:solidFill>
                <a:latin typeface="Calibri"/>
                <a:ea typeface="Calibri"/>
                <a:cs typeface="Calibri"/>
                <a:sym typeface="Calibri"/>
              </a:rPr>
              <a:t>Use multiple processes, not multiple threads.</a:t>
            </a:r>
            <a:endParaRPr sz="1800">
              <a:solidFill>
                <a:schemeClr val="dk1"/>
              </a:solidFill>
              <a:latin typeface="Calibri"/>
              <a:ea typeface="Calibri"/>
              <a:cs typeface="Calibri"/>
              <a:sym typeface="Calibri"/>
            </a:endParaRPr>
          </a:p>
        </p:txBody>
      </p:sp>
      <p:sp>
        <p:nvSpPr>
          <p:cNvPr id="146" name="Google Shape;146;p7"/>
          <p:cNvSpPr/>
          <p:nvPr/>
        </p:nvSpPr>
        <p:spPr>
          <a:xfrm>
            <a:off x="914400" y="2468880"/>
            <a:ext cx="4846320" cy="3657600"/>
          </a:xfrm>
          <a:prstGeom prst="rect">
            <a:avLst/>
          </a:prstGeom>
          <a:solidFill>
            <a:srgbClr val="F1F5F9"/>
          </a:solidFill>
          <a:ln cap="flat" cmpd="sng" w="254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1097280" y="25603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2200"/>
              <a:buFont typeface="Consolas"/>
              <a:buNone/>
            </a:pPr>
            <a:r>
              <a:rPr b="1" lang="en-US" sz="2200">
                <a:solidFill>
                  <a:srgbClr val="EF4444"/>
                </a:solidFill>
                <a:latin typeface="Consolas"/>
                <a:ea typeface="Consolas"/>
                <a:cs typeface="Consolas"/>
                <a:sym typeface="Consolas"/>
              </a:rPr>
              <a:t>threading</a:t>
            </a:r>
            <a:endParaRPr sz="2200">
              <a:solidFill>
                <a:schemeClr val="dk1"/>
              </a:solidFill>
              <a:latin typeface="Calibri"/>
              <a:ea typeface="Calibri"/>
              <a:cs typeface="Calibri"/>
              <a:sym typeface="Calibri"/>
            </a:endParaRPr>
          </a:p>
        </p:txBody>
      </p:sp>
      <p:sp>
        <p:nvSpPr>
          <p:cNvPr id="148" name="Google Shape;148;p7"/>
          <p:cNvSpPr/>
          <p:nvPr/>
        </p:nvSpPr>
        <p:spPr>
          <a:xfrm>
            <a:off x="1188720" y="3154680"/>
            <a:ext cx="4572000" cy="2834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Real OS threads, share memory</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But GIL serializes execution</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Fine for I/O-bound only</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Useless for CPU-bound</a:t>
            </a:r>
            <a:endParaRPr sz="1400">
              <a:solidFill>
                <a:schemeClr val="dk1"/>
              </a:solidFill>
              <a:latin typeface="Calibri"/>
              <a:ea typeface="Calibri"/>
              <a:cs typeface="Calibri"/>
              <a:sym typeface="Calibri"/>
            </a:endParaRPr>
          </a:p>
        </p:txBody>
      </p:sp>
      <p:sp>
        <p:nvSpPr>
          <p:cNvPr id="149" name="Google Shape;149;p7"/>
          <p:cNvSpPr/>
          <p:nvPr/>
        </p:nvSpPr>
        <p:spPr>
          <a:xfrm>
            <a:off x="6400800" y="2468880"/>
            <a:ext cx="4846320" cy="3657600"/>
          </a:xfrm>
          <a:prstGeom prst="rect">
            <a:avLst/>
          </a:prstGeom>
          <a:solidFill>
            <a:srgbClr val="F1F5F9"/>
          </a:solidFill>
          <a:ln cap="flat" cmpd="sng" w="254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6583680" y="25603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200"/>
              <a:buFont typeface="Consolas"/>
              <a:buNone/>
            </a:pPr>
            <a:r>
              <a:rPr b="1" lang="en-US" sz="2200">
                <a:solidFill>
                  <a:srgbClr val="10B981"/>
                </a:solidFill>
                <a:latin typeface="Consolas"/>
                <a:ea typeface="Consolas"/>
                <a:cs typeface="Consolas"/>
                <a:sym typeface="Consolas"/>
              </a:rPr>
              <a:t>multiprocessing</a:t>
            </a:r>
            <a:endParaRPr sz="2200">
              <a:solidFill>
                <a:schemeClr val="dk1"/>
              </a:solidFill>
              <a:latin typeface="Calibri"/>
              <a:ea typeface="Calibri"/>
              <a:cs typeface="Calibri"/>
              <a:sym typeface="Calibri"/>
            </a:endParaRPr>
          </a:p>
        </p:txBody>
      </p:sp>
      <p:sp>
        <p:nvSpPr>
          <p:cNvPr id="151" name="Google Shape;151;p7"/>
          <p:cNvSpPr/>
          <p:nvPr/>
        </p:nvSpPr>
        <p:spPr>
          <a:xfrm>
            <a:off x="6675120" y="3154680"/>
            <a:ext cx="4572000" cy="2834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Separate processes, each with own GIL</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True parallel CPU execution</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What we've been doing for decades</a:t>
            </a:r>
            <a:endParaRPr sz="1400">
              <a:solidFill>
                <a:schemeClr val="dk1"/>
              </a:solidFill>
              <a:latin typeface="Calibri"/>
              <a:ea typeface="Calibri"/>
              <a:cs typeface="Calibri"/>
              <a:sym typeface="Calibri"/>
            </a:endParaRPr>
          </a:p>
          <a:p>
            <a:pPr indent="-342900" lvl="0" marL="342900" marR="0" rtl="0" algn="l">
              <a:spcBef>
                <a:spcPts val="8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But comes with significant costs (next slide)</a:t>
            </a:r>
            <a:endParaRPr sz="1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8"/>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How we cope today</a:t>
            </a:r>
            <a:endParaRPr sz="3000">
              <a:solidFill>
                <a:schemeClr val="dk1"/>
              </a:solidFill>
              <a:latin typeface="Calibri"/>
              <a:ea typeface="Calibri"/>
              <a:cs typeface="Calibri"/>
              <a:sym typeface="Calibri"/>
            </a:endParaRPr>
          </a:p>
        </p:txBody>
      </p:sp>
      <p:sp>
        <p:nvSpPr>
          <p:cNvPr id="158" name="Google Shape;158;p8"/>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05</a:t>
            </a:r>
            <a:endParaRPr sz="1400">
              <a:solidFill>
                <a:schemeClr val="dk1"/>
              </a:solidFill>
              <a:latin typeface="Calibri"/>
              <a:ea typeface="Calibri"/>
              <a:cs typeface="Calibri"/>
              <a:sym typeface="Calibri"/>
            </a:endParaRPr>
          </a:p>
        </p:txBody>
      </p:sp>
      <p:sp>
        <p:nvSpPr>
          <p:cNvPr id="159" name="Google Shape;159;p8"/>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160" name="Google Shape;160;p8"/>
          <p:cNvSpPr/>
          <p:nvPr/>
        </p:nvSpPr>
        <p:spPr>
          <a:xfrm>
            <a:off x="457200" y="109728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i="1" lang="en-US" sz="1800">
                <a:solidFill>
                  <a:srgbClr val="64748B"/>
                </a:solidFill>
                <a:latin typeface="Calibri"/>
                <a:ea typeface="Calibri"/>
                <a:cs typeface="Calibri"/>
                <a:sym typeface="Calibri"/>
              </a:rPr>
              <a:t>Look familiar?</a:t>
            </a:r>
            <a:endParaRPr sz="1800">
              <a:solidFill>
                <a:schemeClr val="dk1"/>
              </a:solidFill>
              <a:latin typeface="Calibri"/>
              <a:ea typeface="Calibri"/>
              <a:cs typeface="Calibri"/>
              <a:sym typeface="Calibri"/>
            </a:endParaRPr>
          </a:p>
        </p:txBody>
      </p:sp>
      <p:sp>
        <p:nvSpPr>
          <p:cNvPr id="161" name="Google Shape;161;p8"/>
          <p:cNvSpPr/>
          <p:nvPr/>
        </p:nvSpPr>
        <p:spPr>
          <a:xfrm>
            <a:off x="457200" y="1554480"/>
            <a:ext cx="11247120" cy="265176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594360" y="1645920"/>
            <a:ext cx="10972800" cy="2468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from multiprocessing import Pool</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def run_backtest(params):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    # heavy CPU work — pricing, simulation, P&amp;L</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    return compute_pnl(params)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if __name__ == "__main__":</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    param_grid = generate_params()      # e.g. 10,000 configs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    with Pool(processes=32) as pool:</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onsolas"/>
              <a:buNone/>
            </a:pPr>
            <a:r>
              <a:rPr lang="en-US" sz="1400">
                <a:solidFill>
                  <a:srgbClr val="E2E8F0"/>
                </a:solidFill>
                <a:latin typeface="Consolas"/>
                <a:ea typeface="Consolas"/>
                <a:cs typeface="Consolas"/>
                <a:sym typeface="Consolas"/>
              </a:rPr>
              <a:t>        results = pool.map(run_backtest, param_grid)</a:t>
            </a:r>
            <a:endParaRPr sz="1400">
              <a:solidFill>
                <a:schemeClr val="dk1"/>
              </a:solidFill>
              <a:latin typeface="Calibri"/>
              <a:ea typeface="Calibri"/>
              <a:cs typeface="Calibri"/>
              <a:sym typeface="Calibri"/>
            </a:endParaRPr>
          </a:p>
        </p:txBody>
      </p:sp>
      <p:sp>
        <p:nvSpPr>
          <p:cNvPr id="163" name="Google Shape;163;p8"/>
          <p:cNvSpPr/>
          <p:nvPr/>
        </p:nvSpPr>
        <p:spPr>
          <a:xfrm>
            <a:off x="457200" y="438912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Calibri"/>
              <a:buNone/>
            </a:pPr>
            <a:r>
              <a:rPr b="1" lang="en-US" sz="1600">
                <a:solidFill>
                  <a:srgbClr val="1E293B"/>
                </a:solidFill>
                <a:latin typeface="Calibri"/>
                <a:ea typeface="Calibri"/>
                <a:cs typeface="Calibri"/>
                <a:sym typeface="Calibri"/>
              </a:rPr>
              <a:t>Variants we all recognize:</a:t>
            </a:r>
            <a:endParaRPr sz="1600">
              <a:solidFill>
                <a:schemeClr val="dk1"/>
              </a:solidFill>
              <a:latin typeface="Calibri"/>
              <a:ea typeface="Calibri"/>
              <a:cs typeface="Calibri"/>
              <a:sym typeface="Calibri"/>
            </a:endParaRPr>
          </a:p>
        </p:txBody>
      </p:sp>
      <p:sp>
        <p:nvSpPr>
          <p:cNvPr id="164" name="Google Shape;164;p8"/>
          <p:cNvSpPr/>
          <p:nvPr/>
        </p:nvSpPr>
        <p:spPr>
          <a:xfrm>
            <a:off x="640080" y="4800600"/>
            <a:ext cx="10972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multiprocessing.Pool — .map(), .starmap(), .imap_unordered(), .apply_async()</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concurrent.futures.ProcessPoolExecutor — .submit(), .map()</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joblib.Parallel(n_jobs=-1) — common in numerical / sklearn code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1E293B"/>
              </a:buClr>
              <a:buSzPts val="1400"/>
              <a:buFont typeface="Calibri"/>
              <a:buChar char="•"/>
            </a:pPr>
            <a:r>
              <a:rPr lang="en-US" sz="1400">
                <a:solidFill>
                  <a:srgbClr val="1E293B"/>
                </a:solidFill>
                <a:latin typeface="Calibri"/>
                <a:ea typeface="Calibri"/>
                <a:cs typeface="Calibri"/>
                <a:sym typeface="Calibri"/>
              </a:rPr>
              <a:t>dask, ray — bigger-scale orchestration, same fundamental model</a:t>
            </a:r>
            <a:endParaRPr sz="1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9"/>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The multiprocessing tax</a:t>
            </a:r>
            <a:endParaRPr sz="3000">
              <a:solidFill>
                <a:schemeClr val="dk1"/>
              </a:solidFill>
              <a:latin typeface="Calibri"/>
              <a:ea typeface="Calibri"/>
              <a:cs typeface="Calibri"/>
              <a:sym typeface="Calibri"/>
            </a:endParaRPr>
          </a:p>
        </p:txBody>
      </p:sp>
      <p:sp>
        <p:nvSpPr>
          <p:cNvPr id="171" name="Google Shape;171;p9"/>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06</a:t>
            </a:r>
            <a:endParaRPr sz="1400">
              <a:solidFill>
                <a:schemeClr val="dk1"/>
              </a:solidFill>
              <a:latin typeface="Calibri"/>
              <a:ea typeface="Calibri"/>
              <a:cs typeface="Calibri"/>
              <a:sym typeface="Calibri"/>
            </a:endParaRPr>
          </a:p>
        </p:txBody>
      </p:sp>
      <p:sp>
        <p:nvSpPr>
          <p:cNvPr id="172" name="Google Shape;172;p9"/>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173" name="Google Shape;173;p9"/>
          <p:cNvSpPr/>
          <p:nvPr/>
        </p:nvSpPr>
        <p:spPr>
          <a:xfrm>
            <a:off x="457200" y="118872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457200" y="118872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9"/>
          <p:cNvPicPr preferRelativeResize="0"/>
          <p:nvPr/>
        </p:nvPicPr>
        <p:blipFill rotWithShape="1">
          <a:blip r:embed="rId3">
            <a:alphaModFix/>
          </a:blip>
          <a:srcRect b="0" l="0" r="0" t="0"/>
          <a:stretch/>
        </p:blipFill>
        <p:spPr>
          <a:xfrm>
            <a:off x="685800" y="1353312"/>
            <a:ext cx="365760" cy="365760"/>
          </a:xfrm>
          <a:prstGeom prst="rect">
            <a:avLst/>
          </a:prstGeom>
          <a:noFill/>
          <a:ln>
            <a:noFill/>
          </a:ln>
        </p:spPr>
      </p:pic>
      <p:sp>
        <p:nvSpPr>
          <p:cNvPr id="176" name="Google Shape;176;p9"/>
          <p:cNvSpPr/>
          <p:nvPr/>
        </p:nvSpPr>
        <p:spPr>
          <a:xfrm>
            <a:off x="1143000" y="132588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Pickle overhead</a:t>
            </a:r>
            <a:endParaRPr sz="1500">
              <a:solidFill>
                <a:schemeClr val="dk1"/>
              </a:solidFill>
              <a:latin typeface="Calibri"/>
              <a:ea typeface="Calibri"/>
              <a:cs typeface="Calibri"/>
              <a:sym typeface="Calibri"/>
            </a:endParaRPr>
          </a:p>
        </p:txBody>
      </p:sp>
      <p:sp>
        <p:nvSpPr>
          <p:cNvPr id="177" name="Google Shape;177;p9"/>
          <p:cNvSpPr/>
          <p:nvPr/>
        </p:nvSpPr>
        <p:spPr>
          <a:xfrm>
            <a:off x="685800" y="182880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Every arg &amp; result serialized. Can dwarf the actual computation for large DataFrames. And not everything pickles — lambdas, local funcs, file handles.</a:t>
            </a:r>
            <a:endParaRPr sz="1100">
              <a:solidFill>
                <a:schemeClr val="dk1"/>
              </a:solidFill>
              <a:latin typeface="Calibri"/>
              <a:ea typeface="Calibri"/>
              <a:cs typeface="Calibri"/>
              <a:sym typeface="Calibri"/>
            </a:endParaRPr>
          </a:p>
        </p:txBody>
      </p:sp>
      <p:sp>
        <p:nvSpPr>
          <p:cNvPr id="178" name="Google Shape;178;p9"/>
          <p:cNvSpPr/>
          <p:nvPr/>
        </p:nvSpPr>
        <p:spPr>
          <a:xfrm>
            <a:off x="4297680" y="118872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4297680" y="118872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9"/>
          <p:cNvPicPr preferRelativeResize="0"/>
          <p:nvPr/>
        </p:nvPicPr>
        <p:blipFill rotWithShape="1">
          <a:blip r:embed="rId4">
            <a:alphaModFix/>
          </a:blip>
          <a:srcRect b="0" l="0" r="0" t="0"/>
          <a:stretch/>
        </p:blipFill>
        <p:spPr>
          <a:xfrm>
            <a:off x="4526280" y="1353312"/>
            <a:ext cx="365760" cy="365760"/>
          </a:xfrm>
          <a:prstGeom prst="rect">
            <a:avLst/>
          </a:prstGeom>
          <a:noFill/>
          <a:ln>
            <a:noFill/>
          </a:ln>
        </p:spPr>
      </p:pic>
      <p:sp>
        <p:nvSpPr>
          <p:cNvPr id="181" name="Google Shape;181;p9"/>
          <p:cNvSpPr/>
          <p:nvPr/>
        </p:nvSpPr>
        <p:spPr>
          <a:xfrm>
            <a:off x="4983480" y="132588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N× memory footprint</a:t>
            </a:r>
            <a:endParaRPr sz="1500">
              <a:solidFill>
                <a:schemeClr val="dk1"/>
              </a:solidFill>
              <a:latin typeface="Calibri"/>
              <a:ea typeface="Calibri"/>
              <a:cs typeface="Calibri"/>
              <a:sym typeface="Calibri"/>
            </a:endParaRPr>
          </a:p>
        </p:txBody>
      </p:sp>
      <p:sp>
        <p:nvSpPr>
          <p:cNvPr id="182" name="Google Shape;182;p9"/>
          <p:cNvSpPr/>
          <p:nvPr/>
        </p:nvSpPr>
        <p:spPr>
          <a:xfrm>
            <a:off x="4526280" y="182880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Each worker reloads the interpreter + all imports. 8 workers × 2GB base = 16GB before any real data. Copy-on-write helps little once refcounts touch pages.</a:t>
            </a:r>
            <a:endParaRPr sz="1100">
              <a:solidFill>
                <a:schemeClr val="dk1"/>
              </a:solidFill>
              <a:latin typeface="Calibri"/>
              <a:ea typeface="Calibri"/>
              <a:cs typeface="Calibri"/>
              <a:sym typeface="Calibri"/>
            </a:endParaRPr>
          </a:p>
        </p:txBody>
      </p:sp>
      <p:sp>
        <p:nvSpPr>
          <p:cNvPr id="183" name="Google Shape;183;p9"/>
          <p:cNvSpPr/>
          <p:nvPr/>
        </p:nvSpPr>
        <p:spPr>
          <a:xfrm>
            <a:off x="8138160" y="118872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8138160" y="118872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 name="Google Shape;185;p9"/>
          <p:cNvPicPr preferRelativeResize="0"/>
          <p:nvPr/>
        </p:nvPicPr>
        <p:blipFill rotWithShape="1">
          <a:blip r:embed="rId5">
            <a:alphaModFix/>
          </a:blip>
          <a:srcRect b="0" l="0" r="0" t="0"/>
          <a:stretch/>
        </p:blipFill>
        <p:spPr>
          <a:xfrm>
            <a:off x="8366760" y="1353312"/>
            <a:ext cx="365760" cy="365760"/>
          </a:xfrm>
          <a:prstGeom prst="rect">
            <a:avLst/>
          </a:prstGeom>
          <a:noFill/>
          <a:ln>
            <a:noFill/>
          </a:ln>
        </p:spPr>
      </p:pic>
      <p:sp>
        <p:nvSpPr>
          <p:cNvPr id="186" name="Google Shape;186;p9"/>
          <p:cNvSpPr/>
          <p:nvPr/>
        </p:nvSpPr>
        <p:spPr>
          <a:xfrm>
            <a:off x="8823960" y="132588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Slow startup</a:t>
            </a:r>
            <a:endParaRPr sz="1500">
              <a:solidFill>
                <a:schemeClr val="dk1"/>
              </a:solidFill>
              <a:latin typeface="Calibri"/>
              <a:ea typeface="Calibri"/>
              <a:cs typeface="Calibri"/>
              <a:sym typeface="Calibri"/>
            </a:endParaRPr>
          </a:p>
        </p:txBody>
      </p:sp>
      <p:sp>
        <p:nvSpPr>
          <p:cNvPr id="187" name="Google Shape;187;p9"/>
          <p:cNvSpPr/>
          <p:nvPr/>
        </p:nvSpPr>
        <p:spPr>
          <a:xfrm>
            <a:off x="8366760" y="182880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Fork/spawn + re-import of pandas, numpy, internal libs. 1–3 seconds cold start per worker. Bad for short jobs or autoscaling.</a:t>
            </a:r>
            <a:endParaRPr sz="1100">
              <a:solidFill>
                <a:schemeClr val="dk1"/>
              </a:solidFill>
              <a:latin typeface="Calibri"/>
              <a:ea typeface="Calibri"/>
              <a:cs typeface="Calibri"/>
              <a:sym typeface="Calibri"/>
            </a:endParaRPr>
          </a:p>
        </p:txBody>
      </p:sp>
      <p:sp>
        <p:nvSpPr>
          <p:cNvPr id="188" name="Google Shape;188;p9"/>
          <p:cNvSpPr/>
          <p:nvPr/>
        </p:nvSpPr>
        <p:spPr>
          <a:xfrm>
            <a:off x="457200" y="297180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457200" y="297180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0" name="Google Shape;190;p9"/>
          <p:cNvPicPr preferRelativeResize="0"/>
          <p:nvPr/>
        </p:nvPicPr>
        <p:blipFill rotWithShape="1">
          <a:blip r:embed="rId6">
            <a:alphaModFix/>
          </a:blip>
          <a:srcRect b="0" l="0" r="0" t="0"/>
          <a:stretch/>
        </p:blipFill>
        <p:spPr>
          <a:xfrm>
            <a:off x="685800" y="3136392"/>
            <a:ext cx="365760" cy="365760"/>
          </a:xfrm>
          <a:prstGeom prst="rect">
            <a:avLst/>
          </a:prstGeom>
          <a:noFill/>
          <a:ln>
            <a:noFill/>
          </a:ln>
        </p:spPr>
      </p:pic>
      <p:sp>
        <p:nvSpPr>
          <p:cNvPr id="191" name="Google Shape;191;p9"/>
          <p:cNvSpPr/>
          <p:nvPr/>
        </p:nvSpPr>
        <p:spPr>
          <a:xfrm>
            <a:off x="1143000" y="310896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Shared state is painful</a:t>
            </a:r>
            <a:endParaRPr sz="1500">
              <a:solidFill>
                <a:schemeClr val="dk1"/>
              </a:solidFill>
              <a:latin typeface="Calibri"/>
              <a:ea typeface="Calibri"/>
              <a:cs typeface="Calibri"/>
              <a:sym typeface="Calibri"/>
            </a:endParaRPr>
          </a:p>
        </p:txBody>
      </p:sp>
      <p:sp>
        <p:nvSpPr>
          <p:cNvPr id="192" name="Google Shape;192;p9"/>
          <p:cNvSpPr/>
          <p:nvPr/>
        </p:nvSpPr>
        <p:spPr>
          <a:xfrm>
            <a:off x="685800" y="361188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Manager (slow proxy), shared_memory (raw bytes only), or hand-rolled — pick your poison. Anything beyond primitives gets ugly.</a:t>
            </a:r>
            <a:endParaRPr sz="1100">
              <a:solidFill>
                <a:schemeClr val="dk1"/>
              </a:solidFill>
              <a:latin typeface="Calibri"/>
              <a:ea typeface="Calibri"/>
              <a:cs typeface="Calibri"/>
              <a:sym typeface="Calibri"/>
            </a:endParaRPr>
          </a:p>
        </p:txBody>
      </p:sp>
      <p:sp>
        <p:nvSpPr>
          <p:cNvPr id="193" name="Google Shape;193;p9"/>
          <p:cNvSpPr/>
          <p:nvPr/>
        </p:nvSpPr>
        <p:spPr>
          <a:xfrm>
            <a:off x="4297680" y="297180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4297680" y="297180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9"/>
          <p:cNvPicPr preferRelativeResize="0"/>
          <p:nvPr/>
        </p:nvPicPr>
        <p:blipFill rotWithShape="1">
          <a:blip r:embed="rId7">
            <a:alphaModFix/>
          </a:blip>
          <a:srcRect b="0" l="0" r="0" t="0"/>
          <a:stretch/>
        </p:blipFill>
        <p:spPr>
          <a:xfrm>
            <a:off x="4526280" y="3136392"/>
            <a:ext cx="365760" cy="365760"/>
          </a:xfrm>
          <a:prstGeom prst="rect">
            <a:avLst/>
          </a:prstGeom>
          <a:noFill/>
          <a:ln>
            <a:noFill/>
          </a:ln>
        </p:spPr>
      </p:pic>
      <p:sp>
        <p:nvSpPr>
          <p:cNvPr id="196" name="Google Shape;196;p9"/>
          <p:cNvSpPr/>
          <p:nvPr/>
        </p:nvSpPr>
        <p:spPr>
          <a:xfrm>
            <a:off x="4983480" y="310896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Debugging is a nightmare</a:t>
            </a:r>
            <a:endParaRPr sz="1500">
              <a:solidFill>
                <a:schemeClr val="dk1"/>
              </a:solidFill>
              <a:latin typeface="Calibri"/>
              <a:ea typeface="Calibri"/>
              <a:cs typeface="Calibri"/>
              <a:sym typeface="Calibri"/>
            </a:endParaRPr>
          </a:p>
        </p:txBody>
      </p:sp>
      <p:sp>
        <p:nvSpPr>
          <p:cNvPr id="197" name="Google Shape;197;p9"/>
          <p:cNvSpPr/>
          <p:nvPr/>
        </p:nvSpPr>
        <p:spPr>
          <a:xfrm>
            <a:off x="4526280" y="361188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Worker crashes lose tracebacks. Logs scattered. Pickled exceptions hide stack info. Profilers/breakpoints don't reach into workers easily.</a:t>
            </a:r>
            <a:endParaRPr sz="1100">
              <a:solidFill>
                <a:schemeClr val="dk1"/>
              </a:solidFill>
              <a:latin typeface="Calibri"/>
              <a:ea typeface="Calibri"/>
              <a:cs typeface="Calibri"/>
              <a:sym typeface="Calibri"/>
            </a:endParaRPr>
          </a:p>
        </p:txBody>
      </p:sp>
      <p:sp>
        <p:nvSpPr>
          <p:cNvPr id="198" name="Google Shape;198;p9"/>
          <p:cNvSpPr/>
          <p:nvPr/>
        </p:nvSpPr>
        <p:spPr>
          <a:xfrm>
            <a:off x="8138160" y="2971800"/>
            <a:ext cx="3703320" cy="16002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8138160" y="2971800"/>
            <a:ext cx="73152" cy="16002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9"/>
          <p:cNvPicPr preferRelativeResize="0"/>
          <p:nvPr/>
        </p:nvPicPr>
        <p:blipFill rotWithShape="1">
          <a:blip r:embed="rId8">
            <a:alphaModFix/>
          </a:blip>
          <a:srcRect b="0" l="0" r="0" t="0"/>
          <a:stretch/>
        </p:blipFill>
        <p:spPr>
          <a:xfrm>
            <a:off x="8366760" y="3136392"/>
            <a:ext cx="365760" cy="365760"/>
          </a:xfrm>
          <a:prstGeom prst="rect">
            <a:avLst/>
          </a:prstGeom>
          <a:noFill/>
          <a:ln>
            <a:noFill/>
          </a:ln>
        </p:spPr>
      </p:pic>
      <p:sp>
        <p:nvSpPr>
          <p:cNvPr id="201" name="Google Shape;201;p9"/>
          <p:cNvSpPr/>
          <p:nvPr/>
        </p:nvSpPr>
        <p:spPr>
          <a:xfrm>
            <a:off x="8823960" y="3108960"/>
            <a:ext cx="2926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Cross-platform quirks</a:t>
            </a:r>
            <a:endParaRPr sz="1500">
              <a:solidFill>
                <a:schemeClr val="dk1"/>
              </a:solidFill>
              <a:latin typeface="Calibri"/>
              <a:ea typeface="Calibri"/>
              <a:cs typeface="Calibri"/>
              <a:sym typeface="Calibri"/>
            </a:endParaRPr>
          </a:p>
        </p:txBody>
      </p:sp>
      <p:sp>
        <p:nvSpPr>
          <p:cNvPr id="202" name="Google Shape;202;p9"/>
          <p:cNvSpPr/>
          <p:nvPr/>
        </p:nvSpPr>
        <p:spPr>
          <a:xfrm>
            <a:off x="8366760" y="3611880"/>
            <a:ext cx="333756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Linux fork vs. macOS/Windows spawn behave differently. "Works on my Mac, breaks in CI" — usually a fork-after-thread or import-time bug.</a:t>
            </a:r>
            <a:endParaRPr sz="1100">
              <a:solidFill>
                <a:schemeClr val="dk1"/>
              </a:solidFill>
              <a:latin typeface="Calibri"/>
              <a:ea typeface="Calibri"/>
              <a:cs typeface="Calibri"/>
              <a:sym typeface="Calibri"/>
            </a:endParaRPr>
          </a:p>
        </p:txBody>
      </p:sp>
      <p:sp>
        <p:nvSpPr>
          <p:cNvPr id="203" name="Google Shape;203;p9"/>
          <p:cNvSpPr/>
          <p:nvPr/>
        </p:nvSpPr>
        <p:spPr>
          <a:xfrm>
            <a:off x="457200" y="5989320"/>
            <a:ext cx="11247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i="1" lang="en-US" sz="1300">
                <a:solidFill>
                  <a:srgbClr val="1E293B"/>
                </a:solidFill>
                <a:latin typeface="Calibri"/>
                <a:ea typeface="Calibri"/>
                <a:cs typeface="Calibri"/>
                <a:sym typeface="Calibri"/>
              </a:rPr>
              <a:t>These are real costs. We just stopped noticing them because there was no alternative.</a:t>
            </a:r>
            <a:endParaRPr sz="13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0"/>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Free-threading: the core idea</a:t>
            </a:r>
            <a:endParaRPr sz="3000">
              <a:solidFill>
                <a:schemeClr val="dk1"/>
              </a:solidFill>
              <a:latin typeface="Calibri"/>
              <a:ea typeface="Calibri"/>
              <a:cs typeface="Calibri"/>
              <a:sym typeface="Calibri"/>
            </a:endParaRPr>
          </a:p>
        </p:txBody>
      </p:sp>
      <p:sp>
        <p:nvSpPr>
          <p:cNvPr id="210" name="Google Shape;210;p10"/>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07</a:t>
            </a:r>
            <a:endParaRPr sz="1400">
              <a:solidFill>
                <a:schemeClr val="dk1"/>
              </a:solidFill>
              <a:latin typeface="Calibri"/>
              <a:ea typeface="Calibri"/>
              <a:cs typeface="Calibri"/>
              <a:sym typeface="Calibri"/>
            </a:endParaRPr>
          </a:p>
        </p:txBody>
      </p:sp>
      <p:sp>
        <p:nvSpPr>
          <p:cNvPr id="211" name="Google Shape;211;p10"/>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pic>
        <p:nvPicPr>
          <p:cNvPr descr="preencoded.png" id="212" name="Google Shape;212;p10"/>
          <p:cNvPicPr preferRelativeResize="0"/>
          <p:nvPr/>
        </p:nvPicPr>
        <p:blipFill rotWithShape="1">
          <a:blip r:embed="rId3">
            <a:alphaModFix/>
          </a:blip>
          <a:srcRect b="0" l="0" r="0" t="0"/>
          <a:stretch/>
        </p:blipFill>
        <p:spPr>
          <a:xfrm>
            <a:off x="640080" y="1188720"/>
            <a:ext cx="640080" cy="640080"/>
          </a:xfrm>
          <a:prstGeom prst="rect">
            <a:avLst/>
          </a:prstGeom>
          <a:noFill/>
          <a:ln>
            <a:noFill/>
          </a:ln>
        </p:spPr>
      </p:pic>
      <p:sp>
        <p:nvSpPr>
          <p:cNvPr id="213" name="Google Shape;213;p10"/>
          <p:cNvSpPr/>
          <p:nvPr/>
        </p:nvSpPr>
        <p:spPr>
          <a:xfrm>
            <a:off x="1417320" y="11887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lang="en-US" sz="2600">
                <a:solidFill>
                  <a:srgbClr val="1E293B"/>
                </a:solidFill>
                <a:latin typeface="Calibri"/>
                <a:ea typeface="Calibri"/>
                <a:cs typeface="Calibri"/>
                <a:sym typeface="Calibri"/>
              </a:rPr>
              <a:t>Remove the GIL. Keep the rest.</a:t>
            </a:r>
            <a:endParaRPr sz="2600">
              <a:solidFill>
                <a:schemeClr val="dk1"/>
              </a:solidFill>
              <a:latin typeface="Calibri"/>
              <a:ea typeface="Calibri"/>
              <a:cs typeface="Calibri"/>
              <a:sym typeface="Calibri"/>
            </a:endParaRPr>
          </a:p>
        </p:txBody>
      </p:sp>
      <p:sp>
        <p:nvSpPr>
          <p:cNvPr id="214" name="Google Shape;214;p10"/>
          <p:cNvSpPr/>
          <p:nvPr/>
        </p:nvSpPr>
        <p:spPr>
          <a:xfrm>
            <a:off x="457200" y="2834640"/>
            <a:ext cx="5486400" cy="1691640"/>
          </a:xfrm>
          <a:prstGeom prst="rect">
            <a:avLst/>
          </a:prstGeom>
          <a:solidFill>
            <a:srgbClr val="F1F5F9"/>
          </a:solidFill>
          <a:ln cap="flat" cmpd="sng" w="25400">
            <a:solidFill>
              <a:srgbClr val="1E40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0"/>
          <p:cNvSpPr/>
          <p:nvPr/>
        </p:nvSpPr>
        <p:spPr>
          <a:xfrm>
            <a:off x="685800" y="2926080"/>
            <a:ext cx="5120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700"/>
              <a:buFont typeface="Calibri"/>
              <a:buNone/>
            </a:pPr>
            <a:r>
              <a:rPr b="1" lang="en-US" sz="1700">
                <a:solidFill>
                  <a:srgbClr val="1E40AF"/>
                </a:solidFill>
                <a:latin typeface="Calibri"/>
                <a:ea typeface="Calibri"/>
                <a:cs typeface="Calibri"/>
                <a:sym typeface="Calibri"/>
              </a:rPr>
              <a:t>Biased reference counting</a:t>
            </a:r>
            <a:endParaRPr sz="1700">
              <a:solidFill>
                <a:schemeClr val="dk1"/>
              </a:solidFill>
              <a:latin typeface="Calibri"/>
              <a:ea typeface="Calibri"/>
              <a:cs typeface="Calibri"/>
              <a:sym typeface="Calibri"/>
            </a:endParaRPr>
          </a:p>
        </p:txBody>
      </p:sp>
      <p:sp>
        <p:nvSpPr>
          <p:cNvPr id="216" name="Google Shape;216;p10"/>
          <p:cNvSpPr/>
          <p:nvPr/>
        </p:nvSpPr>
        <p:spPr>
          <a:xfrm>
            <a:off x="685800" y="3401568"/>
            <a:ext cx="51206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Each object has an "owner" thread. The owner uses fast, non-atomic refcount updates. Non-owners go through a slower atomic path. Owner-only access stays nearly as fast as before — that's most code.</a:t>
            </a:r>
            <a:endParaRPr sz="1300">
              <a:solidFill>
                <a:schemeClr val="dk1"/>
              </a:solidFill>
              <a:latin typeface="Calibri"/>
              <a:ea typeface="Calibri"/>
              <a:cs typeface="Calibri"/>
              <a:sym typeface="Calibri"/>
            </a:endParaRPr>
          </a:p>
        </p:txBody>
      </p:sp>
      <p:sp>
        <p:nvSpPr>
          <p:cNvPr id="217" name="Google Shape;217;p10"/>
          <p:cNvSpPr/>
          <p:nvPr/>
        </p:nvSpPr>
        <p:spPr>
          <a:xfrm>
            <a:off x="6217920" y="2834640"/>
            <a:ext cx="5486400" cy="1691640"/>
          </a:xfrm>
          <a:prstGeom prst="rect">
            <a:avLst/>
          </a:prstGeom>
          <a:solidFill>
            <a:srgbClr val="F1F5F9"/>
          </a:solidFill>
          <a:ln cap="flat" cmpd="sng" w="25400">
            <a:solidFill>
              <a:srgbClr val="1E40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p:nvPr/>
        </p:nvSpPr>
        <p:spPr>
          <a:xfrm>
            <a:off x="6446520" y="2926080"/>
            <a:ext cx="5120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700"/>
              <a:buFont typeface="Calibri"/>
              <a:buNone/>
            </a:pPr>
            <a:r>
              <a:rPr b="1" lang="en-US" sz="1700">
                <a:solidFill>
                  <a:srgbClr val="1E40AF"/>
                </a:solidFill>
                <a:latin typeface="Calibri"/>
                <a:ea typeface="Calibri"/>
                <a:cs typeface="Calibri"/>
                <a:sym typeface="Calibri"/>
              </a:rPr>
              <a:t>Per-object locking</a:t>
            </a:r>
            <a:endParaRPr sz="1700">
              <a:solidFill>
                <a:schemeClr val="dk1"/>
              </a:solidFill>
              <a:latin typeface="Calibri"/>
              <a:ea typeface="Calibri"/>
              <a:cs typeface="Calibri"/>
              <a:sym typeface="Calibri"/>
            </a:endParaRPr>
          </a:p>
        </p:txBody>
      </p:sp>
      <p:sp>
        <p:nvSpPr>
          <p:cNvPr id="219" name="Google Shape;219;p10"/>
          <p:cNvSpPr/>
          <p:nvPr/>
        </p:nvSpPr>
        <p:spPr>
          <a:xfrm>
            <a:off x="6446520" y="3401568"/>
            <a:ext cx="51206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Built-in containers (dict, list, set) carry their own internal lock to keep concurrent reads &amp; writes safe. CPython internals were audited &amp; retrofitted to remove GIL-implicit assumptions.</a:t>
            </a:r>
            <a:endParaRPr sz="1300">
              <a:solidFill>
                <a:schemeClr val="dk1"/>
              </a:solidFill>
              <a:latin typeface="Calibri"/>
              <a:ea typeface="Calibri"/>
              <a:cs typeface="Calibri"/>
              <a:sym typeface="Calibri"/>
            </a:endParaRPr>
          </a:p>
        </p:txBody>
      </p:sp>
      <p:sp>
        <p:nvSpPr>
          <p:cNvPr id="220" name="Google Shape;220;p10"/>
          <p:cNvSpPr/>
          <p:nvPr/>
        </p:nvSpPr>
        <p:spPr>
          <a:xfrm>
            <a:off x="457200" y="5029200"/>
            <a:ext cx="11247120" cy="1188720"/>
          </a:xfrm>
          <a:prstGeom prst="rect">
            <a:avLst/>
          </a:prstGeom>
          <a:solidFill>
            <a:srgbClr val="0F172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0"/>
          <p:cNvSpPr/>
          <p:nvPr/>
        </p:nvSpPr>
        <p:spPr>
          <a:xfrm>
            <a:off x="640080" y="5074920"/>
            <a:ext cx="108813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800"/>
              <a:buFont typeface="Calibri"/>
              <a:buNone/>
            </a:pPr>
            <a:r>
              <a:rPr b="1" lang="en-US" sz="1800">
                <a:solidFill>
                  <a:srgbClr val="F59E0B"/>
                </a:solidFill>
                <a:latin typeface="Calibri"/>
                <a:ea typeface="Calibri"/>
                <a:cs typeface="Calibri"/>
                <a:sym typeface="Calibri"/>
              </a:rPr>
              <a:t>The threading API does not change.</a:t>
            </a:r>
            <a:br>
              <a:rPr b="1" lang="en-US" sz="1800">
                <a:solidFill>
                  <a:srgbClr val="F59E0B"/>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400"/>
              <a:buFont typeface="Calibri"/>
              <a:buNone/>
            </a:pPr>
            <a:r>
              <a:rPr lang="en-US" sz="1400">
                <a:solidFill>
                  <a:srgbClr val="E2E8F0"/>
                </a:solidFill>
                <a:latin typeface="Calibri"/>
                <a:ea typeface="Calibri"/>
                <a:cs typeface="Calibri"/>
                <a:sym typeface="Calibri"/>
              </a:rPr>
              <a:t>Your existing threading.Thread, threading.Lock, queue.Queue, ThreadPoolExecutor code — all of it still works exactly the same. It just gets faster on multi-core.</a:t>
            </a:r>
            <a:endParaRPr sz="1800">
              <a:solidFill>
                <a:schemeClr val="dk1"/>
              </a:solidFill>
              <a:latin typeface="Calibri"/>
              <a:ea typeface="Calibri"/>
              <a:cs typeface="Calibri"/>
              <a:sym typeface="Calibri"/>
            </a:endParaRPr>
          </a:p>
        </p:txBody>
      </p:sp>
      <p:sp>
        <p:nvSpPr>
          <p:cNvPr id="222" name="Google Shape;222;p10"/>
          <p:cNvSpPr/>
          <p:nvPr/>
        </p:nvSpPr>
        <p:spPr>
          <a:xfrm>
            <a:off x="457200" y="1920240"/>
            <a:ext cx="11247120" cy="77724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0"/>
          <p:cNvSpPr/>
          <p:nvPr/>
        </p:nvSpPr>
        <p:spPr>
          <a:xfrm>
            <a:off x="457200" y="1920240"/>
            <a:ext cx="91440" cy="77724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0"/>
          <p:cNvSpPr txBox="1"/>
          <p:nvPr/>
        </p:nvSpPr>
        <p:spPr>
          <a:xfrm>
            <a:off x="685800" y="1965960"/>
            <a:ext cx="10927080" cy="685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1" lang="en-US" sz="1300">
                <a:solidFill>
                  <a:srgbClr val="94A3B8"/>
                </a:solidFill>
                <a:latin typeface="Calibri"/>
                <a:ea typeface="Calibri"/>
                <a:cs typeface="Calibri"/>
                <a:sym typeface="Calibri"/>
              </a:rPr>
              <a:t>The 30-year miss:  </a:t>
            </a:r>
            <a:r>
              <a:rPr lang="en-US" sz="1300">
                <a:solidFill>
                  <a:srgbClr val="E2E8F0"/>
                </a:solidFill>
                <a:latin typeface="Calibri"/>
                <a:ea typeface="Calibri"/>
                <a:cs typeface="Calibri"/>
                <a:sym typeface="Calibri"/>
              </a:rPr>
              <a:t>"how do we make refcount atomic without slowing it down?"</a:t>
            </a:r>
            <a:endParaRPr/>
          </a:p>
          <a:p>
            <a:pPr indent="0" lvl="0" marL="0" marR="0" rtl="0" algn="l">
              <a:spcBef>
                <a:spcPts val="0"/>
              </a:spcBef>
              <a:spcAft>
                <a:spcPts val="0"/>
              </a:spcAft>
              <a:buNone/>
            </a:pPr>
            <a:r>
              <a:rPr b="1" lang="en-US" sz="1400">
                <a:solidFill>
                  <a:srgbClr val="F59E0B"/>
                </a:solidFill>
                <a:latin typeface="Calibri"/>
                <a:ea typeface="Calibri"/>
                <a:cs typeface="Calibri"/>
                <a:sym typeface="Calibri"/>
              </a:rPr>
              <a:t>Sam Gross's reframing:  </a:t>
            </a:r>
            <a:r>
              <a:rPr b="1" lang="en-US" sz="1400">
                <a:solidFill>
                  <a:srgbClr val="E2E8F0"/>
                </a:solidFill>
                <a:latin typeface="Calibri"/>
                <a:ea typeface="Calibri"/>
                <a:cs typeface="Calibri"/>
                <a:sym typeface="Calibri"/>
              </a:rPr>
              <a:t>"do fewer refcount ops — atomic </a:t>
            </a:r>
            <a:r>
              <a:rPr b="1" lang="en-US" sz="1400">
                <a:solidFill>
                  <a:srgbClr val="F59E0B"/>
                </a:solidFill>
                <a:latin typeface="Calibri"/>
                <a:ea typeface="Calibri"/>
                <a:cs typeface="Calibri"/>
                <a:sym typeface="Calibri"/>
              </a:rPr>
              <a:t>only when threads truly share</a:t>
            </a:r>
            <a:r>
              <a:rPr b="1" lang="en-US" sz="1400">
                <a:solidFill>
                  <a:srgbClr val="E2E8F0"/>
                </a:solidFill>
                <a:latin typeface="Calibri"/>
                <a:ea typeface="Calibri"/>
                <a:cs typeface="Calibri"/>
                <a:sym typeface="Calibri"/>
              </a:rPr>
              <a:t>."</a:t>
            </a:r>
            <a:endParaRPr/>
          </a:p>
        </p:txBody>
      </p:sp>
      <p:sp>
        <p:nvSpPr>
          <p:cNvPr id="225" name="Google Shape;225;p10"/>
          <p:cNvSpPr/>
          <p:nvPr/>
        </p:nvSpPr>
        <p:spPr>
          <a:xfrm>
            <a:off x="457200" y="4617720"/>
            <a:ext cx="11247120" cy="320040"/>
          </a:xfrm>
          <a:prstGeom prst="rect">
            <a:avLst/>
          </a:prstGeom>
          <a:solidFill>
            <a:srgbClr val="FEF3C7"/>
          </a:solidFill>
          <a:ln cap="flat" cmpd="sng" w="9525">
            <a:solidFill>
              <a:srgbClr val="F59E0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0"/>
          <p:cNvSpPr txBox="1"/>
          <p:nvPr/>
        </p:nvSpPr>
        <p:spPr>
          <a:xfrm>
            <a:off x="640080" y="4617720"/>
            <a:ext cx="10881360" cy="3200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200">
                <a:solidFill>
                  <a:srgbClr val="0F172A"/>
                </a:solidFill>
                <a:latin typeface="Calibri"/>
                <a:ea typeface="Calibri"/>
                <a:cs typeface="Calibri"/>
                <a:sym typeface="Calibri"/>
              </a:rPr>
              <a:t>For C++ folks: </a:t>
            </a:r>
            <a:r>
              <a:rPr lang="en-US" sz="1200">
                <a:solidFill>
                  <a:srgbClr val="1E293B"/>
                </a:solidFill>
                <a:latin typeface="Calibri"/>
                <a:ea typeface="Calibri"/>
                <a:cs typeface="Calibri"/>
                <a:sym typeface="Calibri"/>
              </a:rPr>
              <a:t>unique_ptr vs shared_ptr, but the choice is made at runtime per object — not by the programmer.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1"/>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Getting started</a:t>
            </a:r>
            <a:endParaRPr sz="3000">
              <a:solidFill>
                <a:schemeClr val="dk1"/>
              </a:solidFill>
              <a:latin typeface="Calibri"/>
              <a:ea typeface="Calibri"/>
              <a:cs typeface="Calibri"/>
              <a:sym typeface="Calibri"/>
            </a:endParaRPr>
          </a:p>
        </p:txBody>
      </p:sp>
      <p:sp>
        <p:nvSpPr>
          <p:cNvPr id="233" name="Google Shape;233;p11"/>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08</a:t>
            </a:r>
            <a:endParaRPr sz="1400">
              <a:solidFill>
                <a:schemeClr val="dk1"/>
              </a:solidFill>
              <a:latin typeface="Calibri"/>
              <a:ea typeface="Calibri"/>
              <a:cs typeface="Calibri"/>
              <a:sym typeface="Calibri"/>
            </a:endParaRPr>
          </a:p>
        </p:txBody>
      </p:sp>
      <p:sp>
        <p:nvSpPr>
          <p:cNvPr id="234" name="Google Shape;234;p11"/>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235" name="Google Shape;235;p11"/>
          <p:cNvSpPr/>
          <p:nvPr/>
        </p:nvSpPr>
        <p:spPr>
          <a:xfrm>
            <a:off x="457200" y="109728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800"/>
              <a:buFont typeface="Calibri"/>
              <a:buNone/>
            </a:pPr>
            <a:r>
              <a:rPr b="1" lang="en-US" sz="1800">
                <a:solidFill>
                  <a:srgbClr val="1E40AF"/>
                </a:solidFill>
                <a:latin typeface="Calibri"/>
                <a:ea typeface="Calibri"/>
                <a:cs typeface="Calibri"/>
                <a:sym typeface="Calibri"/>
              </a:rPr>
              <a:t>Install</a:t>
            </a:r>
            <a:endParaRPr sz="1800">
              <a:solidFill>
                <a:schemeClr val="dk1"/>
              </a:solidFill>
              <a:latin typeface="Calibri"/>
              <a:ea typeface="Calibri"/>
              <a:cs typeface="Calibri"/>
              <a:sym typeface="Calibri"/>
            </a:endParaRPr>
          </a:p>
        </p:txBody>
      </p:sp>
      <p:sp>
        <p:nvSpPr>
          <p:cNvPr id="236" name="Google Shape;236;p11"/>
          <p:cNvSpPr/>
          <p:nvPr/>
        </p:nvSpPr>
        <p:spPr>
          <a:xfrm>
            <a:off x="457200" y="150876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Free-threaded build ships as a separate binary alongside the standard one. Look for the trailing </a:t>
            </a:r>
            <a:r>
              <a:rPr b="1" lang="en-US" sz="1300">
                <a:solidFill>
                  <a:srgbClr val="F59E0B"/>
                </a:solidFill>
                <a:latin typeface="Consolas"/>
                <a:ea typeface="Consolas"/>
                <a:cs typeface="Consolas"/>
                <a:sym typeface="Consolas"/>
              </a:rPr>
              <a:t>t</a:t>
            </a:r>
            <a:r>
              <a:rPr lang="en-US" sz="1300">
                <a:solidFill>
                  <a:srgbClr val="1E293B"/>
                </a:solidFill>
                <a:latin typeface="Calibri"/>
                <a:ea typeface="Calibri"/>
                <a:cs typeface="Calibri"/>
                <a:sym typeface="Calibri"/>
              </a:rPr>
              <a:t> in the executable name.</a:t>
            </a:r>
            <a:endParaRPr sz="1300">
              <a:solidFill>
                <a:schemeClr val="dk1"/>
              </a:solidFill>
              <a:latin typeface="Calibri"/>
              <a:ea typeface="Calibri"/>
              <a:cs typeface="Calibri"/>
              <a:sym typeface="Calibri"/>
            </a:endParaRPr>
          </a:p>
        </p:txBody>
      </p:sp>
      <p:sp>
        <p:nvSpPr>
          <p:cNvPr id="237" name="Google Shape;237;p11"/>
          <p:cNvSpPr/>
          <p:nvPr/>
        </p:nvSpPr>
        <p:spPr>
          <a:xfrm>
            <a:off x="457200" y="1920240"/>
            <a:ext cx="5486400" cy="246888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594360" y="2011680"/>
            <a:ext cx="521208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Linux: official tarball, or pyenv</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pyenv install 3.14.0t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Verify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python3.14t -VV</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Python 3.14.0 free-threading build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Inside Python, check at runtime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&gt;&gt;&gt; import sys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&gt;&gt;&gt; sys._is_gil_enabled()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False</a:t>
            </a:r>
            <a:endParaRPr sz="1200">
              <a:solidFill>
                <a:schemeClr val="dk1"/>
              </a:solidFill>
              <a:latin typeface="Calibri"/>
              <a:ea typeface="Calibri"/>
              <a:cs typeface="Calibri"/>
              <a:sym typeface="Calibri"/>
            </a:endParaRPr>
          </a:p>
        </p:txBody>
      </p:sp>
      <p:sp>
        <p:nvSpPr>
          <p:cNvPr id="239" name="Google Shape;239;p11"/>
          <p:cNvSpPr/>
          <p:nvPr/>
        </p:nvSpPr>
        <p:spPr>
          <a:xfrm>
            <a:off x="6400800" y="1920240"/>
            <a:ext cx="5303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800"/>
              <a:buFont typeface="Calibri"/>
              <a:buNone/>
            </a:pPr>
            <a:r>
              <a:rPr b="1" lang="en-US" sz="1800">
                <a:solidFill>
                  <a:srgbClr val="1E40AF"/>
                </a:solidFill>
                <a:latin typeface="Calibri"/>
                <a:ea typeface="Calibri"/>
                <a:cs typeface="Calibri"/>
                <a:sym typeface="Calibri"/>
              </a:rPr>
              <a:t>Run your existing code</a:t>
            </a:r>
            <a:endParaRPr sz="1800">
              <a:solidFill>
                <a:schemeClr val="dk1"/>
              </a:solidFill>
              <a:latin typeface="Calibri"/>
              <a:ea typeface="Calibri"/>
              <a:cs typeface="Calibri"/>
              <a:sym typeface="Calibri"/>
            </a:endParaRPr>
          </a:p>
        </p:txBody>
      </p:sp>
      <p:sp>
        <p:nvSpPr>
          <p:cNvPr id="240" name="Google Shape;240;p11"/>
          <p:cNvSpPr/>
          <p:nvPr/>
        </p:nvSpPr>
        <p:spPr>
          <a:xfrm>
            <a:off x="6400800" y="2286000"/>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i="1" lang="en-US" sz="1200">
                <a:solidFill>
                  <a:srgbClr val="64748B"/>
                </a:solidFill>
                <a:latin typeface="Calibri"/>
                <a:ea typeface="Calibri"/>
                <a:cs typeface="Calibri"/>
                <a:sym typeface="Calibri"/>
              </a:rPr>
              <a:t>No code changes required. Same threading API, same imports.</a:t>
            </a:r>
            <a:endParaRPr sz="1200">
              <a:solidFill>
                <a:schemeClr val="dk1"/>
              </a:solidFill>
              <a:latin typeface="Calibri"/>
              <a:ea typeface="Calibri"/>
              <a:cs typeface="Calibri"/>
              <a:sym typeface="Calibri"/>
            </a:endParaRPr>
          </a:p>
        </p:txBody>
      </p:sp>
      <p:sp>
        <p:nvSpPr>
          <p:cNvPr id="241" name="Google Shape;241;p11"/>
          <p:cNvSpPr/>
          <p:nvPr/>
        </p:nvSpPr>
        <p:spPr>
          <a:xfrm>
            <a:off x="6400800" y="2697480"/>
            <a:ext cx="5303520" cy="260604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6537960" y="2788920"/>
            <a:ext cx="5029200" cy="2423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from concurrent.futures import ThreadPoolExecutor</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def compute(x):</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return heavy_cpu_work(x)</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with ThreadPoolExecutor(max_workers=8) as ex:</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results = list(ex.map(compute, inputs))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3.14t: actually uses 8 cores.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3.14:  serialized by GIL.</a:t>
            </a:r>
            <a:endParaRPr sz="1200">
              <a:solidFill>
                <a:schemeClr val="dk1"/>
              </a:solidFill>
              <a:latin typeface="Calibri"/>
              <a:ea typeface="Calibri"/>
              <a:cs typeface="Calibri"/>
              <a:sym typeface="Calibri"/>
            </a:endParaRPr>
          </a:p>
        </p:txBody>
      </p:sp>
      <p:sp>
        <p:nvSpPr>
          <p:cNvPr id="243" name="Google Shape;243;p11"/>
          <p:cNvSpPr/>
          <p:nvPr/>
        </p:nvSpPr>
        <p:spPr>
          <a:xfrm>
            <a:off x="457200" y="5440680"/>
            <a:ext cx="11247120" cy="868680"/>
          </a:xfrm>
          <a:prstGeom prst="rect">
            <a:avLst/>
          </a:prstGeom>
          <a:solidFill>
            <a:srgbClr val="FEF3C7"/>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4" name="Google Shape;244;p11"/>
          <p:cNvPicPr preferRelativeResize="0"/>
          <p:nvPr/>
        </p:nvPicPr>
        <p:blipFill rotWithShape="1">
          <a:blip r:embed="rId3">
            <a:alphaModFix/>
          </a:blip>
          <a:srcRect b="0" l="0" r="0" t="0"/>
          <a:stretch/>
        </p:blipFill>
        <p:spPr>
          <a:xfrm>
            <a:off x="685800" y="5577840"/>
            <a:ext cx="411480" cy="411480"/>
          </a:xfrm>
          <a:prstGeom prst="rect">
            <a:avLst/>
          </a:prstGeom>
          <a:noFill/>
          <a:ln>
            <a:noFill/>
          </a:ln>
        </p:spPr>
      </p:pic>
      <p:sp>
        <p:nvSpPr>
          <p:cNvPr id="245" name="Google Shape;245;p11"/>
          <p:cNvSpPr/>
          <p:nvPr/>
        </p:nvSpPr>
        <p:spPr>
          <a:xfrm>
            <a:off x="1234440" y="548640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Gotcha: </a:t>
            </a:r>
            <a:r>
              <a:rPr lang="en-US" sz="1200">
                <a:solidFill>
                  <a:srgbClr val="1E293B"/>
                </a:solidFill>
                <a:latin typeface="Calibri"/>
                <a:ea typeface="Calibri"/>
                <a:cs typeface="Calibri"/>
                <a:sym typeface="Calibri"/>
              </a:rPr>
              <a:t>if you import a C extension that's not marked free-threading-ready, CPython silently re-enables the GIL at runtime. Always verify sys._is_gil_enabled() inside your actual program, not just at the REPL.</a:t>
            </a:r>
            <a:endParaRPr sz="13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12"/>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CPU-bound: the speedup is real</a:t>
            </a:r>
            <a:endParaRPr sz="3000">
              <a:solidFill>
                <a:schemeClr val="dk1"/>
              </a:solidFill>
              <a:latin typeface="Calibri"/>
              <a:ea typeface="Calibri"/>
              <a:cs typeface="Calibri"/>
              <a:sym typeface="Calibri"/>
            </a:endParaRPr>
          </a:p>
        </p:txBody>
      </p:sp>
      <p:sp>
        <p:nvSpPr>
          <p:cNvPr id="252" name="Google Shape;252;p12"/>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09</a:t>
            </a:r>
            <a:endParaRPr sz="1400">
              <a:solidFill>
                <a:schemeClr val="dk1"/>
              </a:solidFill>
              <a:latin typeface="Calibri"/>
              <a:ea typeface="Calibri"/>
              <a:cs typeface="Calibri"/>
              <a:sym typeface="Calibri"/>
            </a:endParaRPr>
          </a:p>
        </p:txBody>
      </p:sp>
      <p:sp>
        <p:nvSpPr>
          <p:cNvPr id="253" name="Google Shape;253;p12"/>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254" name="Google Shape;254;p12"/>
          <p:cNvSpPr/>
          <p:nvPr/>
        </p:nvSpPr>
        <p:spPr>
          <a:xfrm>
            <a:off x="457200" y="105156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i="1" lang="en-US" sz="1400">
                <a:solidFill>
                  <a:srgbClr val="64748B"/>
                </a:solidFill>
                <a:latin typeface="Calibri"/>
                <a:ea typeface="Calibri"/>
                <a:cs typeface="Calibri"/>
                <a:sym typeface="Calibri"/>
              </a:rPr>
              <a:t>Same code, same workload — only the interpreter changes.</a:t>
            </a:r>
            <a:endParaRPr sz="1400">
              <a:solidFill>
                <a:schemeClr val="dk1"/>
              </a:solidFill>
              <a:latin typeface="Calibri"/>
              <a:ea typeface="Calibri"/>
              <a:cs typeface="Calibri"/>
              <a:sym typeface="Calibri"/>
            </a:endParaRPr>
          </a:p>
        </p:txBody>
      </p:sp>
      <p:pic>
        <p:nvPicPr>
          <p:cNvPr id="255" name="Google Shape;255;p12"/>
          <p:cNvPicPr preferRelativeResize="0"/>
          <p:nvPr/>
        </p:nvPicPr>
        <p:blipFill rotWithShape="1">
          <a:blip r:embed="rId3">
            <a:alphaModFix/>
          </a:blip>
          <a:srcRect b="0" l="0" r="0" t="0"/>
          <a:stretch/>
        </p:blipFill>
        <p:spPr>
          <a:xfrm>
            <a:off x="457200" y="1463040"/>
            <a:ext cx="6858000" cy="4389120"/>
          </a:xfrm>
          <a:prstGeom prst="rect">
            <a:avLst/>
          </a:prstGeom>
          <a:noFill/>
          <a:ln>
            <a:noFill/>
          </a:ln>
        </p:spPr>
      </p:pic>
      <p:sp>
        <p:nvSpPr>
          <p:cNvPr id="256" name="Google Shape;256;p12"/>
          <p:cNvSpPr/>
          <p:nvPr/>
        </p:nvSpPr>
        <p:spPr>
          <a:xfrm>
            <a:off x="7589520" y="146304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Calibri"/>
              <a:buNone/>
            </a:pPr>
            <a:r>
              <a:rPr b="1" lang="en-US" sz="1600">
                <a:solidFill>
                  <a:srgbClr val="1E293B"/>
                </a:solidFill>
                <a:latin typeface="Calibri"/>
                <a:ea typeface="Calibri"/>
                <a:cs typeface="Calibri"/>
                <a:sym typeface="Calibri"/>
              </a:rPr>
              <a:t>What the numbers show</a:t>
            </a:r>
            <a:endParaRPr sz="1600">
              <a:solidFill>
                <a:schemeClr val="dk1"/>
              </a:solidFill>
              <a:latin typeface="Calibri"/>
              <a:ea typeface="Calibri"/>
              <a:cs typeface="Calibri"/>
              <a:sym typeface="Calibri"/>
            </a:endParaRPr>
          </a:p>
        </p:txBody>
      </p:sp>
      <p:sp>
        <p:nvSpPr>
          <p:cNvPr id="257" name="Google Shape;257;p12"/>
          <p:cNvSpPr/>
          <p:nvPr/>
        </p:nvSpPr>
        <p:spPr>
          <a:xfrm>
            <a:off x="7589520" y="1920240"/>
            <a:ext cx="4114800" cy="1143000"/>
          </a:xfrm>
          <a:prstGeom prst="rect">
            <a:avLst/>
          </a:prstGeom>
          <a:solidFill>
            <a:srgbClr val="F1F5F9"/>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7589520" y="1920240"/>
            <a:ext cx="73152" cy="11430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
          <p:cNvSpPr/>
          <p:nvPr/>
        </p:nvSpPr>
        <p:spPr>
          <a:xfrm>
            <a:off x="7726680" y="2011680"/>
            <a:ext cx="3931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3000"/>
              <a:buFont typeface="Calibri"/>
              <a:buNone/>
            </a:pPr>
            <a:r>
              <a:rPr b="1" lang="en-US" sz="3000">
                <a:solidFill>
                  <a:srgbClr val="10B981"/>
                </a:solidFill>
                <a:latin typeface="Calibri"/>
                <a:ea typeface="Calibri"/>
                <a:cs typeface="Calibri"/>
                <a:sym typeface="Calibri"/>
              </a:rPr>
              <a:t>~8×</a:t>
            </a:r>
            <a:endParaRPr sz="3000">
              <a:solidFill>
                <a:schemeClr val="dk1"/>
              </a:solidFill>
              <a:latin typeface="Calibri"/>
              <a:ea typeface="Calibri"/>
              <a:cs typeface="Calibri"/>
              <a:sym typeface="Calibri"/>
            </a:endParaRPr>
          </a:p>
        </p:txBody>
      </p:sp>
      <p:sp>
        <p:nvSpPr>
          <p:cNvPr id="260" name="Google Shape;260;p12"/>
          <p:cNvSpPr/>
          <p:nvPr/>
        </p:nvSpPr>
        <p:spPr>
          <a:xfrm>
            <a:off x="7726680" y="2560320"/>
            <a:ext cx="3931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speedup at 16 threads on the free-threaded build</a:t>
            </a:r>
            <a:endParaRPr sz="1100">
              <a:solidFill>
                <a:schemeClr val="dk1"/>
              </a:solidFill>
              <a:latin typeface="Calibri"/>
              <a:ea typeface="Calibri"/>
              <a:cs typeface="Calibri"/>
              <a:sym typeface="Calibri"/>
            </a:endParaRPr>
          </a:p>
        </p:txBody>
      </p:sp>
      <p:sp>
        <p:nvSpPr>
          <p:cNvPr id="261" name="Google Shape;261;p12"/>
          <p:cNvSpPr/>
          <p:nvPr/>
        </p:nvSpPr>
        <p:spPr>
          <a:xfrm>
            <a:off x="7589520" y="3200400"/>
            <a:ext cx="4114800" cy="1143000"/>
          </a:xfrm>
          <a:prstGeom prst="rect">
            <a:avLst/>
          </a:prstGeom>
          <a:solidFill>
            <a:srgbClr val="F1F5F9"/>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7589520" y="3200400"/>
            <a:ext cx="73152" cy="11430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7726680" y="3291840"/>
            <a:ext cx="3931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3000"/>
              <a:buFont typeface="Calibri"/>
              <a:buNone/>
            </a:pPr>
            <a:r>
              <a:rPr b="1" lang="en-US" sz="3000">
                <a:solidFill>
                  <a:srgbClr val="EF4444"/>
                </a:solidFill>
                <a:latin typeface="Calibri"/>
                <a:ea typeface="Calibri"/>
                <a:cs typeface="Calibri"/>
                <a:sym typeface="Calibri"/>
              </a:rPr>
              <a:t>~0×</a:t>
            </a:r>
            <a:endParaRPr sz="3000">
              <a:solidFill>
                <a:schemeClr val="dk1"/>
              </a:solidFill>
              <a:latin typeface="Calibri"/>
              <a:ea typeface="Calibri"/>
              <a:cs typeface="Calibri"/>
              <a:sym typeface="Calibri"/>
            </a:endParaRPr>
          </a:p>
        </p:txBody>
      </p:sp>
      <p:sp>
        <p:nvSpPr>
          <p:cNvPr id="264" name="Google Shape;264;p12"/>
          <p:cNvSpPr/>
          <p:nvPr/>
        </p:nvSpPr>
        <p:spPr>
          <a:xfrm>
            <a:off x="7726680" y="3840480"/>
            <a:ext cx="3931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speedup on the standard GIL build (as expected)</a:t>
            </a:r>
            <a:endParaRPr sz="1100">
              <a:solidFill>
                <a:schemeClr val="dk1"/>
              </a:solidFill>
              <a:latin typeface="Calibri"/>
              <a:ea typeface="Calibri"/>
              <a:cs typeface="Calibri"/>
              <a:sym typeface="Calibri"/>
            </a:endParaRPr>
          </a:p>
        </p:txBody>
      </p:sp>
      <p:sp>
        <p:nvSpPr>
          <p:cNvPr id="265" name="Google Shape;265;p12"/>
          <p:cNvSpPr/>
          <p:nvPr/>
        </p:nvSpPr>
        <p:spPr>
          <a:xfrm>
            <a:off x="7589520" y="4480560"/>
            <a:ext cx="4114800" cy="1143000"/>
          </a:xfrm>
          <a:prstGeom prst="rect">
            <a:avLst/>
          </a:prstGeom>
          <a:solidFill>
            <a:srgbClr val="F1F5F9"/>
          </a:solidFill>
          <a:ln cap="flat" cmpd="sng" w="12700">
            <a:solidFill>
              <a:srgbClr val="1E40A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7589520" y="4480560"/>
            <a:ext cx="73152" cy="1143000"/>
          </a:xfrm>
          <a:prstGeom prst="rect">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7726680" y="4572000"/>
            <a:ext cx="3931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3000"/>
              <a:buFont typeface="Calibri"/>
              <a:buNone/>
            </a:pPr>
            <a:r>
              <a:rPr b="1" lang="en-US" sz="3000">
                <a:solidFill>
                  <a:srgbClr val="1E40AF"/>
                </a:solidFill>
                <a:latin typeface="Calibri"/>
                <a:ea typeface="Calibri"/>
                <a:cs typeface="Calibri"/>
                <a:sym typeface="Calibri"/>
              </a:rPr>
              <a:t>0 lines</a:t>
            </a:r>
            <a:endParaRPr sz="3000">
              <a:solidFill>
                <a:schemeClr val="dk1"/>
              </a:solidFill>
              <a:latin typeface="Calibri"/>
              <a:ea typeface="Calibri"/>
              <a:cs typeface="Calibri"/>
              <a:sym typeface="Calibri"/>
            </a:endParaRPr>
          </a:p>
        </p:txBody>
      </p:sp>
      <p:sp>
        <p:nvSpPr>
          <p:cNvPr id="268" name="Google Shape;268;p12"/>
          <p:cNvSpPr/>
          <p:nvPr/>
        </p:nvSpPr>
        <p:spPr>
          <a:xfrm>
            <a:off x="7726680" y="5120640"/>
            <a:ext cx="3931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of code changed between the two runs</a:t>
            </a:r>
            <a:endParaRPr sz="1100">
              <a:solidFill>
                <a:schemeClr val="dk1"/>
              </a:solidFill>
              <a:latin typeface="Calibri"/>
              <a:ea typeface="Calibri"/>
              <a:cs typeface="Calibri"/>
              <a:sym typeface="Calibri"/>
            </a:endParaRPr>
          </a:p>
        </p:txBody>
      </p:sp>
      <p:sp>
        <p:nvSpPr>
          <p:cNvPr id="269" name="Google Shape;269;p12"/>
          <p:cNvSpPr/>
          <p:nvPr/>
        </p:nvSpPr>
        <p:spPr>
          <a:xfrm>
            <a:off x="457200" y="5943600"/>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i="1" lang="en-US" sz="1100">
                <a:solidFill>
                  <a:srgbClr val="94A3B8"/>
                </a:solidFill>
                <a:latin typeface="Calibri"/>
                <a:ea typeface="Calibri"/>
                <a:cs typeface="Calibri"/>
                <a:sym typeface="Calibri"/>
              </a:rPr>
              <a:t>Workload: CPU-bound numerical loop. Real numbers will depend on your code.</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3"/>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I/O-bound: no surprises here</a:t>
            </a:r>
            <a:endParaRPr sz="3000">
              <a:solidFill>
                <a:schemeClr val="dk1"/>
              </a:solidFill>
              <a:latin typeface="Calibri"/>
              <a:ea typeface="Calibri"/>
              <a:cs typeface="Calibri"/>
              <a:sym typeface="Calibri"/>
            </a:endParaRPr>
          </a:p>
        </p:txBody>
      </p:sp>
      <p:sp>
        <p:nvSpPr>
          <p:cNvPr id="276" name="Google Shape;276;p13"/>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10</a:t>
            </a:r>
            <a:endParaRPr sz="1400">
              <a:solidFill>
                <a:schemeClr val="dk1"/>
              </a:solidFill>
              <a:latin typeface="Calibri"/>
              <a:ea typeface="Calibri"/>
              <a:cs typeface="Calibri"/>
              <a:sym typeface="Calibri"/>
            </a:endParaRPr>
          </a:p>
        </p:txBody>
      </p:sp>
      <p:sp>
        <p:nvSpPr>
          <p:cNvPr id="277" name="Google Shape;277;p13"/>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278" name="Google Shape;278;p13"/>
          <p:cNvSpPr/>
          <p:nvPr/>
        </p:nvSpPr>
        <p:spPr>
          <a:xfrm>
            <a:off x="457200" y="1188720"/>
            <a:ext cx="11247120" cy="109728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640080" y="1280160"/>
            <a:ext cx="108813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Calibri"/>
              <a:buNone/>
            </a:pPr>
            <a:r>
              <a:rPr b="1" lang="en-US" sz="1800">
                <a:solidFill>
                  <a:srgbClr val="1E293B"/>
                </a:solidFill>
                <a:latin typeface="Calibri"/>
                <a:ea typeface="Calibri"/>
                <a:cs typeface="Calibri"/>
                <a:sym typeface="Calibri"/>
              </a:rPr>
              <a:t>Threads already release the GIL during I/O waits.</a:t>
            </a:r>
            <a:br>
              <a:rPr b="1" lang="en-US" sz="1800">
                <a:solidFill>
                  <a:srgbClr val="1E293B"/>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400"/>
              <a:buFont typeface="Calibri"/>
              <a:buNone/>
            </a:pPr>
            <a:r>
              <a:rPr lang="en-US" sz="1400">
                <a:solidFill>
                  <a:srgbClr val="64748B"/>
                </a:solidFill>
                <a:latin typeface="Calibri"/>
                <a:ea typeface="Calibri"/>
                <a:cs typeface="Calibri"/>
                <a:sym typeface="Calibri"/>
              </a:rPr>
              <a:t>So for I/O-bound code (HTTP, DB, file, market data feeds), free-threading is a no-op — you were already getting concurrency.</a:t>
            </a:r>
            <a:endParaRPr sz="1800">
              <a:solidFill>
                <a:schemeClr val="dk1"/>
              </a:solidFill>
              <a:latin typeface="Calibri"/>
              <a:ea typeface="Calibri"/>
              <a:cs typeface="Calibri"/>
              <a:sym typeface="Calibri"/>
            </a:endParaRPr>
          </a:p>
        </p:txBody>
      </p:sp>
      <p:sp>
        <p:nvSpPr>
          <p:cNvPr id="280" name="Google Shape;280;p13"/>
          <p:cNvSpPr/>
          <p:nvPr/>
        </p:nvSpPr>
        <p:spPr>
          <a:xfrm>
            <a:off x="457200" y="2606040"/>
            <a:ext cx="5486400" cy="3520440"/>
          </a:xfrm>
          <a:prstGeom prst="rect">
            <a:avLst/>
          </a:prstGeom>
          <a:solidFill>
            <a:srgbClr val="F1F5F9"/>
          </a:solidFill>
          <a:ln cap="flat" cmpd="sng" w="254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685800" y="2697480"/>
            <a:ext cx="5120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Benefits from free-threading</a:t>
            </a:r>
            <a:endParaRPr sz="1600">
              <a:solidFill>
                <a:schemeClr val="dk1"/>
              </a:solidFill>
              <a:latin typeface="Calibri"/>
              <a:ea typeface="Calibri"/>
              <a:cs typeface="Calibri"/>
              <a:sym typeface="Calibri"/>
            </a:endParaRPr>
          </a:p>
        </p:txBody>
      </p:sp>
      <p:sp>
        <p:nvSpPr>
          <p:cNvPr id="282" name="Google Shape;282;p13"/>
          <p:cNvSpPr/>
          <p:nvPr/>
        </p:nvSpPr>
        <p:spPr>
          <a:xfrm>
            <a:off x="731520" y="3246120"/>
            <a:ext cx="5029200" cy="28346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Backtest parameter sweeps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Monte Carlo simulations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Risk metric calculations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Numerical Python loops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Pandas/NumPy ops in pure Python</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Any CPU-bound work currently using multiprocessing</a:t>
            </a:r>
            <a:endParaRPr sz="1300">
              <a:solidFill>
                <a:schemeClr val="dk1"/>
              </a:solidFill>
              <a:latin typeface="Calibri"/>
              <a:ea typeface="Calibri"/>
              <a:cs typeface="Calibri"/>
              <a:sym typeface="Calibri"/>
            </a:endParaRPr>
          </a:p>
        </p:txBody>
      </p:sp>
      <p:sp>
        <p:nvSpPr>
          <p:cNvPr id="283" name="Google Shape;283;p13"/>
          <p:cNvSpPr/>
          <p:nvPr/>
        </p:nvSpPr>
        <p:spPr>
          <a:xfrm>
            <a:off x="6217920" y="2606040"/>
            <a:ext cx="5486400" cy="3520440"/>
          </a:xfrm>
          <a:prstGeom prst="rect">
            <a:avLst/>
          </a:prstGeom>
          <a:solidFill>
            <a:srgbClr val="F1F5F9"/>
          </a:solidFill>
          <a:ln cap="flat" cmpd="sng" w="254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6446520" y="2697480"/>
            <a:ext cx="5120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600"/>
              <a:buFont typeface="Calibri"/>
              <a:buNone/>
            </a:pPr>
            <a:r>
              <a:rPr b="1" lang="en-US" sz="1600">
                <a:solidFill>
                  <a:srgbClr val="64748B"/>
                </a:solidFill>
                <a:latin typeface="Calibri"/>
                <a:ea typeface="Calibri"/>
                <a:cs typeface="Calibri"/>
                <a:sym typeface="Calibri"/>
              </a:rPr>
              <a:t>Already fine — no new gain</a:t>
            </a:r>
            <a:endParaRPr sz="1600">
              <a:solidFill>
                <a:schemeClr val="dk1"/>
              </a:solidFill>
              <a:latin typeface="Calibri"/>
              <a:ea typeface="Calibri"/>
              <a:cs typeface="Calibri"/>
              <a:sym typeface="Calibri"/>
            </a:endParaRPr>
          </a:p>
        </p:txBody>
      </p:sp>
      <p:sp>
        <p:nvSpPr>
          <p:cNvPr id="285" name="Google Shape;285;p13"/>
          <p:cNvSpPr/>
          <p:nvPr/>
        </p:nvSpPr>
        <p:spPr>
          <a:xfrm>
            <a:off x="6492240" y="3246120"/>
            <a:ext cx="5029200" cy="28346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Async HTTP / API calls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Database queries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File reads/writes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Network sockets (market data ingestion)</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asyncio-based code</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Anything where threads spend time waiting</a:t>
            </a:r>
            <a:endParaRPr sz="13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14"/>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multiprocessing vs. free-threaded threading</a:t>
            </a:r>
            <a:endParaRPr sz="3000">
              <a:solidFill>
                <a:schemeClr val="dk1"/>
              </a:solidFill>
              <a:latin typeface="Calibri"/>
              <a:ea typeface="Calibri"/>
              <a:cs typeface="Calibri"/>
              <a:sym typeface="Calibri"/>
            </a:endParaRPr>
          </a:p>
        </p:txBody>
      </p:sp>
      <p:sp>
        <p:nvSpPr>
          <p:cNvPr id="292" name="Google Shape;292;p14"/>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11</a:t>
            </a:r>
            <a:endParaRPr sz="1400">
              <a:solidFill>
                <a:schemeClr val="dk1"/>
              </a:solidFill>
              <a:latin typeface="Calibri"/>
              <a:ea typeface="Calibri"/>
              <a:cs typeface="Calibri"/>
              <a:sym typeface="Calibri"/>
            </a:endParaRPr>
          </a:p>
        </p:txBody>
      </p:sp>
      <p:sp>
        <p:nvSpPr>
          <p:cNvPr id="293" name="Google Shape;293;p14"/>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graphicFrame>
        <p:nvGraphicFramePr>
          <p:cNvPr id="294" name="Google Shape;294;p14"/>
          <p:cNvGraphicFramePr/>
          <p:nvPr/>
        </p:nvGraphicFramePr>
        <p:xfrm>
          <a:off x="457200" y="1188720"/>
          <a:ext cx="3000000" cy="3000000"/>
        </p:xfrm>
        <a:graphic>
          <a:graphicData uri="http://schemas.openxmlformats.org/drawingml/2006/table">
            <a:tbl>
              <a:tblPr>
                <a:noFill/>
                <a:tableStyleId>{5E29CAB1-D8E9-4881-9CA9-6D18F3874257}</a:tableStyleId>
              </a:tblPr>
              <a:tblGrid>
                <a:gridCol w="2743200"/>
                <a:gridCol w="4251950"/>
                <a:gridCol w="4251950"/>
              </a:tblGrid>
              <a:tr h="548650">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Dimension</a:t>
                      </a:r>
                      <a:endParaRPr sz="14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F172A"/>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multiprocessing</a:t>
                      </a:r>
                      <a:endParaRPr sz="14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F4444"/>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Free-threaded threading</a:t>
                      </a:r>
                      <a:endParaRPr sz="14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10B981"/>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True parallel CPU</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Yes (separate processes)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Yes (real threads, no GIL)</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Memory footprint</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N× — each worker = full interpreter</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1× — all threads share memory</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Data passing</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Pickle + IPC every call</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Direct reference, zero copy</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Startup cost</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Seconds (fork + re-import)</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Milliseconds (thread spawn)</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Shared state</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Manager / shared_memory / hacks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Plain Python objects + locks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Debugging</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Tracebacks lost, logs scattered</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Native — same process, same debugger</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Pickle restrictions</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Lambdas, local funcs, handles fail</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None — pass anything</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E293B"/>
                        </a:buClr>
                        <a:buSzPts val="1200"/>
                        <a:buFont typeface="Calibri"/>
                        <a:buNone/>
                      </a:pPr>
                      <a:r>
                        <a:rPr b="1" lang="en-US" sz="1200" u="none" cap="none" strike="noStrike">
                          <a:solidFill>
                            <a:srgbClr val="1E293B"/>
                          </a:solidFill>
                          <a:latin typeface="Calibri"/>
                          <a:ea typeface="Calibri"/>
                          <a:cs typeface="Calibri"/>
                          <a:sym typeface="Calibri"/>
                        </a:rPr>
                        <a:t>Cross-platform quirks</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fork vs spawn differences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Uniform across platforms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bl>
          </a:graphicData>
        </a:graphic>
      </p:graphicFrame>
      <p:sp>
        <p:nvSpPr>
          <p:cNvPr id="295" name="Google Shape;295;p14"/>
          <p:cNvSpPr/>
          <p:nvPr/>
        </p:nvSpPr>
        <p:spPr>
          <a:xfrm>
            <a:off x="457200" y="6126480"/>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i="1" lang="en-US" sz="1200">
                <a:solidFill>
                  <a:srgbClr val="64748B"/>
                </a:solidFill>
                <a:latin typeface="Calibri"/>
                <a:ea typeface="Calibri"/>
                <a:cs typeface="Calibri"/>
                <a:sym typeface="Calibri"/>
              </a:rPr>
              <a:t>Every row used to be "the cost we paid for parallelism." Now most of them go away.</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15"/>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Migration: Pool.map → ThreadPoolExecutor</a:t>
            </a:r>
            <a:endParaRPr sz="3000">
              <a:solidFill>
                <a:schemeClr val="dk1"/>
              </a:solidFill>
              <a:latin typeface="Calibri"/>
              <a:ea typeface="Calibri"/>
              <a:cs typeface="Calibri"/>
              <a:sym typeface="Calibri"/>
            </a:endParaRPr>
          </a:p>
        </p:txBody>
      </p:sp>
      <p:sp>
        <p:nvSpPr>
          <p:cNvPr id="302" name="Google Shape;302;p15"/>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12</a:t>
            </a:r>
            <a:endParaRPr sz="1400">
              <a:solidFill>
                <a:schemeClr val="dk1"/>
              </a:solidFill>
              <a:latin typeface="Calibri"/>
              <a:ea typeface="Calibri"/>
              <a:cs typeface="Calibri"/>
              <a:sym typeface="Calibri"/>
            </a:endParaRPr>
          </a:p>
        </p:txBody>
      </p:sp>
      <p:sp>
        <p:nvSpPr>
          <p:cNvPr id="303" name="Google Shape;303;p15"/>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04" name="Google Shape;304;p15"/>
          <p:cNvSpPr/>
          <p:nvPr/>
        </p:nvSpPr>
        <p:spPr>
          <a:xfrm>
            <a:off x="457200" y="105156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Most common pattern in our codebase. Almost a direct swap.</a:t>
            </a:r>
            <a:endParaRPr sz="1300">
              <a:solidFill>
                <a:schemeClr val="dk1"/>
              </a:solidFill>
              <a:latin typeface="Calibri"/>
              <a:ea typeface="Calibri"/>
              <a:cs typeface="Calibri"/>
              <a:sym typeface="Calibri"/>
            </a:endParaRPr>
          </a:p>
        </p:txBody>
      </p:sp>
      <p:sp>
        <p:nvSpPr>
          <p:cNvPr id="305" name="Google Shape;305;p15"/>
          <p:cNvSpPr/>
          <p:nvPr/>
        </p:nvSpPr>
        <p:spPr>
          <a:xfrm>
            <a:off x="457200" y="146304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Calibri"/>
              <a:buNone/>
            </a:pPr>
            <a:r>
              <a:rPr b="1" lang="en-US" sz="1600">
                <a:solidFill>
                  <a:srgbClr val="EF4444"/>
                </a:solidFill>
                <a:latin typeface="Calibri"/>
                <a:ea typeface="Calibri"/>
                <a:cs typeface="Calibri"/>
                <a:sym typeface="Calibri"/>
              </a:rPr>
              <a:t>Before (multiprocessing)</a:t>
            </a:r>
            <a:endParaRPr sz="1600">
              <a:solidFill>
                <a:schemeClr val="dk1"/>
              </a:solidFill>
              <a:latin typeface="Calibri"/>
              <a:ea typeface="Calibri"/>
              <a:cs typeface="Calibri"/>
              <a:sym typeface="Calibri"/>
            </a:endParaRPr>
          </a:p>
        </p:txBody>
      </p:sp>
      <p:sp>
        <p:nvSpPr>
          <p:cNvPr id="306" name="Google Shape;306;p15"/>
          <p:cNvSpPr/>
          <p:nvPr/>
        </p:nvSpPr>
        <p:spPr>
          <a:xfrm>
            <a:off x="457200" y="1874520"/>
            <a:ext cx="5486400" cy="402336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594360" y="1965960"/>
            <a:ext cx="521208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from multiprocessing import Pool</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def run_backtest(symbol):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return heavy_pnl_calc(symbol)</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if __name__ == "__main__":</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symbols = ["AAPL", "MSFT", "GOOG",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with Pool(processes=8) as pool: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results = pool.map(run_backtest, symbols)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 Each worker: full interpreter, fork+import,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 pickle args in, pickle results out.</a:t>
            </a:r>
            <a:endParaRPr sz="1200">
              <a:solidFill>
                <a:schemeClr val="dk1"/>
              </a:solidFill>
              <a:latin typeface="Calibri"/>
              <a:ea typeface="Calibri"/>
              <a:cs typeface="Calibri"/>
              <a:sym typeface="Calibri"/>
            </a:endParaRPr>
          </a:p>
        </p:txBody>
      </p:sp>
      <p:sp>
        <p:nvSpPr>
          <p:cNvPr id="308" name="Google Shape;308;p15"/>
          <p:cNvSpPr/>
          <p:nvPr/>
        </p:nvSpPr>
        <p:spPr>
          <a:xfrm>
            <a:off x="6217920" y="146304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After (free-threaded)</a:t>
            </a:r>
            <a:endParaRPr sz="1600">
              <a:solidFill>
                <a:schemeClr val="dk1"/>
              </a:solidFill>
              <a:latin typeface="Calibri"/>
              <a:ea typeface="Calibri"/>
              <a:cs typeface="Calibri"/>
              <a:sym typeface="Calibri"/>
            </a:endParaRPr>
          </a:p>
        </p:txBody>
      </p:sp>
      <p:sp>
        <p:nvSpPr>
          <p:cNvPr id="309" name="Google Shape;309;p15"/>
          <p:cNvSpPr/>
          <p:nvPr/>
        </p:nvSpPr>
        <p:spPr>
          <a:xfrm>
            <a:off x="6217920" y="1874520"/>
            <a:ext cx="5486400" cy="402336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6355080" y="1965960"/>
            <a:ext cx="521208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from concurrent.futures import ThreadPoolExecutor</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def run_backtest(symbol):</a:t>
            </a:r>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    return heavy_pnl_calc(symbol)</a:t>
            </a:r>
            <a:endParaRPr/>
          </a:p>
          <a:p>
            <a:pPr indent="0" lvl="0" marL="0" marR="0" rtl="0" algn="l">
              <a:spcBef>
                <a:spcPts val="0"/>
              </a:spcBef>
              <a:spcAft>
                <a:spcPts val="0"/>
              </a:spcAft>
              <a:buNone/>
            </a:pPr>
            <a:r>
              <a:t/>
            </a:r>
            <a:endParaRPr sz="1200">
              <a:solidFill>
                <a:srgbClr val="E2E8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symbols = ["AAPL", "MSFT", "GOOG", ...]</a:t>
            </a:r>
            <a:endParaRPr/>
          </a:p>
          <a:p>
            <a:pPr indent="0" lvl="0" marL="0" marR="0" rtl="0" algn="l">
              <a:spcBef>
                <a:spcPts val="0"/>
              </a:spcBef>
              <a:spcAft>
                <a:spcPts val="0"/>
              </a:spcAft>
              <a:buNone/>
            </a:pPr>
            <a:r>
              <a:t/>
            </a:r>
            <a:endParaRPr sz="12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with ThreadPoolExecutor(max_workers=8) as ex:</a:t>
            </a:r>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    results = list(ex.map(run_backtest, symbols))</a:t>
            </a:r>
            <a:endParaRPr/>
          </a:p>
          <a:p>
            <a:pPr indent="0" lvl="0" marL="0" marR="0" rtl="0" algn="l">
              <a:spcBef>
                <a:spcPts val="0"/>
              </a:spcBef>
              <a:spcAft>
                <a:spcPts val="0"/>
              </a:spcAft>
              <a:buNone/>
            </a:pPr>
            <a:r>
              <a:t/>
            </a:r>
            <a:endParaRPr sz="12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 Shared memory, no pickle, ms startup.</a:t>
            </a:r>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 Run with:</a:t>
            </a:r>
            <a:endParaRPr/>
          </a:p>
          <a:p>
            <a:pPr indent="0" lvl="0" marL="0" marR="0" rtl="0" algn="l">
              <a:spcBef>
                <a:spcPts val="0"/>
              </a:spcBef>
              <a:spcAft>
                <a:spcPts val="0"/>
              </a:spcAft>
              <a:buNone/>
            </a:pPr>
            <a:r>
              <a:rPr lang="en-US" sz="1200">
                <a:solidFill>
                  <a:srgbClr val="E2E8F0"/>
                </a:solidFill>
                <a:latin typeface="Consolas"/>
                <a:ea typeface="Consolas"/>
                <a:cs typeface="Consolas"/>
                <a:sym typeface="Consolas"/>
              </a:rPr>
              <a:t>#   conda activate py314t &amp;&amp; python script.py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16"/>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Migration: starmap → submit + as_completed</a:t>
            </a:r>
            <a:endParaRPr sz="3000">
              <a:solidFill>
                <a:schemeClr val="dk1"/>
              </a:solidFill>
              <a:latin typeface="Calibri"/>
              <a:ea typeface="Calibri"/>
              <a:cs typeface="Calibri"/>
              <a:sym typeface="Calibri"/>
            </a:endParaRPr>
          </a:p>
        </p:txBody>
      </p:sp>
      <p:sp>
        <p:nvSpPr>
          <p:cNvPr id="317" name="Google Shape;317;p16"/>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13</a:t>
            </a:r>
            <a:endParaRPr sz="1400">
              <a:solidFill>
                <a:schemeClr val="dk1"/>
              </a:solidFill>
              <a:latin typeface="Calibri"/>
              <a:ea typeface="Calibri"/>
              <a:cs typeface="Calibri"/>
              <a:sym typeface="Calibri"/>
            </a:endParaRPr>
          </a:p>
        </p:txBody>
      </p:sp>
      <p:sp>
        <p:nvSpPr>
          <p:cNvPr id="318" name="Google Shape;318;p16"/>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19" name="Google Shape;319;p16"/>
          <p:cNvSpPr/>
          <p:nvPr/>
        </p:nvSpPr>
        <p:spPr>
          <a:xfrm>
            <a:off x="457200" y="105156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Multiple args, exceptions, ordering, cancellation — futures handle all of it better.</a:t>
            </a:r>
            <a:endParaRPr sz="1300">
              <a:solidFill>
                <a:schemeClr val="dk1"/>
              </a:solidFill>
              <a:latin typeface="Calibri"/>
              <a:ea typeface="Calibri"/>
              <a:cs typeface="Calibri"/>
              <a:sym typeface="Calibri"/>
            </a:endParaRPr>
          </a:p>
        </p:txBody>
      </p:sp>
      <p:sp>
        <p:nvSpPr>
          <p:cNvPr id="320" name="Google Shape;320;p16"/>
          <p:cNvSpPr/>
          <p:nvPr/>
        </p:nvSpPr>
        <p:spPr>
          <a:xfrm>
            <a:off x="457200" y="146304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Calibri"/>
              <a:buNone/>
            </a:pPr>
            <a:r>
              <a:rPr b="1" lang="en-US" sz="1600">
                <a:solidFill>
                  <a:srgbClr val="EF4444"/>
                </a:solidFill>
                <a:latin typeface="Calibri"/>
                <a:ea typeface="Calibri"/>
                <a:cs typeface="Calibri"/>
                <a:sym typeface="Calibri"/>
              </a:rPr>
              <a:t>Before (multiprocessing)</a:t>
            </a:r>
            <a:endParaRPr sz="1600">
              <a:solidFill>
                <a:schemeClr val="dk1"/>
              </a:solidFill>
              <a:latin typeface="Calibri"/>
              <a:ea typeface="Calibri"/>
              <a:cs typeface="Calibri"/>
              <a:sym typeface="Calibri"/>
            </a:endParaRPr>
          </a:p>
        </p:txBody>
      </p:sp>
      <p:sp>
        <p:nvSpPr>
          <p:cNvPr id="321" name="Google Shape;321;p16"/>
          <p:cNvSpPr/>
          <p:nvPr/>
        </p:nvSpPr>
        <p:spPr>
          <a:xfrm>
            <a:off x="457200" y="1874520"/>
            <a:ext cx="5486400" cy="402336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594360" y="1965960"/>
            <a:ext cx="521208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from multiprocessing import Pool</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def run(symbol, lookback, model):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return heavy_calc(symbol, lookback, model)</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params =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("AAPL", 20, "lr"),</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("AAPL", 50, "lr"),</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("MSFT", 20, "rf"),</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with Pool(8) as pool: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results = pool.starmap(run, params)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All-or-nothing: if one task raises,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the whole .starmap blows up at the end.</a:t>
            </a:r>
            <a:endParaRPr sz="1200">
              <a:solidFill>
                <a:schemeClr val="dk1"/>
              </a:solidFill>
              <a:latin typeface="Calibri"/>
              <a:ea typeface="Calibri"/>
              <a:cs typeface="Calibri"/>
              <a:sym typeface="Calibri"/>
            </a:endParaRPr>
          </a:p>
        </p:txBody>
      </p:sp>
      <p:sp>
        <p:nvSpPr>
          <p:cNvPr id="323" name="Google Shape;323;p16"/>
          <p:cNvSpPr/>
          <p:nvPr/>
        </p:nvSpPr>
        <p:spPr>
          <a:xfrm>
            <a:off x="6217920" y="146304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After (free-threaded)</a:t>
            </a:r>
            <a:endParaRPr sz="1600">
              <a:solidFill>
                <a:schemeClr val="dk1"/>
              </a:solidFill>
              <a:latin typeface="Calibri"/>
              <a:ea typeface="Calibri"/>
              <a:cs typeface="Calibri"/>
              <a:sym typeface="Calibri"/>
            </a:endParaRPr>
          </a:p>
        </p:txBody>
      </p:sp>
      <p:sp>
        <p:nvSpPr>
          <p:cNvPr id="324" name="Google Shape;324;p16"/>
          <p:cNvSpPr/>
          <p:nvPr/>
        </p:nvSpPr>
        <p:spPr>
          <a:xfrm>
            <a:off x="6217920" y="1874520"/>
            <a:ext cx="5486400" cy="402336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6355080" y="1965960"/>
            <a:ext cx="521208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from concurrent.futures import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ThreadPoolExecutor, as_completed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with ThreadPoolExecutor(max_workers=8) as ex:</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futures =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ex.submit(run, *p): p for p in params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for fut in as_completed(futures):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p = futures[fut]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try: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results[p] = fut.result()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except Exception as 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log.warning("%s failed: %s", p, 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200"/>
              <a:buFont typeface="Consolas"/>
              <a:buNone/>
            </a:pPr>
            <a:r>
              <a:rPr lang="en-US" sz="1200">
                <a:solidFill>
                  <a:srgbClr val="E2E8F0"/>
                </a:solidFill>
                <a:latin typeface="Consolas"/>
                <a:ea typeface="Consolas"/>
                <a:cs typeface="Consolas"/>
                <a:sym typeface="Consolas"/>
              </a:rPr>
              <a:t>            # keep going</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7"/>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Trade-off #1: Single-thread overhead</a:t>
            </a:r>
            <a:endParaRPr sz="3000">
              <a:solidFill>
                <a:schemeClr val="dk1"/>
              </a:solidFill>
              <a:latin typeface="Calibri"/>
              <a:ea typeface="Calibri"/>
              <a:cs typeface="Calibri"/>
              <a:sym typeface="Calibri"/>
            </a:endParaRPr>
          </a:p>
        </p:txBody>
      </p:sp>
      <p:sp>
        <p:nvSpPr>
          <p:cNvPr id="332" name="Google Shape;332;p17"/>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14</a:t>
            </a:r>
            <a:endParaRPr sz="1400">
              <a:solidFill>
                <a:schemeClr val="dk1"/>
              </a:solidFill>
              <a:latin typeface="Calibri"/>
              <a:ea typeface="Calibri"/>
              <a:cs typeface="Calibri"/>
              <a:sym typeface="Calibri"/>
            </a:endParaRPr>
          </a:p>
        </p:txBody>
      </p:sp>
      <p:sp>
        <p:nvSpPr>
          <p:cNvPr id="333" name="Google Shape;333;p17"/>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34" name="Google Shape;334;p17"/>
          <p:cNvSpPr/>
          <p:nvPr/>
        </p:nvSpPr>
        <p:spPr>
          <a:xfrm>
            <a:off x="457200" y="109728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800"/>
              <a:buFont typeface="Calibri"/>
              <a:buNone/>
            </a:pPr>
            <a:r>
              <a:rPr i="1" lang="en-US" sz="1800">
                <a:solidFill>
                  <a:srgbClr val="64748B"/>
                </a:solidFill>
                <a:latin typeface="Calibri"/>
                <a:ea typeface="Calibri"/>
                <a:cs typeface="Calibri"/>
                <a:sym typeface="Calibri"/>
              </a:rPr>
              <a:t>Removing the GIL isn't free.</a:t>
            </a:r>
            <a:endParaRPr sz="1800">
              <a:solidFill>
                <a:schemeClr val="dk1"/>
              </a:solidFill>
              <a:latin typeface="Calibri"/>
              <a:ea typeface="Calibri"/>
              <a:cs typeface="Calibri"/>
              <a:sym typeface="Calibri"/>
            </a:endParaRPr>
          </a:p>
        </p:txBody>
      </p:sp>
      <p:sp>
        <p:nvSpPr>
          <p:cNvPr id="335" name="Google Shape;335;p17"/>
          <p:cNvSpPr/>
          <p:nvPr/>
        </p:nvSpPr>
        <p:spPr>
          <a:xfrm>
            <a:off x="457200" y="1600200"/>
            <a:ext cx="11247120" cy="18288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731520" y="1737360"/>
            <a:ext cx="106984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Biased reference counting and per-object locks have small per-operation costs.</a:t>
            </a:r>
            <a:br>
              <a:rPr lang="en-US" sz="1500">
                <a:solidFill>
                  <a:srgbClr val="1E293B"/>
                </a:solidFill>
                <a:latin typeface="Calibri"/>
                <a:ea typeface="Calibri"/>
                <a:cs typeface="Calibri"/>
                <a:sym typeface="Calibri"/>
              </a:rPr>
            </a:br>
            <a:br>
              <a:rPr lang="en-US" sz="1500">
                <a:solidFill>
                  <a:srgbClr val="1E293B"/>
                </a:solidFill>
                <a:latin typeface="Calibri"/>
                <a:ea typeface="Calibri"/>
                <a:cs typeface="Calibri"/>
                <a:sym typeface="Calibri"/>
              </a:rPr>
            </a:b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Single-threaded Python code on the free-threaded build runs roughly </a:t>
            </a:r>
            <a:r>
              <a:rPr b="1" lang="en-US" sz="1400">
                <a:solidFill>
                  <a:srgbClr val="EF4444"/>
                </a:solidFill>
                <a:latin typeface="Calibri"/>
                <a:ea typeface="Calibri"/>
                <a:cs typeface="Calibri"/>
                <a:sym typeface="Calibri"/>
              </a:rPr>
              <a:t>5–10% slower</a:t>
            </a:r>
            <a:r>
              <a:rPr lang="en-US" sz="1400">
                <a:solidFill>
                  <a:srgbClr val="1E293B"/>
                </a:solidFill>
                <a:latin typeface="Calibri"/>
                <a:ea typeface="Calibri"/>
                <a:cs typeface="Calibri"/>
                <a:sym typeface="Calibri"/>
              </a:rPr>
              <a:t> than on the standard build.</a:t>
            </a:r>
            <a:br>
              <a:rPr lang="en-US" sz="1400">
                <a:solidFill>
                  <a:srgbClr val="1E293B"/>
                </a:solidFill>
                <a:latin typeface="Calibri"/>
                <a:ea typeface="Calibri"/>
                <a:cs typeface="Calibri"/>
                <a:sym typeface="Calibri"/>
              </a:rPr>
            </a:b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Python 3.13 was much worse (~40%). 3.14 closed most of the gap — the JIT helps here.</a:t>
            </a:r>
            <a:endParaRPr sz="1500">
              <a:solidFill>
                <a:schemeClr val="dk1"/>
              </a:solidFill>
              <a:latin typeface="Calibri"/>
              <a:ea typeface="Calibri"/>
              <a:cs typeface="Calibri"/>
              <a:sym typeface="Calibri"/>
            </a:endParaRPr>
          </a:p>
        </p:txBody>
      </p:sp>
      <p:sp>
        <p:nvSpPr>
          <p:cNvPr id="337" name="Google Shape;337;p17"/>
          <p:cNvSpPr/>
          <p:nvPr/>
        </p:nvSpPr>
        <p:spPr>
          <a:xfrm>
            <a:off x="457200" y="361188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800"/>
              <a:buFont typeface="Calibri"/>
              <a:buNone/>
            </a:pPr>
            <a:r>
              <a:rPr b="1" lang="en-US" sz="1800">
                <a:solidFill>
                  <a:srgbClr val="1E40AF"/>
                </a:solidFill>
                <a:latin typeface="Calibri"/>
                <a:ea typeface="Calibri"/>
                <a:cs typeface="Calibri"/>
                <a:sym typeface="Calibri"/>
              </a:rPr>
              <a:t>Decision rule</a:t>
            </a:r>
            <a:endParaRPr sz="1800">
              <a:solidFill>
                <a:schemeClr val="dk1"/>
              </a:solidFill>
              <a:latin typeface="Calibri"/>
              <a:ea typeface="Calibri"/>
              <a:cs typeface="Calibri"/>
              <a:sym typeface="Calibri"/>
            </a:endParaRPr>
          </a:p>
        </p:txBody>
      </p:sp>
      <p:sp>
        <p:nvSpPr>
          <p:cNvPr id="338" name="Google Shape;338;p17"/>
          <p:cNvSpPr/>
          <p:nvPr/>
        </p:nvSpPr>
        <p:spPr>
          <a:xfrm>
            <a:off x="457200" y="4069080"/>
            <a:ext cx="5486400" cy="2194560"/>
          </a:xfrm>
          <a:prstGeom prst="rect">
            <a:avLst/>
          </a:prstGeom>
          <a:solidFill>
            <a:srgbClr val="F1F5F9"/>
          </a:solidFill>
          <a:ln cap="flat" cmpd="sng" w="254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9" name="Google Shape;339;p17"/>
          <p:cNvPicPr preferRelativeResize="0"/>
          <p:nvPr/>
        </p:nvPicPr>
        <p:blipFill rotWithShape="1">
          <a:blip r:embed="rId3">
            <a:alphaModFix/>
          </a:blip>
          <a:srcRect b="0" l="0" r="0" t="0"/>
          <a:stretch/>
        </p:blipFill>
        <p:spPr>
          <a:xfrm>
            <a:off x="640080" y="4206240"/>
            <a:ext cx="411480" cy="411480"/>
          </a:xfrm>
          <a:prstGeom prst="rect">
            <a:avLst/>
          </a:prstGeom>
          <a:noFill/>
          <a:ln>
            <a:noFill/>
          </a:ln>
        </p:spPr>
      </p:pic>
      <p:sp>
        <p:nvSpPr>
          <p:cNvPr id="340" name="Google Shape;340;p17"/>
          <p:cNvSpPr/>
          <p:nvPr/>
        </p:nvSpPr>
        <p:spPr>
          <a:xfrm>
            <a:off x="1143000" y="4187952"/>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500"/>
              <a:buFont typeface="Calibri"/>
              <a:buNone/>
            </a:pPr>
            <a:r>
              <a:rPr b="1" lang="en-US" sz="1500">
                <a:solidFill>
                  <a:srgbClr val="10B981"/>
                </a:solidFill>
                <a:latin typeface="Calibri"/>
                <a:ea typeface="Calibri"/>
                <a:cs typeface="Calibri"/>
                <a:sym typeface="Calibri"/>
              </a:rPr>
              <a:t>Use free-threaded when:</a:t>
            </a:r>
            <a:endParaRPr sz="1500">
              <a:solidFill>
                <a:schemeClr val="dk1"/>
              </a:solidFill>
              <a:latin typeface="Calibri"/>
              <a:ea typeface="Calibri"/>
              <a:cs typeface="Calibri"/>
              <a:sym typeface="Calibri"/>
            </a:endParaRPr>
          </a:p>
        </p:txBody>
      </p:sp>
      <p:sp>
        <p:nvSpPr>
          <p:cNvPr id="341" name="Google Shape;341;p17"/>
          <p:cNvSpPr/>
          <p:nvPr/>
        </p:nvSpPr>
        <p:spPr>
          <a:xfrm>
            <a:off x="731520" y="4709160"/>
            <a:ext cx="50292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Code is CPU-bound and parallelizable</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Currently using multiprocessing</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Workload scales with cores</a:t>
            </a:r>
            <a:endParaRPr sz="1300">
              <a:solidFill>
                <a:schemeClr val="dk1"/>
              </a:solidFill>
              <a:latin typeface="Calibri"/>
              <a:ea typeface="Calibri"/>
              <a:cs typeface="Calibri"/>
              <a:sym typeface="Calibri"/>
            </a:endParaRPr>
          </a:p>
        </p:txBody>
      </p:sp>
      <p:sp>
        <p:nvSpPr>
          <p:cNvPr id="342" name="Google Shape;342;p17"/>
          <p:cNvSpPr/>
          <p:nvPr/>
        </p:nvSpPr>
        <p:spPr>
          <a:xfrm>
            <a:off x="6217920" y="4069080"/>
            <a:ext cx="5486400" cy="2194560"/>
          </a:xfrm>
          <a:prstGeom prst="rect">
            <a:avLst/>
          </a:prstGeom>
          <a:solidFill>
            <a:srgbClr val="F1F5F9"/>
          </a:solidFill>
          <a:ln cap="flat" cmpd="sng" w="254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3" name="Google Shape;343;p17"/>
          <p:cNvPicPr preferRelativeResize="0"/>
          <p:nvPr/>
        </p:nvPicPr>
        <p:blipFill rotWithShape="1">
          <a:blip r:embed="rId4">
            <a:alphaModFix/>
          </a:blip>
          <a:srcRect b="0" l="0" r="0" t="0"/>
          <a:stretch/>
        </p:blipFill>
        <p:spPr>
          <a:xfrm>
            <a:off x="6400800" y="4206240"/>
            <a:ext cx="411480" cy="411480"/>
          </a:xfrm>
          <a:prstGeom prst="rect">
            <a:avLst/>
          </a:prstGeom>
          <a:noFill/>
          <a:ln>
            <a:noFill/>
          </a:ln>
        </p:spPr>
      </p:pic>
      <p:sp>
        <p:nvSpPr>
          <p:cNvPr id="344" name="Google Shape;344;p17"/>
          <p:cNvSpPr/>
          <p:nvPr/>
        </p:nvSpPr>
        <p:spPr>
          <a:xfrm>
            <a:off x="6903720" y="4187952"/>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500"/>
              <a:buFont typeface="Calibri"/>
              <a:buNone/>
            </a:pPr>
            <a:r>
              <a:rPr b="1" lang="en-US" sz="1500">
                <a:solidFill>
                  <a:srgbClr val="EF4444"/>
                </a:solidFill>
                <a:latin typeface="Calibri"/>
                <a:ea typeface="Calibri"/>
                <a:cs typeface="Calibri"/>
                <a:sym typeface="Calibri"/>
              </a:rPr>
              <a:t>Stay on standard when:</a:t>
            </a:r>
            <a:endParaRPr sz="1500">
              <a:solidFill>
                <a:schemeClr val="dk1"/>
              </a:solidFill>
              <a:latin typeface="Calibri"/>
              <a:ea typeface="Calibri"/>
              <a:cs typeface="Calibri"/>
              <a:sym typeface="Calibri"/>
            </a:endParaRPr>
          </a:p>
        </p:txBody>
      </p:sp>
      <p:sp>
        <p:nvSpPr>
          <p:cNvPr id="345" name="Google Shape;345;p17"/>
          <p:cNvSpPr/>
          <p:nvPr/>
        </p:nvSpPr>
        <p:spPr>
          <a:xfrm>
            <a:off x="6492240" y="4709160"/>
            <a:ext cx="50292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Single-threaded CLI scripts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Latency-sensitive single-request paths</a:t>
            </a:r>
            <a:endParaRPr sz="1300">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C-extension-heavy code without FT support</a:t>
            </a:r>
            <a:endParaRPr sz="13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0" name="Shape 350"/>
        <p:cNvGrpSpPr/>
        <p:nvPr/>
      </p:nvGrpSpPr>
      <p:grpSpPr>
        <a:xfrm>
          <a:off x="0" y="0"/>
          <a:ext cx="0" cy="0"/>
          <a:chOff x="0" y="0"/>
          <a:chExt cx="0" cy="0"/>
        </a:xfrm>
      </p:grpSpPr>
      <p:sp>
        <p:nvSpPr>
          <p:cNvPr id="351" name="Google Shape;351;p18"/>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Trade-off #2: C extension compatibility</a:t>
            </a:r>
            <a:endParaRPr sz="3000">
              <a:solidFill>
                <a:schemeClr val="dk1"/>
              </a:solidFill>
              <a:latin typeface="Calibri"/>
              <a:ea typeface="Calibri"/>
              <a:cs typeface="Calibri"/>
              <a:sym typeface="Calibri"/>
            </a:endParaRPr>
          </a:p>
        </p:txBody>
      </p:sp>
      <p:sp>
        <p:nvSpPr>
          <p:cNvPr id="352" name="Google Shape;352;p18"/>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15</a:t>
            </a:r>
            <a:endParaRPr sz="1400">
              <a:solidFill>
                <a:schemeClr val="dk1"/>
              </a:solidFill>
              <a:latin typeface="Calibri"/>
              <a:ea typeface="Calibri"/>
              <a:cs typeface="Calibri"/>
              <a:sym typeface="Calibri"/>
            </a:endParaRPr>
          </a:p>
        </p:txBody>
      </p:sp>
      <p:sp>
        <p:nvSpPr>
          <p:cNvPr id="353" name="Google Shape;353;p18"/>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54" name="Google Shape;354;p18"/>
          <p:cNvSpPr/>
          <p:nvPr/>
        </p:nvSpPr>
        <p:spPr>
          <a:xfrm>
            <a:off x="457200" y="1097280"/>
            <a:ext cx="11247120" cy="914400"/>
          </a:xfrm>
          <a:prstGeom prst="rect">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640080" y="1188720"/>
            <a:ext cx="108813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Calibri"/>
              <a:buNone/>
            </a:pPr>
            <a:r>
              <a:rPr b="1" lang="en-US" sz="1600">
                <a:solidFill>
                  <a:srgbClr val="1E293B"/>
                </a:solidFill>
                <a:latin typeface="Calibri"/>
                <a:ea typeface="Calibri"/>
                <a:cs typeface="Calibri"/>
                <a:sym typeface="Calibri"/>
              </a:rPr>
              <a:t>C extensions must be explicitly rebuilt for the free-threaded ABI.</a:t>
            </a:r>
            <a:br>
              <a:rPr b="1" lang="en-US" sz="1600">
                <a:solidFill>
                  <a:srgbClr val="1E293B"/>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300"/>
              <a:buFont typeface="Calibri"/>
              <a:buNone/>
            </a:pPr>
            <a:r>
              <a:rPr lang="en-US" sz="1300">
                <a:solidFill>
                  <a:srgbClr val="64748B"/>
                </a:solidFill>
                <a:latin typeface="Calibri"/>
                <a:ea typeface="Calibri"/>
                <a:cs typeface="Calibri"/>
                <a:sym typeface="Calibri"/>
              </a:rPr>
              <a:t>Until they are, importing them silently re-enables the GIL. Always verify sys._is_gil_enabled() after imports.</a:t>
            </a:r>
            <a:endParaRPr sz="1600">
              <a:solidFill>
                <a:schemeClr val="dk1"/>
              </a:solidFill>
              <a:latin typeface="Calibri"/>
              <a:ea typeface="Calibri"/>
              <a:cs typeface="Calibri"/>
              <a:sym typeface="Calibri"/>
            </a:endParaRPr>
          </a:p>
        </p:txBody>
      </p:sp>
      <p:sp>
        <p:nvSpPr>
          <p:cNvPr id="356" name="Google Shape;356;p18"/>
          <p:cNvSpPr/>
          <p:nvPr/>
        </p:nvSpPr>
        <p:spPr>
          <a:xfrm>
            <a:off x="457200" y="224028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1500"/>
              <a:buFont typeface="Calibri"/>
              <a:buNone/>
            </a:pPr>
            <a:r>
              <a:rPr b="1" lang="en-US" sz="1500">
                <a:solidFill>
                  <a:srgbClr val="1E40AF"/>
                </a:solidFill>
                <a:latin typeface="Calibri"/>
                <a:ea typeface="Calibri"/>
                <a:cs typeface="Calibri"/>
                <a:sym typeface="Calibri"/>
              </a:rPr>
              <a:t>Ecosystem status (verify the day before the talk)</a:t>
            </a:r>
            <a:endParaRPr sz="1500">
              <a:solidFill>
                <a:schemeClr val="dk1"/>
              </a:solidFill>
              <a:latin typeface="Calibri"/>
              <a:ea typeface="Calibri"/>
              <a:cs typeface="Calibri"/>
              <a:sym typeface="Calibri"/>
            </a:endParaRPr>
          </a:p>
        </p:txBody>
      </p:sp>
      <p:graphicFrame>
        <p:nvGraphicFramePr>
          <p:cNvPr id="357" name="Google Shape;357;p18"/>
          <p:cNvGraphicFramePr/>
          <p:nvPr/>
        </p:nvGraphicFramePr>
        <p:xfrm>
          <a:off x="457200" y="2697480"/>
          <a:ext cx="3000000" cy="3000000"/>
        </p:xfrm>
        <a:graphic>
          <a:graphicData uri="http://schemas.openxmlformats.org/drawingml/2006/table">
            <a:tbl>
              <a:tblPr>
                <a:noFill/>
                <a:tableStyleId>{5E29CAB1-D8E9-4881-9CA9-6D18F3874257}</a:tableStyleId>
              </a:tblPr>
              <a:tblGrid>
                <a:gridCol w="2377450"/>
                <a:gridCol w="3108950"/>
                <a:gridCol w="5760725"/>
              </a:tblGrid>
              <a:tr h="3657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Library</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Free-threading support</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Notes</a:t>
                      </a:r>
                      <a:endParaRPr sz="13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F172A"/>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NumPy</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FT wheels published on PyPI</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Pandas</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Released alongside recent NumPy</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SciPy</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FT wheels available</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PyTorch</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FT builds in recent releases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pybind11</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Module flag opts in: Py_MOD_GIL_NOT_USED</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nanobind / PyO3</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Both ship FT-capable releases</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Cython</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0B981"/>
                        </a:buClr>
                        <a:buSzPts val="1200"/>
                        <a:buFont typeface="Calibri"/>
                        <a:buNone/>
                      </a:pPr>
                      <a:r>
                        <a:rPr b="1" lang="en-US" sz="1200" u="none" cap="none" strike="noStrike">
                          <a:solidFill>
                            <a:srgbClr val="10B981"/>
                          </a:solidFill>
                          <a:latin typeface="Calibri"/>
                          <a:ea typeface="Calibri"/>
                          <a:cs typeface="Calibri"/>
                          <a:sym typeface="Calibri"/>
                        </a:rPr>
                        <a:t>Supported (3.x)</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Recompile with --enable-freethreading</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200"/>
                        <a:buFont typeface="Consolas"/>
                        <a:buNone/>
                      </a:pPr>
                      <a:r>
                        <a:rPr b="1" lang="en-US" sz="1200" u="none" cap="none" strike="noStrike">
                          <a:solidFill>
                            <a:srgbClr val="1E293B"/>
                          </a:solidFill>
                          <a:latin typeface="Consolas"/>
                          <a:ea typeface="Consolas"/>
                          <a:cs typeface="Consolas"/>
                          <a:sym typeface="Consolas"/>
                        </a:rPr>
                        <a:t>Your internal C ext</a:t>
                      </a:r>
                      <a:endParaRPr sz="1200" u="none" cap="none" strike="noStrike">
                        <a:latin typeface="Consolas"/>
                        <a:ea typeface="Consolas"/>
                        <a:cs typeface="Consolas"/>
                        <a:sym typeface="Consolas"/>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EF4444"/>
                        </a:buClr>
                        <a:buSzPts val="1200"/>
                        <a:buFont typeface="Calibri"/>
                        <a:buNone/>
                      </a:pPr>
                      <a:r>
                        <a:rPr b="1" lang="en-US" sz="1200" u="none" cap="none" strike="noStrike">
                          <a:solidFill>
                            <a:srgbClr val="EF4444"/>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Audit + rebuild required</a:t>
                      </a:r>
                      <a:endParaRPr sz="1100" u="none" cap="none" strike="noStrike">
                        <a:latin typeface="Calibri"/>
                        <a:ea typeface="Calibri"/>
                        <a:cs typeface="Calibri"/>
                        <a:sym typeface="Calibri"/>
                      </a:endParaRPr>
                    </a:p>
                  </a:txBody>
                  <a:tcPr marT="45725" marB="45725" marR="91450" marL="91450" anchor="ctr">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1F5F9"/>
                    </a:solidFill>
                  </a:tcPr>
                </a:tc>
              </a:tr>
            </a:tbl>
          </a:graphicData>
        </a:graphic>
      </p:graphicFrame>
      <p:sp>
        <p:nvSpPr>
          <p:cNvPr id="358" name="Google Shape;358;p18"/>
          <p:cNvSpPr/>
          <p:nvPr/>
        </p:nvSpPr>
        <p:spPr>
          <a:xfrm>
            <a:off x="457200" y="6080760"/>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i="1" lang="en-US" sz="1100">
                <a:solidFill>
                  <a:srgbClr val="94A3B8"/>
                </a:solidFill>
                <a:latin typeface="Calibri"/>
                <a:ea typeface="Calibri"/>
                <a:cs typeface="Calibri"/>
                <a:sym typeface="Calibri"/>
              </a:rPr>
              <a:t>Tracker: py-free-threading.github.io  •  re-check before adopting in production</a:t>
            </a:r>
            <a:endParaRPr sz="11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 name="Shape 363"/>
        <p:cNvGrpSpPr/>
        <p:nvPr/>
      </p:nvGrpSpPr>
      <p:grpSpPr>
        <a:xfrm>
          <a:off x="0" y="0"/>
          <a:ext cx="0" cy="0"/>
          <a:chOff x="0" y="0"/>
          <a:chExt cx="0" cy="0"/>
        </a:xfrm>
      </p:grpSpPr>
      <p:sp>
        <p:nvSpPr>
          <p:cNvPr id="364" name="Google Shape;364;p19"/>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Trade-off #3: Race conditions are real now</a:t>
            </a:r>
            <a:endParaRPr sz="3000">
              <a:solidFill>
                <a:schemeClr val="dk1"/>
              </a:solidFill>
              <a:latin typeface="Calibri"/>
              <a:ea typeface="Calibri"/>
              <a:cs typeface="Calibri"/>
              <a:sym typeface="Calibri"/>
            </a:endParaRPr>
          </a:p>
        </p:txBody>
      </p:sp>
      <p:sp>
        <p:nvSpPr>
          <p:cNvPr id="365" name="Google Shape;365;p19"/>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16</a:t>
            </a:r>
            <a:endParaRPr sz="1400">
              <a:solidFill>
                <a:schemeClr val="dk1"/>
              </a:solidFill>
              <a:latin typeface="Calibri"/>
              <a:ea typeface="Calibri"/>
              <a:cs typeface="Calibri"/>
              <a:sym typeface="Calibri"/>
            </a:endParaRPr>
          </a:p>
        </p:txBody>
      </p:sp>
      <p:sp>
        <p:nvSpPr>
          <p:cNvPr id="366" name="Google Shape;366;p19"/>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67" name="Google Shape;367;p19"/>
          <p:cNvSpPr/>
          <p:nvPr/>
        </p:nvSpPr>
        <p:spPr>
          <a:xfrm>
            <a:off x="457200" y="1097280"/>
            <a:ext cx="11247120" cy="822960"/>
          </a:xfrm>
          <a:prstGeom prst="rect">
            <a:avLst/>
          </a:prstGeom>
          <a:solidFill>
            <a:srgbClr val="F1F5F9"/>
          </a:solidFill>
          <a:ln cap="flat" cmpd="sng" w="254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8" name="Google Shape;368;p19"/>
          <p:cNvPicPr preferRelativeResize="0"/>
          <p:nvPr/>
        </p:nvPicPr>
        <p:blipFill rotWithShape="1">
          <a:blip r:embed="rId3">
            <a:alphaModFix/>
          </a:blip>
          <a:srcRect b="0" l="0" r="0" t="0"/>
          <a:stretch/>
        </p:blipFill>
        <p:spPr>
          <a:xfrm>
            <a:off x="685800" y="1234440"/>
            <a:ext cx="502920" cy="502920"/>
          </a:xfrm>
          <a:prstGeom prst="rect">
            <a:avLst/>
          </a:prstGeom>
          <a:noFill/>
          <a:ln>
            <a:noFill/>
          </a:ln>
        </p:spPr>
      </p:pic>
      <p:sp>
        <p:nvSpPr>
          <p:cNvPr id="369" name="Google Shape;369;p19"/>
          <p:cNvSpPr/>
          <p:nvPr/>
        </p:nvSpPr>
        <p:spPr>
          <a:xfrm>
            <a:off x="1325880" y="1188720"/>
            <a:ext cx="10149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The GIL was an accidental safety net. Removing it shifts thread-safety from "mostly free" to "your problem."</a:t>
            </a:r>
            <a:endParaRPr sz="1400">
              <a:solidFill>
                <a:schemeClr val="dk1"/>
              </a:solidFill>
              <a:latin typeface="Calibri"/>
              <a:ea typeface="Calibri"/>
              <a:cs typeface="Calibri"/>
              <a:sym typeface="Calibri"/>
            </a:endParaRPr>
          </a:p>
        </p:txBody>
      </p:sp>
      <p:sp>
        <p:nvSpPr>
          <p:cNvPr id="370" name="Google Shape;370;p19"/>
          <p:cNvSpPr/>
          <p:nvPr/>
        </p:nvSpPr>
        <p:spPr>
          <a:xfrm>
            <a:off x="457200" y="2103120"/>
            <a:ext cx="11247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Looks innocent. Was always wrong. Now it'll actually fail.</a:t>
            </a:r>
            <a:endParaRPr sz="1300">
              <a:solidFill>
                <a:schemeClr val="dk1"/>
              </a:solidFill>
              <a:latin typeface="Calibri"/>
              <a:ea typeface="Calibri"/>
              <a:cs typeface="Calibri"/>
              <a:sym typeface="Calibri"/>
            </a:endParaRPr>
          </a:p>
        </p:txBody>
      </p:sp>
      <p:sp>
        <p:nvSpPr>
          <p:cNvPr id="371" name="Google Shape;371;p19"/>
          <p:cNvSpPr/>
          <p:nvPr/>
        </p:nvSpPr>
        <p:spPr>
          <a:xfrm>
            <a:off x="457200" y="2468880"/>
            <a:ext cx="11247120" cy="278892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p:nvPr/>
        </p:nvSpPr>
        <p:spPr>
          <a:xfrm>
            <a:off x="594360" y="2560320"/>
            <a:ext cx="10972800" cy="2606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counter = 0</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def increment():</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global counter</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for _ in range(100_000):</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counter += 1     # NOT atomic: load → add → store</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with ThreadPoolExecutor(max_workers=8) as ex:</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for _ in range(8):</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ex.submit(increment)</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Standard 3.14 (GIL):    800000   (correct, by luck)</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300"/>
              <a:buFont typeface="Consolas"/>
              <a:buNone/>
            </a:pPr>
            <a:r>
              <a:rPr lang="en-US" sz="1300">
                <a:solidFill>
                  <a:srgbClr val="E2E8F0"/>
                </a:solidFill>
                <a:latin typeface="Consolas"/>
                <a:ea typeface="Consolas"/>
                <a:cs typeface="Consolas"/>
                <a:sym typeface="Consolas"/>
              </a:rPr>
              <a:t># Free-threaded 3.14t:    ~423718  (lost updates — race)</a:t>
            </a:r>
            <a:endParaRPr sz="1300">
              <a:solidFill>
                <a:schemeClr val="dk1"/>
              </a:solidFill>
              <a:latin typeface="Calibri"/>
              <a:ea typeface="Calibri"/>
              <a:cs typeface="Calibri"/>
              <a:sym typeface="Calibri"/>
            </a:endParaRPr>
          </a:p>
        </p:txBody>
      </p:sp>
      <p:sp>
        <p:nvSpPr>
          <p:cNvPr id="373" name="Google Shape;373;p19"/>
          <p:cNvSpPr/>
          <p:nvPr/>
        </p:nvSpPr>
        <p:spPr>
          <a:xfrm>
            <a:off x="457200" y="5394960"/>
            <a:ext cx="11247120" cy="914400"/>
          </a:xfrm>
          <a:prstGeom prst="rect">
            <a:avLst/>
          </a:prstGeom>
          <a:solidFill>
            <a:srgbClr val="F1F5F9"/>
          </a:solidFill>
          <a:ln cap="flat" cmpd="sng" w="254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4" name="Google Shape;374;p19"/>
          <p:cNvPicPr preferRelativeResize="0"/>
          <p:nvPr/>
        </p:nvPicPr>
        <p:blipFill rotWithShape="1">
          <a:blip r:embed="rId4">
            <a:alphaModFix/>
          </a:blip>
          <a:srcRect b="0" l="0" r="0" t="0"/>
          <a:stretch/>
        </p:blipFill>
        <p:spPr>
          <a:xfrm>
            <a:off x="685800" y="5532120"/>
            <a:ext cx="411480" cy="411480"/>
          </a:xfrm>
          <a:prstGeom prst="rect">
            <a:avLst/>
          </a:prstGeom>
          <a:noFill/>
          <a:ln>
            <a:noFill/>
          </a:ln>
        </p:spPr>
      </p:pic>
      <p:sp>
        <p:nvSpPr>
          <p:cNvPr id="375" name="Google Shape;375;p19"/>
          <p:cNvSpPr/>
          <p:nvPr/>
        </p:nvSpPr>
        <p:spPr>
          <a:xfrm>
            <a:off x="1234440" y="5440680"/>
            <a:ext cx="10332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The fix is what it always should have been:  </a:t>
            </a:r>
            <a:r>
              <a:rPr lang="en-US" sz="1300">
                <a:solidFill>
                  <a:srgbClr val="1E40AF"/>
                </a:solidFill>
                <a:latin typeface="Consolas"/>
                <a:ea typeface="Consolas"/>
                <a:cs typeface="Consolas"/>
                <a:sym typeface="Consolas"/>
              </a:rPr>
              <a:t>lock = threading.Lock(); with lock: counter += 1</a:t>
            </a:r>
            <a:r>
              <a:rPr lang="en-US" sz="1200">
                <a:solidFill>
                  <a:srgbClr val="64748B"/>
                </a:solidFill>
                <a:latin typeface="Calibri"/>
                <a:ea typeface="Calibri"/>
                <a:cs typeface="Calibri"/>
                <a:sym typeface="Calibri"/>
              </a:rPr>
              <a:t>  —  or use queue.Queue, threading.local, atomic primitives, immutable data.</a:t>
            </a:r>
            <a:endParaRPr sz="13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20"/>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400">
                <a:solidFill>
                  <a:srgbClr val="1E293B"/>
                </a:solidFill>
                <a:latin typeface="Calibri"/>
                <a:ea typeface="Calibri"/>
                <a:cs typeface="Calibri"/>
                <a:sym typeface="Calibri"/>
              </a:rPr>
              <a:t>Python 3.10–3.14 highlights (worth knowing when we upgrade)</a:t>
            </a:r>
            <a:endParaRPr/>
          </a:p>
        </p:txBody>
      </p:sp>
      <p:sp>
        <p:nvSpPr>
          <p:cNvPr id="382" name="Google Shape;382;p20"/>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17</a:t>
            </a:r>
            <a:endParaRPr sz="1400">
              <a:solidFill>
                <a:schemeClr val="dk1"/>
              </a:solidFill>
              <a:latin typeface="Calibri"/>
              <a:ea typeface="Calibri"/>
              <a:cs typeface="Calibri"/>
              <a:sym typeface="Calibri"/>
            </a:endParaRPr>
          </a:p>
        </p:txBody>
      </p:sp>
      <p:sp>
        <p:nvSpPr>
          <p:cNvPr id="383" name="Google Shape;383;p20"/>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384" name="Google Shape;384;p20"/>
          <p:cNvSpPr txBox="1"/>
          <p:nvPr/>
        </p:nvSpPr>
        <p:spPr>
          <a:xfrm>
            <a:off x="457200" y="960120"/>
            <a:ext cx="11247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300">
                <a:solidFill>
                  <a:srgbClr val="64748B"/>
                </a:solidFill>
                <a:latin typeface="Calibri"/>
                <a:ea typeface="Calibri"/>
                <a:cs typeface="Calibri"/>
                <a:sym typeface="Calibri"/>
              </a:rPr>
              <a:t>We're on 3.9 today. The upgrade path skips 5 releases — here's what changed that matters.</a:t>
            </a:r>
            <a:endParaRPr/>
          </a:p>
        </p:txBody>
      </p:sp>
      <p:sp>
        <p:nvSpPr>
          <p:cNvPr id="385" name="Google Shape;385;p20"/>
          <p:cNvSpPr/>
          <p:nvPr/>
        </p:nvSpPr>
        <p:spPr>
          <a:xfrm>
            <a:off x="457200" y="1417320"/>
            <a:ext cx="5486400" cy="155448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0"/>
          <p:cNvSpPr/>
          <p:nvPr/>
        </p:nvSpPr>
        <p:spPr>
          <a:xfrm>
            <a:off x="457200" y="1417320"/>
            <a:ext cx="91440" cy="155448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0"/>
          <p:cNvSpPr txBox="1"/>
          <p:nvPr/>
        </p:nvSpPr>
        <p:spPr>
          <a:xfrm>
            <a:off x="685800" y="1527048"/>
            <a:ext cx="5166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600">
                <a:solidFill>
                  <a:srgbClr val="1E293B"/>
                </a:solidFill>
                <a:latin typeface="Calibri"/>
                <a:ea typeface="Calibri"/>
                <a:cs typeface="Calibri"/>
                <a:sym typeface="Calibri"/>
              </a:rPr>
              <a:t>~25% faster CPython</a:t>
            </a:r>
            <a:r>
              <a:rPr lang="en-US" sz="1100">
                <a:solidFill>
                  <a:srgbClr val="64748B"/>
                </a:solidFill>
                <a:latin typeface="Consolas"/>
                <a:ea typeface="Consolas"/>
                <a:cs typeface="Consolas"/>
                <a:sym typeface="Consolas"/>
              </a:rPr>
              <a:t>    (3.11)</a:t>
            </a:r>
            <a:endParaRPr/>
          </a:p>
        </p:txBody>
      </p:sp>
      <p:sp>
        <p:nvSpPr>
          <p:cNvPr id="388" name="Google Shape;388;p20"/>
          <p:cNvSpPr txBox="1"/>
          <p:nvPr/>
        </p:nvSpPr>
        <p:spPr>
          <a:xfrm>
            <a:off x="685800" y="1947672"/>
            <a:ext cx="51663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E293B"/>
                </a:solidFill>
                <a:latin typeface="Calibri"/>
                <a:ea typeface="Calibri"/>
                <a:cs typeface="Calibri"/>
                <a:sym typeface="Calibri"/>
              </a:rPr>
              <a:t>Faster CPython project: specializing adaptive interpreter, optimized frames and calls. Free performance on upgrade.</a:t>
            </a:r>
            <a:endParaRPr/>
          </a:p>
        </p:txBody>
      </p:sp>
      <p:sp>
        <p:nvSpPr>
          <p:cNvPr id="389" name="Google Shape;389;p20"/>
          <p:cNvSpPr/>
          <p:nvPr/>
        </p:nvSpPr>
        <p:spPr>
          <a:xfrm>
            <a:off x="457200" y="3108960"/>
            <a:ext cx="5486400" cy="155448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20"/>
          <p:cNvSpPr/>
          <p:nvPr/>
        </p:nvSpPr>
        <p:spPr>
          <a:xfrm>
            <a:off x="457200" y="3108960"/>
            <a:ext cx="91440" cy="155448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0"/>
          <p:cNvSpPr txBox="1"/>
          <p:nvPr/>
        </p:nvSpPr>
        <p:spPr>
          <a:xfrm>
            <a:off x="685800" y="3218688"/>
            <a:ext cx="5166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600">
                <a:solidFill>
                  <a:srgbClr val="1E293B"/>
                </a:solidFill>
                <a:latin typeface="Calibri"/>
                <a:ea typeface="Calibri"/>
                <a:cs typeface="Calibri"/>
                <a:sym typeface="Calibri"/>
              </a:rPr>
              <a:t>Fine-grained tracebacks</a:t>
            </a:r>
            <a:r>
              <a:rPr lang="en-US" sz="1100">
                <a:solidFill>
                  <a:srgbClr val="64748B"/>
                </a:solidFill>
                <a:latin typeface="Consolas"/>
                <a:ea typeface="Consolas"/>
                <a:cs typeface="Consolas"/>
                <a:sym typeface="Consolas"/>
              </a:rPr>
              <a:t>    (3.11)</a:t>
            </a:r>
            <a:endParaRPr/>
          </a:p>
        </p:txBody>
      </p:sp>
      <p:sp>
        <p:nvSpPr>
          <p:cNvPr id="392" name="Google Shape;392;p20"/>
          <p:cNvSpPr txBox="1"/>
          <p:nvPr/>
        </p:nvSpPr>
        <p:spPr>
          <a:xfrm>
            <a:off x="685800" y="3639312"/>
            <a:ext cx="51663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E293B"/>
                </a:solidFill>
                <a:latin typeface="Calibri"/>
                <a:ea typeface="Calibri"/>
                <a:cs typeface="Calibri"/>
                <a:sym typeface="Calibri"/>
              </a:rPr>
              <a:t>Errors point to the exact sub-expression that failed, not just the line. Huge QoL for prod debugging.</a:t>
            </a:r>
            <a:endParaRPr/>
          </a:p>
        </p:txBody>
      </p:sp>
      <p:sp>
        <p:nvSpPr>
          <p:cNvPr id="393" name="Google Shape;393;p20"/>
          <p:cNvSpPr/>
          <p:nvPr/>
        </p:nvSpPr>
        <p:spPr>
          <a:xfrm>
            <a:off x="457200" y="4800600"/>
            <a:ext cx="5486400" cy="155448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0"/>
          <p:cNvSpPr/>
          <p:nvPr/>
        </p:nvSpPr>
        <p:spPr>
          <a:xfrm>
            <a:off x="457200" y="4800600"/>
            <a:ext cx="91440" cy="155448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0"/>
          <p:cNvSpPr txBox="1"/>
          <p:nvPr/>
        </p:nvSpPr>
        <p:spPr>
          <a:xfrm>
            <a:off x="685800" y="4910328"/>
            <a:ext cx="5166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600">
                <a:solidFill>
                  <a:srgbClr val="1E293B"/>
                </a:solidFill>
                <a:latin typeface="Calibri"/>
                <a:ea typeface="Calibri"/>
                <a:cs typeface="Calibri"/>
                <a:sym typeface="Calibri"/>
              </a:rPr>
              <a:t>match / case</a:t>
            </a:r>
            <a:r>
              <a:rPr lang="en-US" sz="1100">
                <a:solidFill>
                  <a:srgbClr val="64748B"/>
                </a:solidFill>
                <a:latin typeface="Consolas"/>
                <a:ea typeface="Consolas"/>
                <a:cs typeface="Consolas"/>
                <a:sym typeface="Consolas"/>
              </a:rPr>
              <a:t>    (3.10)</a:t>
            </a:r>
            <a:endParaRPr/>
          </a:p>
        </p:txBody>
      </p:sp>
      <p:sp>
        <p:nvSpPr>
          <p:cNvPr id="396" name="Google Shape;396;p20"/>
          <p:cNvSpPr txBox="1"/>
          <p:nvPr/>
        </p:nvSpPr>
        <p:spPr>
          <a:xfrm>
            <a:off x="685800" y="5330952"/>
            <a:ext cx="51663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E293B"/>
                </a:solidFill>
                <a:latin typeface="Calibri"/>
                <a:ea typeface="Calibri"/>
                <a:cs typeface="Calibri"/>
                <a:sym typeface="Calibri"/>
              </a:rPr>
              <a:t>Structural pattern matching. Destructure dicts, tuples, classes, with guards. Great for order type / event dispatch.</a:t>
            </a:r>
            <a:endParaRPr/>
          </a:p>
        </p:txBody>
      </p:sp>
      <p:sp>
        <p:nvSpPr>
          <p:cNvPr id="397" name="Google Shape;397;p20"/>
          <p:cNvSpPr/>
          <p:nvPr/>
        </p:nvSpPr>
        <p:spPr>
          <a:xfrm>
            <a:off x="6217920" y="1417320"/>
            <a:ext cx="5486400" cy="155448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0"/>
          <p:cNvSpPr/>
          <p:nvPr/>
        </p:nvSpPr>
        <p:spPr>
          <a:xfrm>
            <a:off x="6217920" y="1417320"/>
            <a:ext cx="91440" cy="155448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0"/>
          <p:cNvSpPr txBox="1"/>
          <p:nvPr/>
        </p:nvSpPr>
        <p:spPr>
          <a:xfrm>
            <a:off x="6446520" y="1527048"/>
            <a:ext cx="5166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600">
                <a:solidFill>
                  <a:srgbClr val="1E293B"/>
                </a:solidFill>
                <a:latin typeface="Calibri"/>
                <a:ea typeface="Calibri"/>
                <a:cs typeface="Calibri"/>
                <a:sym typeface="Calibri"/>
              </a:rPr>
              <a:t>typing.assert_never</a:t>
            </a:r>
            <a:r>
              <a:rPr lang="en-US" sz="1100">
                <a:solidFill>
                  <a:srgbClr val="64748B"/>
                </a:solidFill>
                <a:latin typeface="Consolas"/>
                <a:ea typeface="Consolas"/>
                <a:cs typeface="Consolas"/>
                <a:sym typeface="Consolas"/>
              </a:rPr>
              <a:t>    (3.11)</a:t>
            </a:r>
            <a:endParaRPr/>
          </a:p>
        </p:txBody>
      </p:sp>
      <p:sp>
        <p:nvSpPr>
          <p:cNvPr id="400" name="Google Shape;400;p20"/>
          <p:cNvSpPr txBox="1"/>
          <p:nvPr/>
        </p:nvSpPr>
        <p:spPr>
          <a:xfrm>
            <a:off x="6446520" y="1947672"/>
            <a:ext cx="51663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E293B"/>
                </a:solidFill>
                <a:latin typeface="Calibri"/>
                <a:ea typeface="Calibri"/>
                <a:cs typeface="Calibri"/>
                <a:sym typeface="Calibri"/>
              </a:rPr>
              <a:t>Exhaustiveness checking at type-check time. Add a new variant and mypy tells you which switch is missing.</a:t>
            </a:r>
            <a:endParaRPr/>
          </a:p>
        </p:txBody>
      </p:sp>
      <p:sp>
        <p:nvSpPr>
          <p:cNvPr id="401" name="Google Shape;401;p20"/>
          <p:cNvSpPr/>
          <p:nvPr/>
        </p:nvSpPr>
        <p:spPr>
          <a:xfrm>
            <a:off x="6217920" y="3108960"/>
            <a:ext cx="5486400" cy="155448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0"/>
          <p:cNvSpPr/>
          <p:nvPr/>
        </p:nvSpPr>
        <p:spPr>
          <a:xfrm>
            <a:off x="6217920" y="3108960"/>
            <a:ext cx="91440" cy="155448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0"/>
          <p:cNvSpPr txBox="1"/>
          <p:nvPr/>
        </p:nvSpPr>
        <p:spPr>
          <a:xfrm>
            <a:off x="6446520" y="3218688"/>
            <a:ext cx="51663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600">
                <a:solidFill>
                  <a:srgbClr val="1E293B"/>
                </a:solidFill>
                <a:latin typeface="Calibri"/>
                <a:ea typeface="Calibri"/>
                <a:cs typeface="Calibri"/>
                <a:sym typeface="Calibri"/>
              </a:rPr>
              <a:t>Modern type syntax</a:t>
            </a:r>
            <a:r>
              <a:rPr lang="en-US" sz="1100">
                <a:solidFill>
                  <a:srgbClr val="64748B"/>
                </a:solidFill>
                <a:latin typeface="Consolas"/>
                <a:ea typeface="Consolas"/>
                <a:cs typeface="Consolas"/>
                <a:sym typeface="Consolas"/>
              </a:rPr>
              <a:t>    (3.10-3.12)</a:t>
            </a:r>
            <a:endParaRPr/>
          </a:p>
        </p:txBody>
      </p:sp>
      <p:sp>
        <p:nvSpPr>
          <p:cNvPr id="404" name="Google Shape;404;p20"/>
          <p:cNvSpPr txBox="1"/>
          <p:nvPr/>
        </p:nvSpPr>
        <p:spPr>
          <a:xfrm>
            <a:off x="6446520" y="3639312"/>
            <a:ext cx="51663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1E293B"/>
                </a:solidFill>
                <a:latin typeface="Calibri"/>
                <a:ea typeface="Calibri"/>
                <a:cs typeface="Calibri"/>
                <a:sym typeface="Calibri"/>
              </a:rPr>
              <a:t>X | Y unions (3.10), class Cache[T]: generics (3.12). typing imports drop by half, code reads cleaner.</a:t>
            </a:r>
            <a:endParaRPr/>
          </a:p>
        </p:txBody>
      </p:sp>
      <p:sp>
        <p:nvSpPr>
          <p:cNvPr id="405" name="Google Shape;405;p20"/>
          <p:cNvSpPr txBox="1"/>
          <p:nvPr/>
        </p:nvSpPr>
        <p:spPr>
          <a:xfrm>
            <a:off x="6217920" y="4480560"/>
            <a:ext cx="5486400" cy="1920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E40AF"/>
                </a:solidFill>
                <a:latin typeface="Calibri"/>
                <a:ea typeface="Calibri"/>
                <a:cs typeface="Calibri"/>
                <a:sym typeface="Calibri"/>
              </a:rPr>
              <a:t>Honorable mentions</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  </a:t>
            </a:r>
            <a:r>
              <a:rPr b="1" lang="en-US" sz="1100">
                <a:solidFill>
                  <a:srgbClr val="1E293B"/>
                </a:solidFill>
                <a:latin typeface="Calibri"/>
                <a:ea typeface="Calibri"/>
                <a:cs typeface="Calibri"/>
                <a:sym typeface="Calibri"/>
              </a:rPr>
              <a:t>Exception Groups + except*</a:t>
            </a:r>
            <a:r>
              <a:rPr lang="en-US" sz="1000">
                <a:solidFill>
                  <a:srgbClr val="64748B"/>
                </a:solidFill>
                <a:latin typeface="Consolas"/>
                <a:ea typeface="Consolas"/>
                <a:cs typeface="Consolas"/>
                <a:sym typeface="Consolas"/>
              </a:rPr>
              <a:t>  (3.11)  </a:t>
            </a:r>
            <a:r>
              <a:rPr lang="en-US" sz="1100">
                <a:solidFill>
                  <a:srgbClr val="64748B"/>
                </a:solidFill>
                <a:latin typeface="Calibri"/>
                <a:ea typeface="Calibri"/>
                <a:cs typeface="Calibri"/>
                <a:sym typeface="Calibri"/>
              </a:rPr>
              <a:t>— handle multiple concurrent failures</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  </a:t>
            </a:r>
            <a:r>
              <a:rPr b="1" lang="en-US" sz="1100">
                <a:solidFill>
                  <a:srgbClr val="1E293B"/>
                </a:solidFill>
                <a:latin typeface="Calibri"/>
                <a:ea typeface="Calibri"/>
                <a:cs typeface="Calibri"/>
                <a:sym typeface="Calibri"/>
              </a:rPr>
              <a:t>tomllib in stdlib</a:t>
            </a:r>
            <a:r>
              <a:rPr lang="en-US" sz="1000">
                <a:solidFill>
                  <a:srgbClr val="64748B"/>
                </a:solidFill>
                <a:latin typeface="Consolas"/>
                <a:ea typeface="Consolas"/>
                <a:cs typeface="Consolas"/>
                <a:sym typeface="Consolas"/>
              </a:rPr>
              <a:t>  (3.11)  </a:t>
            </a:r>
            <a:r>
              <a:rPr lang="en-US" sz="1100">
                <a:solidFill>
                  <a:srgbClr val="64748B"/>
                </a:solidFill>
                <a:latin typeface="Calibri"/>
                <a:ea typeface="Calibri"/>
                <a:cs typeface="Calibri"/>
                <a:sym typeface="Calibri"/>
              </a:rPr>
              <a:t>— read pyproject.toml, no third-party</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  </a:t>
            </a:r>
            <a:r>
              <a:rPr b="1" lang="en-US" sz="1100">
                <a:solidFill>
                  <a:srgbClr val="1E293B"/>
                </a:solidFill>
                <a:latin typeface="Calibri"/>
                <a:ea typeface="Calibri"/>
                <a:cs typeface="Calibri"/>
                <a:sym typeface="Calibri"/>
              </a:rPr>
              <a:t>New REPL</a:t>
            </a:r>
            <a:r>
              <a:rPr lang="en-US" sz="1000">
                <a:solidFill>
                  <a:srgbClr val="64748B"/>
                </a:solidFill>
                <a:latin typeface="Consolas"/>
                <a:ea typeface="Consolas"/>
                <a:cs typeface="Consolas"/>
                <a:sym typeface="Consolas"/>
              </a:rPr>
              <a:t>  (3.13)  </a:t>
            </a:r>
            <a:r>
              <a:rPr lang="en-US" sz="1100">
                <a:solidFill>
                  <a:srgbClr val="64748B"/>
                </a:solidFill>
                <a:latin typeface="Calibri"/>
                <a:ea typeface="Calibri"/>
                <a:cs typeface="Calibri"/>
                <a:sym typeface="Calibri"/>
              </a:rPr>
              <a:t>— multiline editing, syntax highlighting</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  </a:t>
            </a:r>
            <a:r>
              <a:rPr b="1" lang="en-US" sz="1100">
                <a:solidFill>
                  <a:srgbClr val="1E293B"/>
                </a:solidFill>
                <a:latin typeface="Calibri"/>
                <a:ea typeface="Calibri"/>
                <a:cs typeface="Calibri"/>
                <a:sym typeface="Calibri"/>
              </a:rPr>
              <a:t>zip(strict=True)</a:t>
            </a:r>
            <a:r>
              <a:rPr lang="en-US" sz="1000">
                <a:solidFill>
                  <a:srgbClr val="64748B"/>
                </a:solidFill>
                <a:latin typeface="Consolas"/>
                <a:ea typeface="Consolas"/>
                <a:cs typeface="Consolas"/>
                <a:sym typeface="Consolas"/>
              </a:rPr>
              <a:t>  (3.10)  </a:t>
            </a:r>
            <a:r>
              <a:rPr lang="en-US" sz="1100">
                <a:solidFill>
                  <a:srgbClr val="64748B"/>
                </a:solidFill>
                <a:latin typeface="Calibri"/>
                <a:ea typeface="Calibri"/>
                <a:cs typeface="Calibri"/>
                <a:sym typeface="Calibri"/>
              </a:rPr>
              <a:t>— error on length mismatch</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  </a:t>
            </a:r>
            <a:r>
              <a:rPr b="1" lang="en-US" sz="1100">
                <a:solidFill>
                  <a:srgbClr val="1E293B"/>
                </a:solidFill>
                <a:latin typeface="Calibri"/>
                <a:ea typeface="Calibri"/>
                <a:cs typeface="Calibri"/>
                <a:sym typeface="Calibri"/>
              </a:rPr>
              <a:t>New unittest asserts</a:t>
            </a:r>
            <a:r>
              <a:rPr lang="en-US" sz="1000">
                <a:solidFill>
                  <a:srgbClr val="64748B"/>
                </a:solidFill>
                <a:latin typeface="Consolas"/>
                <a:ea typeface="Consolas"/>
                <a:cs typeface="Consolas"/>
                <a:sym typeface="Consolas"/>
              </a:rPr>
              <a:t>  (3.14)  </a:t>
            </a:r>
            <a:r>
              <a:rPr lang="en-US" sz="1100">
                <a:solidFill>
                  <a:srgbClr val="64748B"/>
                </a:solidFill>
                <a:latin typeface="Calibri"/>
                <a:ea typeface="Calibri"/>
                <a:cs typeface="Calibri"/>
                <a:sym typeface="Calibri"/>
              </a:rPr>
              <a:t>— assertStartsWith, assertHasAttr, etc.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21"/>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000">
                <a:solidFill>
                  <a:srgbClr val="1E293B"/>
                </a:solidFill>
                <a:latin typeface="Calibri"/>
                <a:ea typeface="Calibri"/>
                <a:cs typeface="Calibri"/>
                <a:sym typeface="Calibri"/>
              </a:rPr>
              <a:t>Polars + free-threading</a:t>
            </a:r>
            <a:endParaRPr/>
          </a:p>
        </p:txBody>
      </p:sp>
      <p:sp>
        <p:nvSpPr>
          <p:cNvPr id="412" name="Google Shape;412;p21"/>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18</a:t>
            </a:r>
            <a:endParaRPr sz="1400">
              <a:solidFill>
                <a:schemeClr val="dk1"/>
              </a:solidFill>
              <a:latin typeface="Calibri"/>
              <a:ea typeface="Calibri"/>
              <a:cs typeface="Calibri"/>
              <a:sym typeface="Calibri"/>
            </a:endParaRPr>
          </a:p>
        </p:txBody>
      </p:sp>
      <p:sp>
        <p:nvSpPr>
          <p:cNvPr id="413" name="Google Shape;413;p21"/>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414" name="Google Shape;414;p21"/>
          <p:cNvSpPr txBox="1"/>
          <p:nvPr/>
        </p:nvSpPr>
        <p:spPr>
          <a:xfrm>
            <a:off x="457200" y="1051560"/>
            <a:ext cx="1124712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500">
                <a:solidFill>
                  <a:srgbClr val="64748B"/>
                </a:solidFill>
                <a:latin typeface="Calibri"/>
                <a:ea typeface="Calibri"/>
                <a:cs typeface="Calibri"/>
                <a:sym typeface="Calibri"/>
              </a:rPr>
              <a:t>Polars already sidesteps the GIL through Rust. So what does free-threading add?</a:t>
            </a:r>
            <a:endParaRPr/>
          </a:p>
        </p:txBody>
      </p:sp>
      <p:sp>
        <p:nvSpPr>
          <p:cNvPr id="415" name="Google Shape;415;p21"/>
          <p:cNvSpPr/>
          <p:nvPr/>
        </p:nvSpPr>
        <p:spPr>
          <a:xfrm>
            <a:off x="457200" y="1554480"/>
            <a:ext cx="11247120" cy="77724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1"/>
          <p:cNvSpPr txBox="1"/>
          <p:nvPr/>
        </p:nvSpPr>
        <p:spPr>
          <a:xfrm>
            <a:off x="640080" y="1554480"/>
            <a:ext cx="10881360" cy="77724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F59E0B"/>
                </a:solidFill>
                <a:latin typeface="Calibri"/>
                <a:ea typeface="Calibri"/>
                <a:cs typeface="Calibri"/>
                <a:sym typeface="Calibri"/>
              </a:rPr>
              <a:t>Not faster compute — Polars already uses all cores. The win is around Polars, not inside it.</a:t>
            </a:r>
            <a:endParaRPr/>
          </a:p>
        </p:txBody>
      </p:sp>
      <p:sp>
        <p:nvSpPr>
          <p:cNvPr id="417" name="Google Shape;417;p21"/>
          <p:cNvSpPr txBox="1"/>
          <p:nvPr/>
        </p:nvSpPr>
        <p:spPr>
          <a:xfrm>
            <a:off x="457200" y="2514600"/>
            <a:ext cx="5486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0B981"/>
                </a:solidFill>
                <a:latin typeface="Calibri"/>
                <a:ea typeface="Calibri"/>
                <a:cs typeface="Calibri"/>
                <a:sym typeface="Calibri"/>
              </a:rPr>
              <a:t>Where FT genuinely adds value</a:t>
            </a:r>
            <a:endParaRPr/>
          </a:p>
        </p:txBody>
      </p:sp>
      <p:sp>
        <p:nvSpPr>
          <p:cNvPr id="418" name="Google Shape;418;p21"/>
          <p:cNvSpPr/>
          <p:nvPr/>
        </p:nvSpPr>
        <p:spPr>
          <a:xfrm>
            <a:off x="457200" y="2926080"/>
            <a:ext cx="73152" cy="96012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1"/>
          <p:cNvSpPr txBox="1"/>
          <p:nvPr/>
        </p:nvSpPr>
        <p:spPr>
          <a:xfrm>
            <a:off x="658368" y="2926080"/>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Kill multiprocessing overhead</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Per-symbol / per-strategy jobs currently in Pool → drop N× interpreter memory, fork+import, DataFrame pickle.</a:t>
            </a:r>
            <a:endParaRPr/>
          </a:p>
        </p:txBody>
      </p:sp>
      <p:sp>
        <p:nvSpPr>
          <p:cNvPr id="420" name="Google Shape;420;p21"/>
          <p:cNvSpPr/>
          <p:nvPr/>
        </p:nvSpPr>
        <p:spPr>
          <a:xfrm>
            <a:off x="457200" y="3977639"/>
            <a:ext cx="73152" cy="96012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1"/>
          <p:cNvSpPr txBox="1"/>
          <p:nvPr/>
        </p:nvSpPr>
        <p:spPr>
          <a:xfrm>
            <a:off x="658368" y="3977639"/>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Parallelize Python glue code</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Outer for-loops, conditional dispatch, custom aggregation across Polars results — the parts that were still GIL-bound.</a:t>
            </a:r>
            <a:endParaRPr/>
          </a:p>
        </p:txBody>
      </p:sp>
      <p:sp>
        <p:nvSpPr>
          <p:cNvPr id="422" name="Google Shape;422;p21"/>
          <p:cNvSpPr/>
          <p:nvPr/>
        </p:nvSpPr>
        <p:spPr>
          <a:xfrm>
            <a:off x="457200" y="5029200"/>
            <a:ext cx="73152" cy="96012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1"/>
          <p:cNvSpPr txBox="1"/>
          <p:nvPr/>
        </p:nvSpPr>
        <p:spPr>
          <a:xfrm>
            <a:off x="658368" y="5029200"/>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Share DataFrames across threads</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Manager proxies gone. Cross-worker state (caches, running signals) becomes plain Python objects + threading.Lock.</a:t>
            </a:r>
            <a:endParaRPr/>
          </a:p>
        </p:txBody>
      </p:sp>
      <p:sp>
        <p:nvSpPr>
          <p:cNvPr id="424" name="Google Shape;424;p21"/>
          <p:cNvSpPr txBox="1"/>
          <p:nvPr/>
        </p:nvSpPr>
        <p:spPr>
          <a:xfrm>
            <a:off x="6217920" y="2514600"/>
            <a:ext cx="5486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F4444"/>
                </a:solidFill>
                <a:latin typeface="Calibri"/>
                <a:ea typeface="Calibri"/>
                <a:cs typeface="Calibri"/>
                <a:sym typeface="Calibri"/>
              </a:rPr>
              <a:t>Where FT does not change anything</a:t>
            </a:r>
            <a:endParaRPr/>
          </a:p>
        </p:txBody>
      </p:sp>
      <p:sp>
        <p:nvSpPr>
          <p:cNvPr id="425" name="Google Shape;425;p21"/>
          <p:cNvSpPr/>
          <p:nvPr/>
        </p:nvSpPr>
        <p:spPr>
          <a:xfrm>
            <a:off x="6217920" y="2926080"/>
            <a:ext cx="73152" cy="96012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1"/>
          <p:cNvSpPr txBox="1"/>
          <p:nvPr/>
        </p:nvSpPr>
        <p:spPr>
          <a:xfrm>
            <a:off x="6419088" y="2926080"/>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Individual Polars operations</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df.group_by().agg() etc. already run parallel via Rust/Rayon. FT can't make one op faster.</a:t>
            </a:r>
            <a:endParaRPr/>
          </a:p>
        </p:txBody>
      </p:sp>
      <p:sp>
        <p:nvSpPr>
          <p:cNvPr id="427" name="Google Shape;427;p21"/>
          <p:cNvSpPr/>
          <p:nvPr/>
        </p:nvSpPr>
        <p:spPr>
          <a:xfrm>
            <a:off x="6217920" y="3977639"/>
            <a:ext cx="73152" cy="96012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1"/>
          <p:cNvSpPr txBox="1"/>
          <p:nvPr/>
        </p:nvSpPr>
        <p:spPr>
          <a:xfrm>
            <a:off x="6419088" y="3977639"/>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Pure lazy pipelines with .collect()</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Query optimizer + streaming engine already saturates cores. Single .collect() call = same speed.</a:t>
            </a:r>
            <a:endParaRPr/>
          </a:p>
        </p:txBody>
      </p:sp>
      <p:sp>
        <p:nvSpPr>
          <p:cNvPr id="429" name="Google Shape;429;p21"/>
          <p:cNvSpPr/>
          <p:nvPr/>
        </p:nvSpPr>
        <p:spPr>
          <a:xfrm>
            <a:off x="6217920" y="5029200"/>
            <a:ext cx="73152" cy="96012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1"/>
          <p:cNvSpPr txBox="1"/>
          <p:nvPr/>
        </p:nvSpPr>
        <p:spPr>
          <a:xfrm>
            <a:off x="6419088" y="5029200"/>
            <a:ext cx="521208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1E293B"/>
                </a:solidFill>
                <a:latin typeface="Calibri"/>
                <a:ea typeface="Calibri"/>
                <a:cs typeface="Calibri"/>
                <a:sym typeface="Calibri"/>
              </a:rPr>
              <a:t>Beware: Python lambdas in map_elements()</a:t>
            </a:r>
            <a:endParaRPr/>
          </a:p>
          <a:p>
            <a:pPr indent="0" lvl="0" marL="0" marR="0" rtl="0" algn="l">
              <a:spcBef>
                <a:spcPts val="0"/>
              </a:spcBef>
              <a:spcAft>
                <a:spcPts val="0"/>
              </a:spcAft>
              <a:buNone/>
            </a:pPr>
            <a:r>
              <a:rPr lang="en-US" sz="1100">
                <a:solidFill>
                  <a:srgbClr val="64748B"/>
                </a:solidFill>
                <a:latin typeface="Calibri"/>
                <a:ea typeface="Calibri"/>
                <a:cs typeface="Calibri"/>
                <a:sym typeface="Calibri"/>
              </a:rPr>
              <a:t>map_elements(lambda x: ...) forces Polars to reacquire GIL per row. Slow with or without FT.</a:t>
            </a:r>
            <a:endParaRPr/>
          </a:p>
        </p:txBody>
      </p:sp>
      <p:sp>
        <p:nvSpPr>
          <p:cNvPr id="431" name="Google Shape;431;p21"/>
          <p:cNvSpPr txBox="1"/>
          <p:nvPr/>
        </p:nvSpPr>
        <p:spPr>
          <a:xfrm>
            <a:off x="457200" y="6126480"/>
            <a:ext cx="11247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300">
                <a:solidFill>
                  <a:srgbClr val="1E40AF"/>
                </a:solidFill>
                <a:latin typeface="Calibri"/>
                <a:ea typeface="Calibri"/>
                <a:cs typeface="Calibri"/>
                <a:sym typeface="Calibri"/>
              </a:rPr>
              <a:t>→ Concrete example next: 200-symbol factor pipeline, before vs after.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2"/>
          <p:cNvSpPr txBox="1"/>
          <p:nvPr/>
        </p:nvSpPr>
        <p:spPr>
          <a:xfrm>
            <a:off x="457200" y="320040"/>
            <a:ext cx="1051560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E293B"/>
                </a:solidFill>
                <a:latin typeface="Calibri"/>
                <a:ea typeface="Calibri"/>
                <a:cs typeface="Calibri"/>
                <a:sym typeface="Calibri"/>
              </a:rPr>
              <a:t>Polars migration: 200-symbol factor pipeline</a:t>
            </a:r>
            <a:endParaRPr/>
          </a:p>
        </p:txBody>
      </p:sp>
      <p:sp>
        <p:nvSpPr>
          <p:cNvPr id="437" name="Google Shape;437;p22"/>
          <p:cNvSpPr txBox="1"/>
          <p:nvPr/>
        </p:nvSpPr>
        <p:spPr>
          <a:xfrm>
            <a:off x="10789920" y="320040"/>
            <a:ext cx="914400" cy="64008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400">
                <a:solidFill>
                  <a:srgbClr val="94A3B8"/>
                </a:solidFill>
                <a:latin typeface="Consolas"/>
                <a:ea typeface="Consolas"/>
                <a:cs typeface="Consolas"/>
                <a:sym typeface="Consolas"/>
              </a:rPr>
              <a:t>19</a:t>
            </a:r>
            <a:endParaRPr/>
          </a:p>
        </p:txBody>
      </p:sp>
      <p:sp>
        <p:nvSpPr>
          <p:cNvPr id="438" name="Google Shape;438;p22"/>
          <p:cNvSpPr txBox="1"/>
          <p:nvPr/>
        </p:nvSpPr>
        <p:spPr>
          <a:xfrm>
            <a:off x="457200" y="6446520"/>
            <a:ext cx="112471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rgbClr val="94A3B8"/>
                </a:solidFill>
                <a:latin typeface="Calibri"/>
                <a:ea typeface="Calibri"/>
                <a:cs typeface="Calibri"/>
                <a:sym typeface="Calibri"/>
              </a:rPr>
              <a:t>Python 3.14 Free-Threading  |  Internal Tech Talk</a:t>
            </a:r>
            <a:endParaRPr/>
          </a:p>
        </p:txBody>
      </p:sp>
      <p:sp>
        <p:nvSpPr>
          <p:cNvPr id="439" name="Google Shape;439;p22"/>
          <p:cNvSpPr txBox="1"/>
          <p:nvPr/>
        </p:nvSpPr>
        <p:spPr>
          <a:xfrm>
            <a:off x="457200" y="1051560"/>
            <a:ext cx="11247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300">
                <a:solidFill>
                  <a:srgbClr val="64748B"/>
                </a:solidFill>
                <a:latin typeface="Calibri"/>
                <a:ea typeface="Calibri"/>
                <a:cs typeface="Calibri"/>
                <a:sym typeface="Calibri"/>
              </a:rPr>
              <a:t>Same Polars queries — only the outer parallelism model changes.</a:t>
            </a:r>
            <a:endParaRPr/>
          </a:p>
        </p:txBody>
      </p:sp>
      <p:sp>
        <p:nvSpPr>
          <p:cNvPr id="440" name="Google Shape;440;p22"/>
          <p:cNvSpPr txBox="1"/>
          <p:nvPr/>
        </p:nvSpPr>
        <p:spPr>
          <a:xfrm>
            <a:off x="457200" y="1463040"/>
            <a:ext cx="5486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F4444"/>
                </a:solidFill>
                <a:latin typeface="Calibri"/>
                <a:ea typeface="Calibri"/>
                <a:cs typeface="Calibri"/>
                <a:sym typeface="Calibri"/>
              </a:rPr>
              <a:t>Before: multiprocessing + Polars</a:t>
            </a:r>
            <a:endParaRPr/>
          </a:p>
        </p:txBody>
      </p:sp>
      <p:sp>
        <p:nvSpPr>
          <p:cNvPr id="441" name="Google Shape;441;p22"/>
          <p:cNvSpPr txBox="1"/>
          <p:nvPr/>
        </p:nvSpPr>
        <p:spPr>
          <a:xfrm>
            <a:off x="6217920" y="1463040"/>
            <a:ext cx="5486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0B981"/>
                </a:solidFill>
                <a:latin typeface="Calibri"/>
                <a:ea typeface="Calibri"/>
                <a:cs typeface="Calibri"/>
                <a:sym typeface="Calibri"/>
              </a:rPr>
              <a:t>After: free-threading + Polars</a:t>
            </a:r>
            <a:endParaRPr/>
          </a:p>
        </p:txBody>
      </p:sp>
      <p:sp>
        <p:nvSpPr>
          <p:cNvPr id="442" name="Google Shape;442;p22"/>
          <p:cNvSpPr/>
          <p:nvPr/>
        </p:nvSpPr>
        <p:spPr>
          <a:xfrm>
            <a:off x="457200" y="1874519"/>
            <a:ext cx="5486400" cy="356616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2"/>
          <p:cNvSpPr txBox="1"/>
          <p:nvPr/>
        </p:nvSpPr>
        <p:spPr>
          <a:xfrm>
            <a:off x="594360" y="1965960"/>
            <a:ext cx="5212080" cy="3383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2E8F0"/>
                </a:solidFill>
                <a:latin typeface="Consolas"/>
                <a:ea typeface="Consolas"/>
                <a:cs typeface="Consolas"/>
                <a:sym typeface="Consolas"/>
              </a:rPr>
              <a:t>import polars as pl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from multiprocessing import Pool</a:t>
            </a:r>
            <a:endParaRPr/>
          </a:p>
          <a:p>
            <a:pPr indent="0" lvl="0" marL="0" marR="0" rtl="0" algn="l">
              <a:spcBef>
                <a:spcPts val="0"/>
              </a:spcBef>
              <a:spcAft>
                <a:spcPts val="0"/>
              </a:spcAft>
              <a:buNone/>
            </a:pPr>
            <a:r>
              <a:t/>
            </a:r>
            <a:endParaRPr sz="11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def process_symbol(sym):</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df = pl.read_parquet(f"data/{sym}.parquet")</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return (</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df.lazy()</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.with_columns([</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pl.col("ret").rolling_std(20).alias("vol"),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pl.col("ret").rolling_mean(60).alias("mom"),</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.group_by("date")</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.agg([pl.col("vol").mean(), pl.col("mom").mean()])</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.collect()</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t>
            </a:r>
            <a:endParaRPr/>
          </a:p>
          <a:p>
            <a:pPr indent="0" lvl="0" marL="0" marR="0" rtl="0" algn="l">
              <a:spcBef>
                <a:spcPts val="0"/>
              </a:spcBef>
              <a:spcAft>
                <a:spcPts val="0"/>
              </a:spcAft>
              <a:buNone/>
            </a:pPr>
            <a:r>
              <a:t/>
            </a:r>
            <a:endParaRPr sz="11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if __name__ == "__main__":</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with Pool(processes=8) as pool: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results = pool.map(process_symbol, symbols)</a:t>
            </a:r>
            <a:endParaRPr/>
          </a:p>
        </p:txBody>
      </p:sp>
      <p:sp>
        <p:nvSpPr>
          <p:cNvPr id="444" name="Google Shape;444;p22"/>
          <p:cNvSpPr/>
          <p:nvPr/>
        </p:nvSpPr>
        <p:spPr>
          <a:xfrm>
            <a:off x="6217920" y="1874519"/>
            <a:ext cx="5486400" cy="356616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2"/>
          <p:cNvSpPr txBox="1"/>
          <p:nvPr/>
        </p:nvSpPr>
        <p:spPr>
          <a:xfrm>
            <a:off x="6355080" y="1965960"/>
            <a:ext cx="5212080" cy="3383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2E8F0"/>
                </a:solidFill>
                <a:latin typeface="Consolas"/>
                <a:ea typeface="Consolas"/>
                <a:cs typeface="Consolas"/>
                <a:sym typeface="Consolas"/>
              </a:rPr>
              <a:t>import polars as pl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from concurrent.futures import ThreadPoolExecutor</a:t>
            </a:r>
            <a:endParaRPr/>
          </a:p>
          <a:p>
            <a:pPr indent="0" lvl="0" marL="0" marR="0" rtl="0" algn="l">
              <a:spcBef>
                <a:spcPts val="0"/>
              </a:spcBef>
              <a:spcAft>
                <a:spcPts val="0"/>
              </a:spcAft>
              <a:buNone/>
            </a:pPr>
            <a:r>
              <a:t/>
            </a:r>
            <a:endParaRPr sz="11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def process_symbol(sym):</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df = pl.read_parquet(f"data/{sym}.parquet")</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return (</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df.lazy()</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.with_columns([                        # identical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pl.col("ret").rolling_std(20).alias("vol"),</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pl.col("ret").rolling_mean(60).alias("mom"),</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.group_by("date")</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.agg([pl.col("vol").mean(), pl.col("mom").mean()])</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.collect()</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a:t>
            </a:r>
            <a:endParaRPr/>
          </a:p>
          <a:p>
            <a:pPr indent="0" lvl="0" marL="0" marR="0" rtl="0" algn="l">
              <a:spcBef>
                <a:spcPts val="0"/>
              </a:spcBef>
              <a:spcAft>
                <a:spcPts val="0"/>
              </a:spcAft>
              <a:buNone/>
            </a:pPr>
            <a:r>
              <a:t/>
            </a:r>
            <a:endParaRPr sz="1100">
              <a:solidFill>
                <a:srgbClr val="E2E8F0"/>
              </a:solidFill>
              <a:latin typeface="Consolas"/>
              <a:ea typeface="Consolas"/>
              <a:cs typeface="Consolas"/>
              <a:sym typeface="Consolas"/>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with ThreadPoolExecutor(max_workers=8) as ex:</a:t>
            </a:r>
            <a:endParaRPr/>
          </a:p>
          <a:p>
            <a:pPr indent="0" lvl="0" marL="0" marR="0" rtl="0" algn="l">
              <a:spcBef>
                <a:spcPts val="0"/>
              </a:spcBef>
              <a:spcAft>
                <a:spcPts val="0"/>
              </a:spcAft>
              <a:buNone/>
            </a:pPr>
            <a:r>
              <a:rPr lang="en-US" sz="1100">
                <a:solidFill>
                  <a:srgbClr val="E2E8F0"/>
                </a:solidFill>
                <a:latin typeface="Consolas"/>
                <a:ea typeface="Consolas"/>
                <a:cs typeface="Consolas"/>
                <a:sym typeface="Consolas"/>
              </a:rPr>
              <a:t>    results = list(ex.map(process_symbol, symbols))</a:t>
            </a:r>
            <a:endParaRPr/>
          </a:p>
        </p:txBody>
      </p:sp>
      <p:sp>
        <p:nvSpPr>
          <p:cNvPr id="446" name="Google Shape;446;p22"/>
          <p:cNvSpPr txBox="1"/>
          <p:nvPr/>
        </p:nvSpPr>
        <p:spPr>
          <a:xfrm>
            <a:off x="457200" y="5532120"/>
            <a:ext cx="11247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300">
                <a:solidFill>
                  <a:srgbClr val="64748B"/>
                </a:solidFill>
                <a:latin typeface="Calibri"/>
                <a:ea typeface="Calibri"/>
                <a:cs typeface="Calibri"/>
                <a:sym typeface="Calibri"/>
              </a:rPr>
              <a:t>Same DataFrame results. What changes underneath:</a:t>
            </a:r>
            <a:endParaRPr/>
          </a:p>
        </p:txBody>
      </p:sp>
      <p:sp>
        <p:nvSpPr>
          <p:cNvPr id="447" name="Google Shape;447;p22"/>
          <p:cNvSpPr/>
          <p:nvPr/>
        </p:nvSpPr>
        <p:spPr>
          <a:xfrm>
            <a:off x="457200" y="5897880"/>
            <a:ext cx="2743200" cy="54864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2"/>
          <p:cNvSpPr txBox="1"/>
          <p:nvPr/>
        </p:nvSpPr>
        <p:spPr>
          <a:xfrm>
            <a:off x="548640" y="5943600"/>
            <a:ext cx="256032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rgbClr val="1E293B"/>
                </a:solidFill>
                <a:latin typeface="Calibri"/>
                <a:ea typeface="Calibri"/>
                <a:cs typeface="Calibri"/>
                <a:sym typeface="Calibri"/>
              </a:rPr>
              <a:t>Startup</a:t>
            </a:r>
            <a:endParaRPr/>
          </a:p>
        </p:txBody>
      </p:sp>
      <p:sp>
        <p:nvSpPr>
          <p:cNvPr id="449" name="Google Shape;449;p22"/>
          <p:cNvSpPr txBox="1"/>
          <p:nvPr/>
        </p:nvSpPr>
        <p:spPr>
          <a:xfrm>
            <a:off x="548640" y="6153912"/>
            <a:ext cx="25603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F4444"/>
                </a:solidFill>
                <a:latin typeface="Calibri"/>
                <a:ea typeface="Calibri"/>
                <a:cs typeface="Calibri"/>
                <a:sym typeface="Calibri"/>
              </a:rPr>
              <a:t>3–5s</a:t>
            </a:r>
            <a:r>
              <a:rPr lang="en-US" sz="1100">
                <a:solidFill>
                  <a:srgbClr val="64748B"/>
                </a:solidFill>
                <a:latin typeface="Calibri"/>
                <a:ea typeface="Calibri"/>
                <a:cs typeface="Calibri"/>
                <a:sym typeface="Calibri"/>
              </a:rPr>
              <a:t>  →  </a:t>
            </a:r>
            <a:r>
              <a:rPr b="1" lang="en-US" sz="1100">
                <a:solidFill>
                  <a:srgbClr val="10B981"/>
                </a:solidFill>
                <a:latin typeface="Calibri"/>
                <a:ea typeface="Calibri"/>
                <a:cs typeface="Calibri"/>
                <a:sym typeface="Calibri"/>
              </a:rPr>
              <a:t>&lt;1s</a:t>
            </a:r>
            <a:endParaRPr/>
          </a:p>
        </p:txBody>
      </p:sp>
      <p:sp>
        <p:nvSpPr>
          <p:cNvPr id="450" name="Google Shape;450;p22"/>
          <p:cNvSpPr/>
          <p:nvPr/>
        </p:nvSpPr>
        <p:spPr>
          <a:xfrm>
            <a:off x="3291840" y="5897880"/>
            <a:ext cx="2743200" cy="54864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2"/>
          <p:cNvSpPr txBox="1"/>
          <p:nvPr/>
        </p:nvSpPr>
        <p:spPr>
          <a:xfrm>
            <a:off x="3383280" y="5943600"/>
            <a:ext cx="256032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rgbClr val="1E293B"/>
                </a:solidFill>
                <a:latin typeface="Calibri"/>
                <a:ea typeface="Calibri"/>
                <a:cs typeface="Calibri"/>
                <a:sym typeface="Calibri"/>
              </a:rPr>
              <a:t>Base memory</a:t>
            </a:r>
            <a:endParaRPr/>
          </a:p>
        </p:txBody>
      </p:sp>
      <p:sp>
        <p:nvSpPr>
          <p:cNvPr id="452" name="Google Shape;452;p22"/>
          <p:cNvSpPr txBox="1"/>
          <p:nvPr/>
        </p:nvSpPr>
        <p:spPr>
          <a:xfrm>
            <a:off x="3383280" y="6153912"/>
            <a:ext cx="25603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F4444"/>
                </a:solidFill>
                <a:latin typeface="Calibri"/>
                <a:ea typeface="Calibri"/>
                <a:cs typeface="Calibri"/>
                <a:sym typeface="Calibri"/>
              </a:rPr>
              <a:t>~12 GB</a:t>
            </a:r>
            <a:r>
              <a:rPr lang="en-US" sz="1100">
                <a:solidFill>
                  <a:srgbClr val="64748B"/>
                </a:solidFill>
                <a:latin typeface="Calibri"/>
                <a:ea typeface="Calibri"/>
                <a:cs typeface="Calibri"/>
                <a:sym typeface="Calibri"/>
              </a:rPr>
              <a:t>  →  </a:t>
            </a:r>
            <a:r>
              <a:rPr b="1" lang="en-US" sz="1100">
                <a:solidFill>
                  <a:srgbClr val="10B981"/>
                </a:solidFill>
                <a:latin typeface="Calibri"/>
                <a:ea typeface="Calibri"/>
                <a:cs typeface="Calibri"/>
                <a:sym typeface="Calibri"/>
              </a:rPr>
              <a:t>~2 GB</a:t>
            </a:r>
            <a:endParaRPr/>
          </a:p>
        </p:txBody>
      </p:sp>
      <p:sp>
        <p:nvSpPr>
          <p:cNvPr id="453" name="Google Shape;453;p22"/>
          <p:cNvSpPr/>
          <p:nvPr/>
        </p:nvSpPr>
        <p:spPr>
          <a:xfrm>
            <a:off x="6126480" y="5897880"/>
            <a:ext cx="2743200" cy="54864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2"/>
          <p:cNvSpPr txBox="1"/>
          <p:nvPr/>
        </p:nvSpPr>
        <p:spPr>
          <a:xfrm>
            <a:off x="6217920" y="5943600"/>
            <a:ext cx="256032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rgbClr val="1E293B"/>
                </a:solidFill>
                <a:latin typeface="Calibri"/>
                <a:ea typeface="Calibri"/>
                <a:cs typeface="Calibri"/>
                <a:sym typeface="Calibri"/>
              </a:rPr>
              <a:t>Result marshalling</a:t>
            </a:r>
            <a:endParaRPr/>
          </a:p>
        </p:txBody>
      </p:sp>
      <p:sp>
        <p:nvSpPr>
          <p:cNvPr id="455" name="Google Shape;455;p22"/>
          <p:cNvSpPr txBox="1"/>
          <p:nvPr/>
        </p:nvSpPr>
        <p:spPr>
          <a:xfrm>
            <a:off x="6217920" y="6153912"/>
            <a:ext cx="25603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F4444"/>
                </a:solidFill>
                <a:latin typeface="Calibri"/>
                <a:ea typeface="Calibri"/>
                <a:cs typeface="Calibri"/>
                <a:sym typeface="Calibri"/>
              </a:rPr>
              <a:t>pickle every DF</a:t>
            </a:r>
            <a:r>
              <a:rPr lang="en-US" sz="1100">
                <a:solidFill>
                  <a:srgbClr val="64748B"/>
                </a:solidFill>
                <a:latin typeface="Calibri"/>
                <a:ea typeface="Calibri"/>
                <a:cs typeface="Calibri"/>
                <a:sym typeface="Calibri"/>
              </a:rPr>
              <a:t>  →  </a:t>
            </a:r>
            <a:r>
              <a:rPr b="1" lang="en-US" sz="1100">
                <a:solidFill>
                  <a:srgbClr val="10B981"/>
                </a:solidFill>
                <a:latin typeface="Calibri"/>
                <a:ea typeface="Calibri"/>
                <a:cs typeface="Calibri"/>
                <a:sym typeface="Calibri"/>
              </a:rPr>
              <a:t>shared reference</a:t>
            </a:r>
            <a:endParaRPr/>
          </a:p>
        </p:txBody>
      </p:sp>
      <p:sp>
        <p:nvSpPr>
          <p:cNvPr id="456" name="Google Shape;456;p22"/>
          <p:cNvSpPr/>
          <p:nvPr/>
        </p:nvSpPr>
        <p:spPr>
          <a:xfrm>
            <a:off x="8961120" y="5897880"/>
            <a:ext cx="2743200" cy="548640"/>
          </a:xfrm>
          <a:prstGeom prst="rect">
            <a:avLst/>
          </a:prstGeom>
          <a:solidFill>
            <a:srgbClr val="F1F5F9"/>
          </a:solidFill>
          <a:ln cap="flat" cmpd="sng" w="9525">
            <a:solidFill>
              <a:srgbClr val="CBD5E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2"/>
          <p:cNvSpPr txBox="1"/>
          <p:nvPr/>
        </p:nvSpPr>
        <p:spPr>
          <a:xfrm>
            <a:off x="9052560" y="5943600"/>
            <a:ext cx="256032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rgbClr val="1E293B"/>
                </a:solidFill>
                <a:latin typeface="Calibri"/>
                <a:ea typeface="Calibri"/>
                <a:cs typeface="Calibri"/>
                <a:sym typeface="Calibri"/>
              </a:rPr>
              <a:t>Core contention</a:t>
            </a:r>
            <a:endParaRPr/>
          </a:p>
        </p:txBody>
      </p:sp>
      <p:sp>
        <p:nvSpPr>
          <p:cNvPr id="458" name="Google Shape;458;p22"/>
          <p:cNvSpPr txBox="1"/>
          <p:nvPr/>
        </p:nvSpPr>
        <p:spPr>
          <a:xfrm>
            <a:off x="9052560" y="6153912"/>
            <a:ext cx="25603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EF4444"/>
                </a:solidFill>
                <a:latin typeface="Calibri"/>
                <a:ea typeface="Calibri"/>
                <a:cs typeface="Calibri"/>
                <a:sym typeface="Calibri"/>
              </a:rPr>
              <a:t>8 arenas fight</a:t>
            </a:r>
            <a:r>
              <a:rPr lang="en-US" sz="1100">
                <a:solidFill>
                  <a:srgbClr val="64748B"/>
                </a:solidFill>
                <a:latin typeface="Calibri"/>
                <a:ea typeface="Calibri"/>
                <a:cs typeface="Calibri"/>
                <a:sym typeface="Calibri"/>
              </a:rPr>
              <a:t>  →  </a:t>
            </a:r>
            <a:r>
              <a:rPr b="1" lang="en-US" sz="1100">
                <a:solidFill>
                  <a:srgbClr val="10B981"/>
                </a:solidFill>
                <a:latin typeface="Calibri"/>
                <a:ea typeface="Calibri"/>
                <a:cs typeface="Calibri"/>
                <a:sym typeface="Calibri"/>
              </a:rPr>
              <a:t>1 arena, cleaner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3" name="Shape 463"/>
        <p:cNvGrpSpPr/>
        <p:nvPr/>
      </p:nvGrpSpPr>
      <p:grpSpPr>
        <a:xfrm>
          <a:off x="0" y="0"/>
          <a:ext cx="0" cy="0"/>
          <a:chOff x="0" y="0"/>
          <a:chExt cx="0" cy="0"/>
        </a:xfrm>
      </p:grpSpPr>
      <p:sp>
        <p:nvSpPr>
          <p:cNvPr id="464" name="Google Shape;464;p23"/>
          <p:cNvSpPr/>
          <p:nvPr/>
        </p:nvSpPr>
        <p:spPr>
          <a:xfrm>
            <a:off x="457200" y="320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Calibri"/>
              <a:buNone/>
            </a:pPr>
            <a:r>
              <a:rPr b="1" lang="en-US" sz="3000">
                <a:solidFill>
                  <a:srgbClr val="1E293B"/>
                </a:solidFill>
                <a:latin typeface="Calibri"/>
                <a:ea typeface="Calibri"/>
                <a:cs typeface="Calibri"/>
                <a:sym typeface="Calibri"/>
              </a:rPr>
              <a:t>How to adopt — incrementally</a:t>
            </a:r>
            <a:endParaRPr sz="3000">
              <a:solidFill>
                <a:schemeClr val="dk1"/>
              </a:solidFill>
              <a:latin typeface="Calibri"/>
              <a:ea typeface="Calibri"/>
              <a:cs typeface="Calibri"/>
              <a:sym typeface="Calibri"/>
            </a:endParaRPr>
          </a:p>
        </p:txBody>
      </p:sp>
      <p:sp>
        <p:nvSpPr>
          <p:cNvPr id="465" name="Google Shape;465;p23"/>
          <p:cNvSpPr/>
          <p:nvPr/>
        </p:nvSpPr>
        <p:spPr>
          <a:xfrm>
            <a:off x="10789920" y="320040"/>
            <a:ext cx="91440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400"/>
              <a:buFont typeface="Consolas"/>
              <a:buNone/>
            </a:pPr>
            <a:r>
              <a:rPr lang="en-US" sz="1400">
                <a:solidFill>
                  <a:srgbClr val="94A3B8"/>
                </a:solidFill>
                <a:latin typeface="Consolas"/>
                <a:ea typeface="Consolas"/>
                <a:cs typeface="Consolas"/>
                <a:sym typeface="Consolas"/>
              </a:rPr>
              <a:t>19</a:t>
            </a:r>
            <a:endParaRPr sz="1400">
              <a:solidFill>
                <a:schemeClr val="dk1"/>
              </a:solidFill>
              <a:latin typeface="Calibri"/>
              <a:ea typeface="Calibri"/>
              <a:cs typeface="Calibri"/>
              <a:sym typeface="Calibri"/>
            </a:endParaRPr>
          </a:p>
        </p:txBody>
      </p:sp>
      <p:sp>
        <p:nvSpPr>
          <p:cNvPr id="466" name="Google Shape;466;p23"/>
          <p:cNvSpPr/>
          <p:nvPr/>
        </p:nvSpPr>
        <p:spPr>
          <a:xfrm>
            <a:off x="457200" y="6446520"/>
            <a:ext cx="11247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lang="en-US" sz="900">
                <a:solidFill>
                  <a:srgbClr val="94A3B8"/>
                </a:solidFill>
                <a:latin typeface="Calibri"/>
                <a:ea typeface="Calibri"/>
                <a:cs typeface="Calibri"/>
                <a:sym typeface="Calibri"/>
              </a:rPr>
              <a:t>Python 3.14 Free-Threading  |  Internal Tech Talk</a:t>
            </a:r>
            <a:endParaRPr sz="900">
              <a:solidFill>
                <a:schemeClr val="dk1"/>
              </a:solidFill>
              <a:latin typeface="Calibri"/>
              <a:ea typeface="Calibri"/>
              <a:cs typeface="Calibri"/>
              <a:sym typeface="Calibri"/>
            </a:endParaRPr>
          </a:p>
        </p:txBody>
      </p:sp>
      <p:sp>
        <p:nvSpPr>
          <p:cNvPr id="467" name="Google Shape;467;p23"/>
          <p:cNvSpPr/>
          <p:nvPr/>
        </p:nvSpPr>
        <p:spPr>
          <a:xfrm>
            <a:off x="457200" y="1051560"/>
            <a:ext cx="11247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i="1" lang="en-US" sz="1400">
                <a:solidFill>
                  <a:srgbClr val="64748B"/>
                </a:solidFill>
                <a:latin typeface="Calibri"/>
                <a:ea typeface="Calibri"/>
                <a:cs typeface="Calibri"/>
                <a:sym typeface="Calibri"/>
              </a:rPr>
              <a:t>Don't flip the whole codebase. Pick one job, prove the win, expand.</a:t>
            </a:r>
            <a:endParaRPr sz="1400">
              <a:solidFill>
                <a:schemeClr val="dk1"/>
              </a:solidFill>
              <a:latin typeface="Calibri"/>
              <a:ea typeface="Calibri"/>
              <a:cs typeface="Calibri"/>
              <a:sym typeface="Calibri"/>
            </a:endParaRPr>
          </a:p>
        </p:txBody>
      </p:sp>
      <p:sp>
        <p:nvSpPr>
          <p:cNvPr id="468" name="Google Shape;468;p23"/>
          <p:cNvSpPr/>
          <p:nvPr/>
        </p:nvSpPr>
        <p:spPr>
          <a:xfrm>
            <a:off x="457200" y="169164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3"/>
          <p:cNvSpPr/>
          <p:nvPr/>
        </p:nvSpPr>
        <p:spPr>
          <a:xfrm>
            <a:off x="457200" y="16916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470" name="Google Shape;470;p23"/>
          <p:cNvSpPr/>
          <p:nvPr/>
        </p:nvSpPr>
        <p:spPr>
          <a:xfrm>
            <a:off x="1280160" y="164592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Install 3.14t alongside 3.14</a:t>
            </a:r>
            <a:endParaRPr sz="1500">
              <a:solidFill>
                <a:schemeClr val="dk1"/>
              </a:solidFill>
              <a:latin typeface="Calibri"/>
              <a:ea typeface="Calibri"/>
              <a:cs typeface="Calibri"/>
              <a:sym typeface="Calibri"/>
            </a:endParaRPr>
          </a:p>
        </p:txBody>
      </p:sp>
      <p:sp>
        <p:nvSpPr>
          <p:cNvPr id="471" name="Google Shape;471;p23"/>
          <p:cNvSpPr/>
          <p:nvPr/>
        </p:nvSpPr>
        <p:spPr>
          <a:xfrm>
            <a:off x="1280160" y="201168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conda create -n py314t -c conda-forge python-freethreading=3.14. Keep the standard interpreter as default. Both environments coexist without conflict.</a:t>
            </a:r>
            <a:endParaRPr sz="1200">
              <a:solidFill>
                <a:schemeClr val="dk1"/>
              </a:solidFill>
              <a:latin typeface="Calibri"/>
              <a:ea typeface="Calibri"/>
              <a:cs typeface="Calibri"/>
              <a:sym typeface="Calibri"/>
            </a:endParaRPr>
          </a:p>
        </p:txBody>
      </p:sp>
      <p:sp>
        <p:nvSpPr>
          <p:cNvPr id="472" name="Google Shape;472;p23"/>
          <p:cNvSpPr/>
          <p:nvPr/>
        </p:nvSpPr>
        <p:spPr>
          <a:xfrm>
            <a:off x="6217920" y="169164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3"/>
          <p:cNvSpPr/>
          <p:nvPr/>
        </p:nvSpPr>
        <p:spPr>
          <a:xfrm>
            <a:off x="6217920" y="16916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2</a:t>
            </a:r>
            <a:endParaRPr sz="2400">
              <a:solidFill>
                <a:schemeClr val="dk1"/>
              </a:solidFill>
              <a:latin typeface="Calibri"/>
              <a:ea typeface="Calibri"/>
              <a:cs typeface="Calibri"/>
              <a:sym typeface="Calibri"/>
            </a:endParaRPr>
          </a:p>
        </p:txBody>
      </p:sp>
      <p:sp>
        <p:nvSpPr>
          <p:cNvPr id="474" name="Google Shape;474;p23"/>
          <p:cNvSpPr/>
          <p:nvPr/>
        </p:nvSpPr>
        <p:spPr>
          <a:xfrm>
            <a:off x="7040880" y="164592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Pick one self-contained job</a:t>
            </a:r>
            <a:endParaRPr sz="1500">
              <a:solidFill>
                <a:schemeClr val="dk1"/>
              </a:solidFill>
              <a:latin typeface="Calibri"/>
              <a:ea typeface="Calibri"/>
              <a:cs typeface="Calibri"/>
              <a:sym typeface="Calibri"/>
            </a:endParaRPr>
          </a:p>
        </p:txBody>
      </p:sp>
      <p:sp>
        <p:nvSpPr>
          <p:cNvPr id="475" name="Google Shape;475;p23"/>
          <p:cNvSpPr/>
          <p:nvPr/>
        </p:nvSpPr>
        <p:spPr>
          <a:xfrm>
            <a:off x="7040880" y="201168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Something CPU-bound, currently using multiprocessing, with few/no internal C-extension dependencies. A backtest grid is ideal.</a:t>
            </a:r>
            <a:endParaRPr sz="1200">
              <a:solidFill>
                <a:schemeClr val="dk1"/>
              </a:solidFill>
              <a:latin typeface="Calibri"/>
              <a:ea typeface="Calibri"/>
              <a:cs typeface="Calibri"/>
              <a:sym typeface="Calibri"/>
            </a:endParaRPr>
          </a:p>
        </p:txBody>
      </p:sp>
      <p:sp>
        <p:nvSpPr>
          <p:cNvPr id="476" name="Google Shape;476;p23"/>
          <p:cNvSpPr/>
          <p:nvPr/>
        </p:nvSpPr>
        <p:spPr>
          <a:xfrm>
            <a:off x="457200" y="320040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3"/>
          <p:cNvSpPr/>
          <p:nvPr/>
        </p:nvSpPr>
        <p:spPr>
          <a:xfrm>
            <a:off x="457200" y="32004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3</a:t>
            </a:r>
            <a:endParaRPr sz="2400">
              <a:solidFill>
                <a:schemeClr val="dk1"/>
              </a:solidFill>
              <a:latin typeface="Calibri"/>
              <a:ea typeface="Calibri"/>
              <a:cs typeface="Calibri"/>
              <a:sym typeface="Calibri"/>
            </a:endParaRPr>
          </a:p>
        </p:txBody>
      </p:sp>
      <p:sp>
        <p:nvSpPr>
          <p:cNvPr id="478" name="Google Shape;478;p23"/>
          <p:cNvSpPr/>
          <p:nvPr/>
        </p:nvSpPr>
        <p:spPr>
          <a:xfrm>
            <a:off x="1280160" y="315468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Audit dependencies</a:t>
            </a:r>
            <a:endParaRPr sz="1500">
              <a:solidFill>
                <a:schemeClr val="dk1"/>
              </a:solidFill>
              <a:latin typeface="Calibri"/>
              <a:ea typeface="Calibri"/>
              <a:cs typeface="Calibri"/>
              <a:sym typeface="Calibri"/>
            </a:endParaRPr>
          </a:p>
        </p:txBody>
      </p:sp>
      <p:sp>
        <p:nvSpPr>
          <p:cNvPr id="479" name="Google Shape;479;p23"/>
          <p:cNvSpPr/>
          <p:nvPr/>
        </p:nvSpPr>
        <p:spPr>
          <a:xfrm>
            <a:off x="1280160" y="352044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Check that every C-extension import in that codepath has a free-threading wheel. Run sys._is_gil_enabled() in the program to confirm GIL stays off.</a:t>
            </a:r>
            <a:endParaRPr sz="1200">
              <a:solidFill>
                <a:schemeClr val="dk1"/>
              </a:solidFill>
              <a:latin typeface="Calibri"/>
              <a:ea typeface="Calibri"/>
              <a:cs typeface="Calibri"/>
              <a:sym typeface="Calibri"/>
            </a:endParaRPr>
          </a:p>
        </p:txBody>
      </p:sp>
      <p:sp>
        <p:nvSpPr>
          <p:cNvPr id="480" name="Google Shape;480;p23"/>
          <p:cNvSpPr/>
          <p:nvPr/>
        </p:nvSpPr>
        <p:spPr>
          <a:xfrm>
            <a:off x="6217920" y="320040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3"/>
          <p:cNvSpPr/>
          <p:nvPr/>
        </p:nvSpPr>
        <p:spPr>
          <a:xfrm>
            <a:off x="6217920" y="32004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4</a:t>
            </a:r>
            <a:endParaRPr sz="2400">
              <a:solidFill>
                <a:schemeClr val="dk1"/>
              </a:solidFill>
              <a:latin typeface="Calibri"/>
              <a:ea typeface="Calibri"/>
              <a:cs typeface="Calibri"/>
              <a:sym typeface="Calibri"/>
            </a:endParaRPr>
          </a:p>
        </p:txBody>
      </p:sp>
      <p:sp>
        <p:nvSpPr>
          <p:cNvPr id="482" name="Google Shape;482;p23"/>
          <p:cNvSpPr/>
          <p:nvPr/>
        </p:nvSpPr>
        <p:spPr>
          <a:xfrm>
            <a:off x="7040880" y="315468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Port the pool</a:t>
            </a:r>
            <a:endParaRPr sz="1500">
              <a:solidFill>
                <a:schemeClr val="dk1"/>
              </a:solidFill>
              <a:latin typeface="Calibri"/>
              <a:ea typeface="Calibri"/>
              <a:cs typeface="Calibri"/>
              <a:sym typeface="Calibri"/>
            </a:endParaRPr>
          </a:p>
        </p:txBody>
      </p:sp>
      <p:sp>
        <p:nvSpPr>
          <p:cNvPr id="483" name="Google Shape;483;p23"/>
          <p:cNvSpPr/>
          <p:nvPr/>
        </p:nvSpPr>
        <p:spPr>
          <a:xfrm>
            <a:off x="7040880" y="352044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Pool.map → ThreadPoolExecutor.map. starmap → submit + as_completed. Review touched code for shared mutable state and add locks where needed.</a:t>
            </a:r>
            <a:endParaRPr sz="1200">
              <a:solidFill>
                <a:schemeClr val="dk1"/>
              </a:solidFill>
              <a:latin typeface="Calibri"/>
              <a:ea typeface="Calibri"/>
              <a:cs typeface="Calibri"/>
              <a:sym typeface="Calibri"/>
            </a:endParaRPr>
          </a:p>
        </p:txBody>
      </p:sp>
      <p:sp>
        <p:nvSpPr>
          <p:cNvPr id="484" name="Google Shape;484;p23"/>
          <p:cNvSpPr/>
          <p:nvPr/>
        </p:nvSpPr>
        <p:spPr>
          <a:xfrm>
            <a:off x="457200" y="470916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3"/>
          <p:cNvSpPr/>
          <p:nvPr/>
        </p:nvSpPr>
        <p:spPr>
          <a:xfrm>
            <a:off x="457200" y="47091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5</a:t>
            </a:r>
            <a:endParaRPr sz="2400">
              <a:solidFill>
                <a:schemeClr val="dk1"/>
              </a:solidFill>
              <a:latin typeface="Calibri"/>
              <a:ea typeface="Calibri"/>
              <a:cs typeface="Calibri"/>
              <a:sym typeface="Calibri"/>
            </a:endParaRPr>
          </a:p>
        </p:txBody>
      </p:sp>
      <p:sp>
        <p:nvSpPr>
          <p:cNvPr id="486" name="Google Shape;486;p23"/>
          <p:cNvSpPr/>
          <p:nvPr/>
        </p:nvSpPr>
        <p:spPr>
          <a:xfrm>
            <a:off x="1280160" y="466344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Benchmark side by side</a:t>
            </a:r>
            <a:endParaRPr sz="1500">
              <a:solidFill>
                <a:schemeClr val="dk1"/>
              </a:solidFill>
              <a:latin typeface="Calibri"/>
              <a:ea typeface="Calibri"/>
              <a:cs typeface="Calibri"/>
              <a:sym typeface="Calibri"/>
            </a:endParaRPr>
          </a:p>
        </p:txBody>
      </p:sp>
      <p:sp>
        <p:nvSpPr>
          <p:cNvPr id="487" name="Google Shape;487;p23"/>
          <p:cNvSpPr/>
          <p:nvPr/>
        </p:nvSpPr>
        <p:spPr>
          <a:xfrm>
            <a:off x="1280160" y="50292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Wall time, memory peak, startup time. Compare 3.14 multiprocessing vs 3.14t threading on identical workload. Document numbers.</a:t>
            </a:r>
            <a:endParaRPr sz="1200">
              <a:solidFill>
                <a:schemeClr val="dk1"/>
              </a:solidFill>
              <a:latin typeface="Calibri"/>
              <a:ea typeface="Calibri"/>
              <a:cs typeface="Calibri"/>
              <a:sym typeface="Calibri"/>
            </a:endParaRPr>
          </a:p>
        </p:txBody>
      </p:sp>
      <p:sp>
        <p:nvSpPr>
          <p:cNvPr id="488" name="Google Shape;488;p23"/>
          <p:cNvSpPr/>
          <p:nvPr/>
        </p:nvSpPr>
        <p:spPr>
          <a:xfrm>
            <a:off x="6217920" y="4709160"/>
            <a:ext cx="640080" cy="640080"/>
          </a:xfrm>
          <a:prstGeom prst="ellipse">
            <a:avLst/>
          </a:prstGeom>
          <a:solidFill>
            <a:srgbClr val="1E4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3"/>
          <p:cNvSpPr/>
          <p:nvPr/>
        </p:nvSpPr>
        <p:spPr>
          <a:xfrm>
            <a:off x="6217920" y="47091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6</a:t>
            </a:r>
            <a:endParaRPr sz="2400">
              <a:solidFill>
                <a:schemeClr val="dk1"/>
              </a:solidFill>
              <a:latin typeface="Calibri"/>
              <a:ea typeface="Calibri"/>
              <a:cs typeface="Calibri"/>
              <a:sym typeface="Calibri"/>
            </a:endParaRPr>
          </a:p>
        </p:txBody>
      </p:sp>
      <p:sp>
        <p:nvSpPr>
          <p:cNvPr id="490" name="Google Shape;490;p23"/>
          <p:cNvSpPr/>
          <p:nvPr/>
        </p:nvSpPr>
        <p:spPr>
          <a:xfrm>
            <a:off x="7040880" y="466344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lang="en-US" sz="1500">
                <a:solidFill>
                  <a:srgbClr val="1E293B"/>
                </a:solidFill>
                <a:latin typeface="Calibri"/>
                <a:ea typeface="Calibri"/>
                <a:cs typeface="Calibri"/>
                <a:sym typeface="Calibri"/>
              </a:rPr>
              <a:t>Expand to next job</a:t>
            </a:r>
            <a:endParaRPr sz="1500">
              <a:solidFill>
                <a:schemeClr val="dk1"/>
              </a:solidFill>
              <a:latin typeface="Calibri"/>
              <a:ea typeface="Calibri"/>
              <a:cs typeface="Calibri"/>
              <a:sym typeface="Calibri"/>
            </a:endParaRPr>
          </a:p>
        </p:txBody>
      </p:sp>
      <p:sp>
        <p:nvSpPr>
          <p:cNvPr id="491" name="Google Shape;491;p23"/>
          <p:cNvSpPr/>
          <p:nvPr/>
        </p:nvSpPr>
        <p:spPr>
          <a:xfrm>
            <a:off x="7040880" y="50292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Once one job proves out, the pattern is repeatable. Build a small internal guide so others can follow the same checklist.</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96" name="Shape 496"/>
        <p:cNvGrpSpPr/>
        <p:nvPr/>
      </p:nvGrpSpPr>
      <p:grpSpPr>
        <a:xfrm>
          <a:off x="0" y="0"/>
          <a:ext cx="0" cy="0"/>
          <a:chOff x="0" y="0"/>
          <a:chExt cx="0" cy="0"/>
        </a:xfrm>
      </p:grpSpPr>
      <p:sp>
        <p:nvSpPr>
          <p:cNvPr id="497" name="Google Shape;497;p24"/>
          <p:cNvSpPr/>
          <p:nvPr/>
        </p:nvSpPr>
        <p:spPr>
          <a:xfrm>
            <a:off x="457200" y="457200"/>
            <a:ext cx="11247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Takeaways</a:t>
            </a:r>
            <a:endParaRPr sz="3600">
              <a:solidFill>
                <a:schemeClr val="dk1"/>
              </a:solidFill>
              <a:latin typeface="Calibri"/>
              <a:ea typeface="Calibri"/>
              <a:cs typeface="Calibri"/>
              <a:sym typeface="Calibri"/>
            </a:endParaRPr>
          </a:p>
        </p:txBody>
      </p:sp>
      <p:sp>
        <p:nvSpPr>
          <p:cNvPr id="498" name="Google Shape;498;p24"/>
          <p:cNvSpPr/>
          <p:nvPr/>
        </p:nvSpPr>
        <p:spPr>
          <a:xfrm>
            <a:off x="457200" y="1554480"/>
            <a:ext cx="914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000"/>
              <a:buFont typeface="Calibri"/>
              <a:buNone/>
            </a:pPr>
            <a:r>
              <a:rPr b="1" lang="en-US" sz="3000">
                <a:solidFill>
                  <a:srgbClr val="F59E0B"/>
                </a:solidFill>
                <a:latin typeface="Calibri"/>
                <a:ea typeface="Calibri"/>
                <a:cs typeface="Calibri"/>
                <a:sym typeface="Calibri"/>
              </a:rPr>
              <a:t>01</a:t>
            </a:r>
            <a:endParaRPr sz="3000">
              <a:solidFill>
                <a:schemeClr val="dk1"/>
              </a:solidFill>
              <a:latin typeface="Calibri"/>
              <a:ea typeface="Calibri"/>
              <a:cs typeface="Calibri"/>
              <a:sym typeface="Calibri"/>
            </a:endParaRPr>
          </a:p>
        </p:txBody>
      </p:sp>
      <p:sp>
        <p:nvSpPr>
          <p:cNvPr id="499" name="Google Shape;499;p24"/>
          <p:cNvSpPr/>
          <p:nvPr/>
        </p:nvSpPr>
        <p:spPr>
          <a:xfrm>
            <a:off x="1554480" y="155448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The GIL is gone (when you ask for it).</a:t>
            </a:r>
            <a:endParaRPr sz="1600">
              <a:solidFill>
                <a:schemeClr val="dk1"/>
              </a:solidFill>
              <a:latin typeface="Calibri"/>
              <a:ea typeface="Calibri"/>
              <a:cs typeface="Calibri"/>
              <a:sym typeface="Calibri"/>
            </a:endParaRPr>
          </a:p>
        </p:txBody>
      </p:sp>
      <p:sp>
        <p:nvSpPr>
          <p:cNvPr id="500" name="Google Shape;500;p24"/>
          <p:cNvSpPr/>
          <p:nvPr/>
        </p:nvSpPr>
        <p:spPr>
          <a:xfrm>
            <a:off x="1554480" y="1938528"/>
            <a:ext cx="9875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PEP 779 made free-threading officially supported in Python 3.14 (Oct 2025). It's no longer experimental.</a:t>
            </a:r>
            <a:endParaRPr sz="1200">
              <a:solidFill>
                <a:schemeClr val="dk1"/>
              </a:solidFill>
              <a:latin typeface="Calibri"/>
              <a:ea typeface="Calibri"/>
              <a:cs typeface="Calibri"/>
              <a:sym typeface="Calibri"/>
            </a:endParaRPr>
          </a:p>
        </p:txBody>
      </p:sp>
      <p:sp>
        <p:nvSpPr>
          <p:cNvPr id="501" name="Google Shape;501;p24"/>
          <p:cNvSpPr/>
          <p:nvPr/>
        </p:nvSpPr>
        <p:spPr>
          <a:xfrm>
            <a:off x="457200" y="2514600"/>
            <a:ext cx="914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000"/>
              <a:buFont typeface="Calibri"/>
              <a:buNone/>
            </a:pPr>
            <a:r>
              <a:rPr b="1" lang="en-US" sz="3000">
                <a:solidFill>
                  <a:srgbClr val="F59E0B"/>
                </a:solidFill>
                <a:latin typeface="Calibri"/>
                <a:ea typeface="Calibri"/>
                <a:cs typeface="Calibri"/>
                <a:sym typeface="Calibri"/>
              </a:rPr>
              <a:t>02</a:t>
            </a:r>
            <a:endParaRPr sz="3000">
              <a:solidFill>
                <a:schemeClr val="dk1"/>
              </a:solidFill>
              <a:latin typeface="Calibri"/>
              <a:ea typeface="Calibri"/>
              <a:cs typeface="Calibri"/>
              <a:sym typeface="Calibri"/>
            </a:endParaRPr>
          </a:p>
        </p:txBody>
      </p:sp>
      <p:sp>
        <p:nvSpPr>
          <p:cNvPr id="502" name="Google Shape;502;p24"/>
          <p:cNvSpPr/>
          <p:nvPr/>
        </p:nvSpPr>
        <p:spPr>
          <a:xfrm>
            <a:off x="1554480" y="251460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multiprocessing was a tax, not a feature.</a:t>
            </a:r>
            <a:endParaRPr sz="1600">
              <a:solidFill>
                <a:schemeClr val="dk1"/>
              </a:solidFill>
              <a:latin typeface="Calibri"/>
              <a:ea typeface="Calibri"/>
              <a:cs typeface="Calibri"/>
              <a:sym typeface="Calibri"/>
            </a:endParaRPr>
          </a:p>
        </p:txBody>
      </p:sp>
      <p:sp>
        <p:nvSpPr>
          <p:cNvPr id="503" name="Google Shape;503;p24"/>
          <p:cNvSpPr/>
          <p:nvPr/>
        </p:nvSpPr>
        <p:spPr>
          <a:xfrm>
            <a:off x="1554480" y="2898648"/>
            <a:ext cx="9875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Pickle, N× memory, slow startup, shared-state pain — all of that was the price we paid to bypass the GIL. Most of it can go away now.</a:t>
            </a:r>
            <a:endParaRPr sz="1200">
              <a:solidFill>
                <a:schemeClr val="dk1"/>
              </a:solidFill>
              <a:latin typeface="Calibri"/>
              <a:ea typeface="Calibri"/>
              <a:cs typeface="Calibri"/>
              <a:sym typeface="Calibri"/>
            </a:endParaRPr>
          </a:p>
        </p:txBody>
      </p:sp>
      <p:sp>
        <p:nvSpPr>
          <p:cNvPr id="504" name="Google Shape;504;p24"/>
          <p:cNvSpPr/>
          <p:nvPr/>
        </p:nvSpPr>
        <p:spPr>
          <a:xfrm>
            <a:off x="457200" y="3474720"/>
            <a:ext cx="914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000"/>
              <a:buFont typeface="Calibri"/>
              <a:buNone/>
            </a:pPr>
            <a:r>
              <a:rPr b="1" lang="en-US" sz="3000">
                <a:solidFill>
                  <a:srgbClr val="F59E0B"/>
                </a:solidFill>
                <a:latin typeface="Calibri"/>
                <a:ea typeface="Calibri"/>
                <a:cs typeface="Calibri"/>
                <a:sym typeface="Calibri"/>
              </a:rPr>
              <a:t>03</a:t>
            </a:r>
            <a:endParaRPr sz="3000">
              <a:solidFill>
                <a:schemeClr val="dk1"/>
              </a:solidFill>
              <a:latin typeface="Calibri"/>
              <a:ea typeface="Calibri"/>
              <a:cs typeface="Calibri"/>
              <a:sym typeface="Calibri"/>
            </a:endParaRPr>
          </a:p>
        </p:txBody>
      </p:sp>
      <p:sp>
        <p:nvSpPr>
          <p:cNvPr id="505" name="Google Shape;505;p24"/>
          <p:cNvSpPr/>
          <p:nvPr/>
        </p:nvSpPr>
        <p:spPr>
          <a:xfrm>
            <a:off x="1554480" y="347472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Threading is finally the right tool for CPU parallelism.</a:t>
            </a:r>
            <a:endParaRPr sz="1600">
              <a:solidFill>
                <a:schemeClr val="dk1"/>
              </a:solidFill>
              <a:latin typeface="Calibri"/>
              <a:ea typeface="Calibri"/>
              <a:cs typeface="Calibri"/>
              <a:sym typeface="Calibri"/>
            </a:endParaRPr>
          </a:p>
        </p:txBody>
      </p:sp>
      <p:sp>
        <p:nvSpPr>
          <p:cNvPr id="506" name="Google Shape;506;p24"/>
          <p:cNvSpPr/>
          <p:nvPr/>
        </p:nvSpPr>
        <p:spPr>
          <a:xfrm>
            <a:off x="1554480" y="3858768"/>
            <a:ext cx="9875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Same API as before. Shared memory, ms startup, real cores used. ThreadPoolExecutor becomes the default for CPU-bound parallel work.</a:t>
            </a:r>
            <a:endParaRPr sz="1200">
              <a:solidFill>
                <a:schemeClr val="dk1"/>
              </a:solidFill>
              <a:latin typeface="Calibri"/>
              <a:ea typeface="Calibri"/>
              <a:cs typeface="Calibri"/>
              <a:sym typeface="Calibri"/>
            </a:endParaRPr>
          </a:p>
        </p:txBody>
      </p:sp>
      <p:sp>
        <p:nvSpPr>
          <p:cNvPr id="507" name="Google Shape;507;p24"/>
          <p:cNvSpPr/>
          <p:nvPr/>
        </p:nvSpPr>
        <p:spPr>
          <a:xfrm>
            <a:off x="457200" y="4434840"/>
            <a:ext cx="914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000"/>
              <a:buFont typeface="Calibri"/>
              <a:buNone/>
            </a:pPr>
            <a:r>
              <a:rPr b="1" lang="en-US" sz="3000">
                <a:solidFill>
                  <a:srgbClr val="F59E0B"/>
                </a:solidFill>
                <a:latin typeface="Calibri"/>
                <a:ea typeface="Calibri"/>
                <a:cs typeface="Calibri"/>
                <a:sym typeface="Calibri"/>
              </a:rPr>
              <a:t>04</a:t>
            </a:r>
            <a:endParaRPr sz="3000">
              <a:solidFill>
                <a:schemeClr val="dk1"/>
              </a:solidFill>
              <a:latin typeface="Calibri"/>
              <a:ea typeface="Calibri"/>
              <a:cs typeface="Calibri"/>
              <a:sym typeface="Calibri"/>
            </a:endParaRPr>
          </a:p>
        </p:txBody>
      </p:sp>
      <p:sp>
        <p:nvSpPr>
          <p:cNvPr id="508" name="Google Shape;508;p24"/>
          <p:cNvSpPr/>
          <p:nvPr/>
        </p:nvSpPr>
        <p:spPr>
          <a:xfrm>
            <a:off x="1554480" y="443484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Be honest about the costs.</a:t>
            </a:r>
            <a:endParaRPr sz="1600">
              <a:solidFill>
                <a:schemeClr val="dk1"/>
              </a:solidFill>
              <a:latin typeface="Calibri"/>
              <a:ea typeface="Calibri"/>
              <a:cs typeface="Calibri"/>
              <a:sym typeface="Calibri"/>
            </a:endParaRPr>
          </a:p>
        </p:txBody>
      </p:sp>
      <p:sp>
        <p:nvSpPr>
          <p:cNvPr id="509" name="Google Shape;509;p24"/>
          <p:cNvSpPr/>
          <p:nvPr/>
        </p:nvSpPr>
        <p:spPr>
          <a:xfrm>
            <a:off x="1554480" y="4818888"/>
            <a:ext cx="9875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5–10% single-thread overhead. C extensions need FT wheels. Race conditions are now your problem. Plan accordingly.</a:t>
            </a:r>
            <a:endParaRPr sz="1200">
              <a:solidFill>
                <a:schemeClr val="dk1"/>
              </a:solidFill>
              <a:latin typeface="Calibri"/>
              <a:ea typeface="Calibri"/>
              <a:cs typeface="Calibri"/>
              <a:sym typeface="Calibri"/>
            </a:endParaRPr>
          </a:p>
        </p:txBody>
      </p:sp>
      <p:sp>
        <p:nvSpPr>
          <p:cNvPr id="510" name="Google Shape;510;p24"/>
          <p:cNvSpPr/>
          <p:nvPr/>
        </p:nvSpPr>
        <p:spPr>
          <a:xfrm>
            <a:off x="457200" y="5394960"/>
            <a:ext cx="914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000"/>
              <a:buFont typeface="Calibri"/>
              <a:buNone/>
            </a:pPr>
            <a:r>
              <a:rPr b="1" lang="en-US" sz="3000">
                <a:solidFill>
                  <a:srgbClr val="F59E0B"/>
                </a:solidFill>
                <a:latin typeface="Calibri"/>
                <a:ea typeface="Calibri"/>
                <a:cs typeface="Calibri"/>
                <a:sym typeface="Calibri"/>
              </a:rPr>
              <a:t>05</a:t>
            </a:r>
            <a:endParaRPr sz="3000">
              <a:solidFill>
                <a:schemeClr val="dk1"/>
              </a:solidFill>
              <a:latin typeface="Calibri"/>
              <a:ea typeface="Calibri"/>
              <a:cs typeface="Calibri"/>
              <a:sym typeface="Calibri"/>
            </a:endParaRPr>
          </a:p>
        </p:txBody>
      </p:sp>
      <p:sp>
        <p:nvSpPr>
          <p:cNvPr id="511" name="Google Shape;511;p24"/>
          <p:cNvSpPr/>
          <p:nvPr/>
        </p:nvSpPr>
        <p:spPr>
          <a:xfrm>
            <a:off x="1554480" y="539496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Start small. Measure. Expand.</a:t>
            </a:r>
            <a:endParaRPr sz="1600">
              <a:solidFill>
                <a:schemeClr val="dk1"/>
              </a:solidFill>
              <a:latin typeface="Calibri"/>
              <a:ea typeface="Calibri"/>
              <a:cs typeface="Calibri"/>
              <a:sym typeface="Calibri"/>
            </a:endParaRPr>
          </a:p>
        </p:txBody>
      </p:sp>
      <p:sp>
        <p:nvSpPr>
          <p:cNvPr id="512" name="Google Shape;512;p24"/>
          <p:cNvSpPr/>
          <p:nvPr/>
        </p:nvSpPr>
        <p:spPr>
          <a:xfrm>
            <a:off x="1554480" y="5779008"/>
            <a:ext cx="9875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Pick one job. Verify GIL really off. Benchmark. Document the win. Then go broader.</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17" name="Shape 517"/>
        <p:cNvGrpSpPr/>
        <p:nvPr/>
      </p:nvGrpSpPr>
      <p:grpSpPr>
        <a:xfrm>
          <a:off x="0" y="0"/>
          <a:ext cx="0" cy="0"/>
          <a:chOff x="0" y="0"/>
          <a:chExt cx="0" cy="0"/>
        </a:xfrm>
      </p:grpSpPr>
      <p:pic>
        <p:nvPicPr>
          <p:cNvPr descr="preencoded.png" id="518" name="Google Shape;518;p25"/>
          <p:cNvPicPr preferRelativeResize="0"/>
          <p:nvPr/>
        </p:nvPicPr>
        <p:blipFill rotWithShape="1">
          <a:blip r:embed="rId3">
            <a:alphaModFix/>
          </a:blip>
          <a:srcRect b="0" l="0" r="0" t="0"/>
          <a:stretch/>
        </p:blipFill>
        <p:spPr>
          <a:xfrm>
            <a:off x="5486400" y="1463040"/>
            <a:ext cx="1188720" cy="1188720"/>
          </a:xfrm>
          <a:prstGeom prst="rect">
            <a:avLst/>
          </a:prstGeom>
          <a:noFill/>
          <a:ln>
            <a:noFill/>
          </a:ln>
        </p:spPr>
      </p:pic>
      <p:sp>
        <p:nvSpPr>
          <p:cNvPr id="519" name="Google Shape;519;p25"/>
          <p:cNvSpPr/>
          <p:nvPr/>
        </p:nvSpPr>
        <p:spPr>
          <a:xfrm>
            <a:off x="457200" y="2834640"/>
            <a:ext cx="112471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400"/>
              <a:buFont typeface="Calibri"/>
              <a:buNone/>
            </a:pPr>
            <a:r>
              <a:rPr b="1" lang="en-US" sz="6400">
                <a:solidFill>
                  <a:srgbClr val="FFFFFF"/>
                </a:solidFill>
                <a:latin typeface="Calibri"/>
                <a:ea typeface="Calibri"/>
                <a:cs typeface="Calibri"/>
                <a:sym typeface="Calibri"/>
              </a:rPr>
              <a:t>Questions?</a:t>
            </a:r>
            <a:endParaRPr sz="6400">
              <a:solidFill>
                <a:schemeClr val="dk1"/>
              </a:solidFill>
              <a:latin typeface="Calibri"/>
              <a:ea typeface="Calibri"/>
              <a:cs typeface="Calibri"/>
              <a:sym typeface="Calibri"/>
            </a:endParaRPr>
          </a:p>
        </p:txBody>
      </p:sp>
      <p:sp>
        <p:nvSpPr>
          <p:cNvPr id="520" name="Google Shape;520;p25"/>
          <p:cNvSpPr/>
          <p:nvPr/>
        </p:nvSpPr>
        <p:spPr>
          <a:xfrm>
            <a:off x="457200" y="3840480"/>
            <a:ext cx="11247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2200"/>
              <a:buFont typeface="Calibri"/>
              <a:buNone/>
            </a:pPr>
            <a:r>
              <a:rPr i="1" lang="en-US" sz="2200">
                <a:solidFill>
                  <a:srgbClr val="F59E0B"/>
                </a:solidFill>
                <a:latin typeface="Calibri"/>
                <a:ea typeface="Calibri"/>
                <a:cs typeface="Calibri"/>
                <a:sym typeface="Calibri"/>
              </a:rPr>
              <a:t>And: where should we try this first?</a:t>
            </a:r>
            <a:endParaRPr sz="2200">
              <a:solidFill>
                <a:schemeClr val="dk1"/>
              </a:solidFill>
              <a:latin typeface="Calibri"/>
              <a:ea typeface="Calibri"/>
              <a:cs typeface="Calibri"/>
              <a:sym typeface="Calibri"/>
            </a:endParaRPr>
          </a:p>
        </p:txBody>
      </p:sp>
      <p:sp>
        <p:nvSpPr>
          <p:cNvPr id="521" name="Google Shape;521;p25"/>
          <p:cNvSpPr/>
          <p:nvPr/>
        </p:nvSpPr>
        <p:spPr>
          <a:xfrm>
            <a:off x="457200" y="5852160"/>
            <a:ext cx="11247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200"/>
              <a:buFont typeface="Consolas"/>
              <a:buNone/>
            </a:pPr>
            <a:r>
              <a:rPr lang="en-US" sz="1200">
                <a:solidFill>
                  <a:srgbClr val="94A3B8"/>
                </a:solidFill>
                <a:latin typeface="Consolas"/>
                <a:ea typeface="Consolas"/>
                <a:cs typeface="Consolas"/>
                <a:sym typeface="Consolas"/>
              </a:rPr>
              <a:t>PEP 703  •  PEP 779  •  py-free-threading.github.io  •  docs.python.org/3.14/whatsnew</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